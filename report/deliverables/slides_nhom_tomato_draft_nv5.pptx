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c36aa1a3e44105" /><Relationship Type="http://schemas.openxmlformats.org/officeDocument/2006/relationships/extended-properties" Target="/docProps/app.xml" Id="R6b4320cdfeb643cf" /><Relationship Type="http://schemas.openxmlformats.org/officeDocument/2006/relationships/officeDocument" Target="/ppt/presentation.xml" Id="R6031a7616e3148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e6eceba6c40d7"/>
  </p:sldMasterIdLst>
  <p:notesMasterIdLst>
    <p:notesMasterId xmlns:r="http://schemas.openxmlformats.org/officeDocument/2006/relationships" r:id="R575e58bbcd6a4550"/>
  </p:notesMasterIdLst>
  <p:sldIdLst>
    <p:sldId xmlns:r="http://schemas.openxmlformats.org/officeDocument/2006/relationships" id="256" r:id="Rddac9e448fef470e"/>
    <p:sldId xmlns:r="http://schemas.openxmlformats.org/officeDocument/2006/relationships" id="257" r:id="R21e67f803b3f433d"/>
    <p:sldId xmlns:r="http://schemas.openxmlformats.org/officeDocument/2006/relationships" id="258" r:id="R7d265eed06c34027"/>
    <p:sldId xmlns:r="http://schemas.openxmlformats.org/officeDocument/2006/relationships" id="259" r:id="R166c7f4839504a18"/>
    <p:sldId xmlns:r="http://schemas.openxmlformats.org/officeDocument/2006/relationships" id="260" r:id="Re25280770c8e44e7"/>
    <p:sldId xmlns:r="http://schemas.openxmlformats.org/officeDocument/2006/relationships" id="261" r:id="Rde6aadaef1af42d2"/>
    <p:sldId xmlns:r="http://schemas.openxmlformats.org/officeDocument/2006/relationships" id="262" r:id="R0df1596f44c246a2"/>
    <p:sldId xmlns:r="http://schemas.openxmlformats.org/officeDocument/2006/relationships" id="263" r:id="R0e04353a80954afd"/>
    <p:sldId xmlns:r="http://schemas.openxmlformats.org/officeDocument/2006/relationships" id="264" r:id="Rf604af17f2bc44ce"/>
    <p:sldId xmlns:r="http://schemas.openxmlformats.org/officeDocument/2006/relationships" id="265" r:id="R710dac073ba14229"/>
    <p:sldId xmlns:r="http://schemas.openxmlformats.org/officeDocument/2006/relationships" id="266" r:id="R256ad883caf64e96"/>
    <p:sldId xmlns:r="http://schemas.openxmlformats.org/officeDocument/2006/relationships" id="267" r:id="R597545d4529a42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44b44819042b8" /><Relationship Type="http://schemas.openxmlformats.org/officeDocument/2006/relationships/slideMaster" Target="/ppt/slideMasters/slideMaster1.xml" Id="R9c7e6eceba6c40d7" /><Relationship Type="http://schemas.openxmlformats.org/officeDocument/2006/relationships/notesMaster" Target="/ppt/notesMasters/notesMaster1.xml" Id="R575e58bbcd6a4550" /><Relationship Type="http://schemas.openxmlformats.org/officeDocument/2006/relationships/presProps" Target="/ppt/presProps.xml" Id="R2cd61efc9c314558" /><Relationship Type="http://schemas.openxmlformats.org/officeDocument/2006/relationships/tableStyles" Target="/ppt/tableStyles.xml" Id="Rc404f53984764782" /><Relationship Type="http://schemas.openxmlformats.org/officeDocument/2006/relationships/slide" Target="/ppt/slides/slide1.xml" Id="Rddac9e448fef470e" /><Relationship Type="http://schemas.openxmlformats.org/officeDocument/2006/relationships/slide" Target="/ppt/slides/slide2.xml" Id="R21e67f803b3f433d" /><Relationship Type="http://schemas.openxmlformats.org/officeDocument/2006/relationships/slide" Target="/ppt/slides/slide3.xml" Id="R7d265eed06c34027" /><Relationship Type="http://schemas.openxmlformats.org/officeDocument/2006/relationships/slide" Target="/ppt/slides/slide4.xml" Id="R166c7f4839504a18" /><Relationship Type="http://schemas.openxmlformats.org/officeDocument/2006/relationships/slide" Target="/ppt/slides/slide5.xml" Id="Re25280770c8e44e7" /><Relationship Type="http://schemas.openxmlformats.org/officeDocument/2006/relationships/slide" Target="/ppt/slides/slide6.xml" Id="Rde6aadaef1af42d2" /><Relationship Type="http://schemas.openxmlformats.org/officeDocument/2006/relationships/slide" Target="/ppt/slides/slide7.xml" Id="R0df1596f44c246a2" /><Relationship Type="http://schemas.openxmlformats.org/officeDocument/2006/relationships/slide" Target="/ppt/slides/slide8.xml" Id="R0e04353a80954afd" /><Relationship Type="http://schemas.openxmlformats.org/officeDocument/2006/relationships/slide" Target="/ppt/slides/slide9.xml" Id="Rf604af17f2bc44ce" /><Relationship Type="http://schemas.openxmlformats.org/officeDocument/2006/relationships/slide" Target="/ppt/slides/slide10.xml" Id="R710dac073ba14229" /><Relationship Type="http://schemas.openxmlformats.org/officeDocument/2006/relationships/slide" Target="/ppt/slides/slide11.xml" Id="R256ad883caf64e96" /><Relationship Type="http://schemas.openxmlformats.org/officeDocument/2006/relationships/slide" Target="/ppt/slides/slide12.xml" Id="R597545d4529a42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10a4200193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c17dcd63f3451c" /><Relationship Type="http://schemas.openxmlformats.org/officeDocument/2006/relationships/notesMaster" Target="/ppt/notesMasters/notesMaster1.xml" Id="R280206588e5045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e8bc8f44ca43c6" /><Relationship Type="http://schemas.openxmlformats.org/officeDocument/2006/relationships/notesMaster" Target="/ppt/notesMasters/notesMaster1.xml" Id="Re4c90d305dc94a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39152ea114836" /><Relationship Type="http://schemas.openxmlformats.org/officeDocument/2006/relationships/notesMaster" Target="/ppt/notesMasters/notesMaster1.xml" Id="R4eaac7eab28e45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c8b1d801d445bb" /><Relationship Type="http://schemas.openxmlformats.org/officeDocument/2006/relationships/notesMaster" Target="/ppt/notesMasters/notesMaster1.xml" Id="R7092949522424d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773d7d70cd4a83" /><Relationship Type="http://schemas.openxmlformats.org/officeDocument/2006/relationships/notesMaster" Target="/ppt/notesMasters/notesMaster1.xml" Id="R38446c9bd10a45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9cf8b2ef6e4843" /><Relationship Type="http://schemas.openxmlformats.org/officeDocument/2006/relationships/notesMaster" Target="/ppt/notesMasters/notesMaster1.xml" Id="Ra82f86da2f4c4d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e9a4f39ff74c00" /><Relationship Type="http://schemas.openxmlformats.org/officeDocument/2006/relationships/notesMaster" Target="/ppt/notesMasters/notesMaster1.xml" Id="Rb0ed8b8bd3c94e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7ec43f6d654c2e" /><Relationship Type="http://schemas.openxmlformats.org/officeDocument/2006/relationships/notesMaster" Target="/ppt/notesMasters/notesMaster1.xml" Id="R0c686dff8f2a40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6bd55d594a46a9" /><Relationship Type="http://schemas.openxmlformats.org/officeDocument/2006/relationships/notesMaster" Target="/ppt/notesMasters/notesMaster1.xml" Id="R7597895bb01147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b9e922aacb43de" /><Relationship Type="http://schemas.openxmlformats.org/officeDocument/2006/relationships/notesMaster" Target="/ppt/notesMasters/notesMaster1.xml" Id="R8bbf09d7fbc749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2d619d44234d86" /><Relationship Type="http://schemas.openxmlformats.org/officeDocument/2006/relationships/notesMaster" Target="/ppt/notesMasters/notesMaster1.xml" Id="R241d0f85ab9543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e6d9ef685c46fd" /><Relationship Type="http://schemas.openxmlformats.org/officeDocument/2006/relationships/notesMaster" Target="/ppt/notesMasters/notesMaster1.xml" Id="R07ef524775de4e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286f02c4e44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e727d97b743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abe22b69c47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f6672f52449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af875c03444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6394a00ad49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414D31-CBED-4DC3-AEC4-860EA8B1DC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328D06-0933-4FF9-B4C4-229711CEC3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191FBE-5217-4FC1-A551-5978FC21B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5AC84D-8CC2-4652-A0AA-EB3879C5E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3CDCCB-7563-45A0-A699-4B37E79E0F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68489E-727D-4ADE-BEE9-215899165B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CD4D7A-19E1-45DE-8F0B-FEA1893391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2AC96D-0029-4F26-A0DE-71EDCBA859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28BB6-2A10-47C2-A9CE-787071C6D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823400-5D4C-461B-9D87-F90E721978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f1330601ee4363" /><Relationship Type="http://schemas.openxmlformats.org/officeDocument/2006/relationships/slideLayout" Target="/ppt/slideLayouts/slideLayout1.xml" Id="R8ed6a718c5444ed7" /><Relationship Type="http://schemas.openxmlformats.org/officeDocument/2006/relationships/slideLayout" Target="/ppt/slideLayouts/slideLayout2.xml" Id="Ra2be20ac67f84602" /><Relationship Type="http://schemas.openxmlformats.org/officeDocument/2006/relationships/slideLayout" Target="/ppt/slideLayouts/slideLayout3.xml" Id="Rcb53219388f64d47" /><Relationship Type="http://schemas.openxmlformats.org/officeDocument/2006/relationships/slideLayout" Target="/ppt/slideLayouts/slideLayout4.xml" Id="Ra726ec1344f747df" /><Relationship Type="http://schemas.openxmlformats.org/officeDocument/2006/relationships/slideLayout" Target="/ppt/slideLayouts/slideLayout5.xml" Id="R5b4b43a9021640d1" /><Relationship Type="http://schemas.openxmlformats.org/officeDocument/2006/relationships/slideLayout" Target="/ppt/slideLayouts/slideLayout6.xml" Id="Rd2a6eef73bf842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6a718c5444ed7"/>
    <p:sldLayoutId xmlns:r="http://schemas.openxmlformats.org/officeDocument/2006/relationships" id="2147483650" r:id="Ra2be20ac67f84602"/>
    <p:sldLayoutId xmlns:r="http://schemas.openxmlformats.org/officeDocument/2006/relationships" id="2147483651" r:id="Rcb53219388f64d47"/>
    <p:sldLayoutId xmlns:r="http://schemas.openxmlformats.org/officeDocument/2006/relationships" id="2147483652" r:id="Ra726ec1344f747df"/>
    <p:sldLayoutId xmlns:r="http://schemas.openxmlformats.org/officeDocument/2006/relationships" id="2147483653" r:id="R5b4b43a9021640d1"/>
    <p:sldLayoutId xmlns:r="http://schemas.openxmlformats.org/officeDocument/2006/relationships" id="2147483654" r:id="Rd2a6eef73bf842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f9dbde77c40ce" /><Relationship Type="http://schemas.openxmlformats.org/officeDocument/2006/relationships/notesSlide" Target="/ppt/notesSlides/notesSlide1.xml" Id="R08e0e7aac939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aacfff6b04fed" /><Relationship Type="http://schemas.openxmlformats.org/officeDocument/2006/relationships/notesSlide" Target="/ppt/notesSlides/notesSlide2.xml" Id="R78ebbf3432a04a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cd86823b34454" /><Relationship Type="http://schemas.openxmlformats.org/officeDocument/2006/relationships/notesSlide" Target="/ppt/notesSlides/notesSlide3.xml" Id="Rd13237a1c54a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2705c2e424242" /><Relationship Type="http://schemas.openxmlformats.org/officeDocument/2006/relationships/notesSlide" Target="/ppt/notesSlides/notesSlide4.xml" Id="R8125a0448ee243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1550ad346421f" /><Relationship Type="http://schemas.openxmlformats.org/officeDocument/2006/relationships/notesSlide" Target="/ppt/notesSlides/notesSlide5.xml" Id="R53a675702abd4c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5f6aff45a48f7" /><Relationship Type="http://schemas.openxmlformats.org/officeDocument/2006/relationships/notesSlide" Target="/ppt/notesSlides/notesSlide6.xml" Id="Rfce7a04490834e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a6828ba274576" /><Relationship Type="http://schemas.openxmlformats.org/officeDocument/2006/relationships/notesSlide" Target="/ppt/notesSlides/notesSlide7.xml" Id="R6362b3e5bb5a45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111be18a9492a" /><Relationship Type="http://schemas.openxmlformats.org/officeDocument/2006/relationships/notesSlide" Target="/ppt/notesSlides/notesSlide8.xml" Id="Ra90ef47a657f41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6bc3fad244196" /><Relationship Type="http://schemas.openxmlformats.org/officeDocument/2006/relationships/notesSlide" Target="/ppt/notesSlides/notesSlide9.xml" Id="Rb5deccf44cc145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7f3a973c144ad" /><Relationship Type="http://schemas.openxmlformats.org/officeDocument/2006/relationships/notesSlide" Target="/ppt/notesSlides/notesSlide10.xml" Id="Rba43f49f2f9642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e27f76b454fac" /><Relationship Type="http://schemas.openxmlformats.org/officeDocument/2006/relationships/notesSlide" Target="/ppt/notesSlides/notesSlide11.xml" Id="R91b8e1a1bc9f4a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212afde034718" /><Relationship Type="http://schemas.openxmlformats.org/officeDocument/2006/relationships/notesSlide" Target="/ppt/notesSlides/notesSlide12.xml" Id="R837519f52e4a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8CE2B-E4D1-4D65-A4AE-1685A8F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F5597"/>
                </a:solidFill>
              </a:defRPr>
            </a:defPPr>
            <a:lvl1pPr>
              <a:defRPr sz="1275" b="1">
                <a:solidFill>
                  <a:srgbClr val="2F5597"/>
                </a:solidFill>
              </a:defRPr>
            </a:lvl1pPr>
            <a:lvl2pPr>
              <a:defRPr sz="1275" b="1">
                <a:solidFill>
                  <a:srgbClr val="2F5597"/>
                </a:solidFill>
              </a:defRPr>
            </a:lvl2pPr>
            <a:lvl3pPr>
              <a:defRPr sz="1275" b="1">
                <a:solidFill>
                  <a:srgbClr val="2F5597"/>
                </a:solidFill>
              </a:defRPr>
            </a:lvl3pPr>
            <a:lvl4pPr>
              <a:defRPr sz="1275" b="1">
                <a:solidFill>
                  <a:srgbClr val="2F5597"/>
                </a:solidFill>
              </a:defRPr>
            </a:lvl4pPr>
            <a:lvl5pPr>
              <a:defRPr sz="1275" b="1">
                <a:solidFill>
                  <a:srgbClr val="2F5597"/>
                </a:solidFill>
              </a:defRPr>
            </a:lvl5pPr>
            <a:lvl6pPr>
              <a:defRPr sz="1275" b="1">
                <a:solidFill>
                  <a:srgbClr val="2F5597"/>
                </a:solidFill>
              </a:defRPr>
            </a:lvl6pPr>
            <a:lvl7pPr>
              <a:defRPr sz="1275" b="1">
                <a:solidFill>
                  <a:srgbClr val="2F5597"/>
                </a:solidFill>
              </a:defRPr>
            </a:lvl7pPr>
            <a:lvl8pPr>
              <a:defRPr sz="1275" b="1">
                <a:solidFill>
                  <a:srgbClr val="2F5597"/>
                </a:solidFill>
              </a:defRPr>
            </a:lvl8pPr>
            <a:lvl9pPr>
              <a:defRPr sz="12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F5597"/>
                </a:solidFill>
              </a:defRPr>
            </a:pPr>
            <a:r>
              <a:rPr sz="12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A0B17-79B4-4CFB-B67F-EFAED7FF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F4E79"/>
                </a:solidFill>
              </a:defRPr>
            </a:defPPr>
            <a:lvl1pPr>
              <a:defRPr sz="3450" b="1">
                <a:solidFill>
                  <a:srgbClr val="1F4E79"/>
                </a:solidFill>
              </a:defRPr>
            </a:lvl1pPr>
            <a:lvl2pPr>
              <a:defRPr sz="3450" b="1">
                <a:solidFill>
                  <a:srgbClr val="1F4E79"/>
                </a:solidFill>
              </a:defRPr>
            </a:lvl2pPr>
            <a:lvl3pPr>
              <a:defRPr sz="3450" b="1">
                <a:solidFill>
                  <a:srgbClr val="1F4E79"/>
                </a:solidFill>
              </a:defRPr>
            </a:lvl3pPr>
            <a:lvl4pPr>
              <a:defRPr sz="3450" b="1">
                <a:solidFill>
                  <a:srgbClr val="1F4E79"/>
                </a:solidFill>
              </a:defRPr>
            </a:lvl4pPr>
            <a:lvl5pPr>
              <a:defRPr sz="3450" b="1">
                <a:solidFill>
                  <a:srgbClr val="1F4E79"/>
                </a:solidFill>
              </a:defRPr>
            </a:lvl5pPr>
            <a:lvl6pPr>
              <a:defRPr sz="3450" b="1">
                <a:solidFill>
                  <a:srgbClr val="1F4E79"/>
                </a:solidFill>
              </a:defRPr>
            </a:lvl6pPr>
            <a:lvl7pPr>
              <a:defRPr sz="3450" b="1">
                <a:solidFill>
                  <a:srgbClr val="1F4E79"/>
                </a:solidFill>
              </a:defRPr>
            </a:lvl7pPr>
            <a:lvl8pPr>
              <a:defRPr sz="3450" b="1">
                <a:solidFill>
                  <a:srgbClr val="1F4E79"/>
                </a:solidFill>
              </a:defRPr>
            </a:lvl8pPr>
            <a:lvl9pPr>
              <a:defRPr sz="34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F4E79"/>
                </a:solidFill>
              </a:defRPr>
            </a:pPr>
            <a:r>
              <a:rPr sz="3450" b="1">
                <a:solidFill>
                  <a:srgbClr val="1F4E79"/>
                </a:solidFill>
              </a:rPr>
              <a:t>So sánh CNN và ResNet18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C0DE3-3176-480C-A3A2-DD54E8BB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B6573"/>
                </a:solidFill>
              </a:defRPr>
            </a:defPPr>
            <a:lvl1pPr>
              <a:defRPr sz="1650" b="0">
                <a:solidFill>
                  <a:srgbClr val="5B6573"/>
                </a:solidFill>
              </a:defRPr>
            </a:lvl1pPr>
            <a:lvl2pPr>
              <a:defRPr sz="1650" b="0">
                <a:solidFill>
                  <a:srgbClr val="5B6573"/>
                </a:solidFill>
              </a:defRPr>
            </a:lvl2pPr>
            <a:lvl3pPr>
              <a:defRPr sz="1650" b="0">
                <a:solidFill>
                  <a:srgbClr val="5B6573"/>
                </a:solidFill>
              </a:defRPr>
            </a:lvl3pPr>
            <a:lvl4pPr>
              <a:defRPr sz="1650" b="0">
                <a:solidFill>
                  <a:srgbClr val="5B6573"/>
                </a:solidFill>
              </a:defRPr>
            </a:lvl4pPr>
            <a:lvl5pPr>
              <a:defRPr sz="1650" b="0">
                <a:solidFill>
                  <a:srgbClr val="5B6573"/>
                </a:solidFill>
              </a:defRPr>
            </a:lvl5pPr>
            <a:lvl6pPr>
              <a:defRPr sz="1650" b="0">
                <a:solidFill>
                  <a:srgbClr val="5B6573"/>
                </a:solidFill>
              </a:defRPr>
            </a:lvl6pPr>
            <a:lvl7pPr>
              <a:defRPr sz="1650" b="0">
                <a:solidFill>
                  <a:srgbClr val="5B6573"/>
                </a:solidFill>
              </a:defRPr>
            </a:lvl7pPr>
            <a:lvl8pPr>
              <a:defRPr sz="1650" b="0">
                <a:solidFill>
                  <a:srgbClr val="5B6573"/>
                </a:solidFill>
              </a:defRPr>
            </a:lvl8pPr>
            <a:lvl9pPr>
              <a:defRPr sz="16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Báo cáo bài tập lớn · Nhóm 4 · Trường Đại học CMC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77EFB-3A38-4873-A946-DFE3D93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2A"/>
                </a:solidFill>
              </a:defRPr>
            </a:defPPr>
            <a:lvl1pPr>
              <a:defRPr sz="1200" b="0">
                <a:solidFill>
                  <a:srgbClr val="17202A"/>
                </a:solidFill>
              </a:defRPr>
            </a:lvl1pPr>
            <a:lvl2pPr>
              <a:defRPr sz="1200" b="0">
                <a:solidFill>
                  <a:srgbClr val="17202A"/>
                </a:solidFill>
              </a:defRPr>
            </a:lvl2pPr>
            <a:lvl3pPr>
              <a:defRPr sz="1200" b="0">
                <a:solidFill>
                  <a:srgbClr val="17202A"/>
                </a:solidFill>
              </a:defRPr>
            </a:lvl3pPr>
            <a:lvl4pPr>
              <a:defRPr sz="1200" b="0">
                <a:solidFill>
                  <a:srgbClr val="17202A"/>
                </a:solidFill>
              </a:defRPr>
            </a:lvl4pPr>
            <a:lvl5pPr>
              <a:defRPr sz="1200" b="0">
                <a:solidFill>
                  <a:srgbClr val="17202A"/>
                </a:solidFill>
              </a:defRPr>
            </a:lvl5pPr>
            <a:lvl6pPr>
              <a:defRPr sz="1200" b="0">
                <a:solidFill>
                  <a:srgbClr val="17202A"/>
                </a:solidFill>
              </a:defRPr>
            </a:lvl6pPr>
            <a:lvl7pPr>
              <a:defRPr sz="1200" b="0">
                <a:solidFill>
                  <a:srgbClr val="17202A"/>
                </a:solidFill>
              </a:defRPr>
            </a:lvl7pPr>
            <a:lvl8pPr>
              <a:defRPr sz="1200" b="0">
                <a:solidFill>
                  <a:srgbClr val="17202A"/>
                </a:solidFill>
              </a:defRPr>
            </a:lvl8pPr>
            <a:lvl9pPr>
              <a:defRPr sz="12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CNN đã kiểm chứng · ResNet18 PENDING artifact Test</a:t>
            </a:r>
          </a:p>
        </p:txBody>
      </p:sp>
    </p:spTree>
    <p:extLst>
      <p:ext uri="{BB962C8B-B14F-4D97-AF65-F5344CB8AC3E}">
        <p14:creationId xmlns:p14="http://schemas.microsoft.com/office/powerpoint/2010/main" val="911419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A1CB8-BFFF-4027-8D1E-8783064A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708DD-E61D-4EED-8BD3-FD6F6CA3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Mục tiêu và phạm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292B3-DD57-475F-91D2-DAEE460D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EE971-F89E-4200-A30A-981E6830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Mục tiêu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14DDD-6277-4CB2-B0A7-1F6E93FC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Phân loại ảnh lá cà chua vào bốn lớp đã thống nhất.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So sánh CNN huấn luyện từ đầu với ResNet18 dùng Transfer Learning.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Đối chiếu kết quả với demo Streamlit.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DED71-1002-44B2-9A96-FF2BA43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Phạm 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8A0EF-45D7-4053-892E-43CAF887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Kết quả chỉ áp dụng cho các lớp và dữ liệu đã học.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PlantVillage có điều kiện chụp được kiểm soát.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Chưa có thí nghiệm riêng cho bệnh mới chớm.</a:t>
            </a:r>
          </a:p>
        </p:txBody>
      </p:sp>
    </p:spTree>
    <p:extLst>
      <p:ext uri="{BB962C8B-B14F-4D97-AF65-F5344CB8AC3E}">
        <p14:creationId xmlns:p14="http://schemas.microsoft.com/office/powerpoint/2010/main" val="1287028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F60D9-E2F9-4DB5-98B4-313451D6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EE19C-2433-4EAE-A3CA-BA6AC63F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Dữ liệu và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17F81-ADC8-45D5-947D-CCFBE8B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87841-D1DC-4B62-88D7-EA50A53D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Nguồn 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3D14-BE35-4CB6-953D-CF3433D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PlantVillage · 6.502 ảnh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Train 4.115 · Validation 1.031 · Test 1.356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E475F-A6E0-4357-B522-AFDC6EE2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Pipeline chung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6F8C5-B77F-4C7D-B1B7-1764FD32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02A"/>
                </a:solidFill>
              </a:defRPr>
            </a:defPPr>
            <a:lvl1pPr>
              <a:defRPr sz="1800" b="1">
                <a:solidFill>
                  <a:srgbClr val="17202A"/>
                </a:solidFill>
              </a:defRPr>
            </a:lvl1pPr>
            <a:lvl2pPr>
              <a:defRPr sz="1800" b="1">
                <a:solidFill>
                  <a:srgbClr val="17202A"/>
                </a:solidFill>
              </a:defRPr>
            </a:lvl2pPr>
            <a:lvl3pPr>
              <a:defRPr sz="1800" b="1">
                <a:solidFill>
                  <a:srgbClr val="17202A"/>
                </a:solidFill>
              </a:defRPr>
            </a:lvl3pPr>
            <a:lvl4pPr>
              <a:defRPr sz="1800" b="1">
                <a:solidFill>
                  <a:srgbClr val="17202A"/>
                </a:solidFill>
              </a:defRPr>
            </a:lvl4pPr>
            <a:lvl5pPr>
              <a:defRPr sz="1800" b="1">
                <a:solidFill>
                  <a:srgbClr val="17202A"/>
                </a:solidFill>
              </a:defRPr>
            </a:lvl5pPr>
            <a:lvl6pPr>
              <a:defRPr sz="1800" b="1">
                <a:solidFill>
                  <a:srgbClr val="17202A"/>
                </a:solidFill>
              </a:defRPr>
            </a:lvl6pPr>
            <a:lvl7pPr>
              <a:defRPr sz="1800" b="1">
                <a:solidFill>
                  <a:srgbClr val="17202A"/>
                </a:solidFill>
              </a:defRPr>
            </a:lvl7pPr>
            <a:lvl8pPr>
              <a:defRPr sz="1800" b="1">
                <a:solidFill>
                  <a:srgbClr val="17202A"/>
                </a:solidFill>
              </a:defRPr>
            </a:lvl8pPr>
            <a:lvl9pPr>
              <a:defRPr sz="1800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Manifest → transform → model → prediction CSV → đánh giá NV5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444A2-03DE-434F-93C9-B376D9D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  <a:lvl1pPr>
              <a:defRPr sz="1350" b="0">
                <a:solidFill>
                  <a:srgbClr val="5B6573"/>
                </a:solidFill>
              </a:defRPr>
            </a:lvl1pPr>
            <a:lvl2pPr>
              <a:defRPr sz="1350" b="0">
                <a:solidFill>
                  <a:srgbClr val="5B6573"/>
                </a:solidFill>
              </a:defRPr>
            </a:lvl2pPr>
            <a:lvl3pPr>
              <a:defRPr sz="1350" b="0">
                <a:solidFill>
                  <a:srgbClr val="5B6573"/>
                </a:solidFill>
              </a:defRPr>
            </a:lvl3pPr>
            <a:lvl4pPr>
              <a:defRPr sz="1350" b="0">
                <a:solidFill>
                  <a:srgbClr val="5B6573"/>
                </a:solidFill>
              </a:defRPr>
            </a:lvl4pPr>
            <a:lvl5pPr>
              <a:defRPr sz="1350" b="0">
                <a:solidFill>
                  <a:srgbClr val="5B6573"/>
                </a:solidFill>
              </a:defRPr>
            </a:lvl5pPr>
            <a:lvl6pPr>
              <a:defRPr sz="1350" b="0">
                <a:solidFill>
                  <a:srgbClr val="5B6573"/>
                </a:solidFill>
              </a:defRPr>
            </a:lvl6pPr>
            <a:lvl7pPr>
              <a:defRPr sz="1350" b="0">
                <a:solidFill>
                  <a:srgbClr val="5B6573"/>
                </a:solidFill>
              </a:defRPr>
            </a:lvl7pPr>
            <a:lvl8pPr>
              <a:defRPr sz="1350" b="0">
                <a:solidFill>
                  <a:srgbClr val="5B6573"/>
                </a:solidFill>
              </a:defRPr>
            </a:lvl8pPr>
            <a:lvl9pPr>
              <a:defRPr sz="13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Mapping 0–3: Healthy · Early Blight · Late Blight · Bacterial Spot</a:t>
            </a:r>
          </a:p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Nguồn: PR #8 và configs/class_mapping.json</a:t>
            </a:r>
          </a:p>
        </p:txBody>
      </p:sp>
    </p:spTree>
    <p:extLst>
      <p:ext uri="{BB962C8B-B14F-4D97-AF65-F5344CB8AC3E}">
        <p14:creationId xmlns:p14="http://schemas.microsoft.com/office/powerpoint/2010/main" val="824096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D3C5E-58EE-42A8-BB7A-250597E1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5053E-353A-4272-B662-0A480E96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Hai hướng mô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86A94-1F0C-4C60-9658-5E296A8D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FC9FA-6105-4216-8FD3-7CBDFDFA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5597"/>
                </a:solidFill>
              </a:defRPr>
            </a:defPPr>
            <a:lvl1pPr>
              <a:defRPr sz="1950" b="1">
                <a:solidFill>
                  <a:srgbClr val="2F5597"/>
                </a:solidFill>
              </a:defRPr>
            </a:lvl1pPr>
            <a:lvl2pPr>
              <a:defRPr sz="1950" b="1">
                <a:solidFill>
                  <a:srgbClr val="2F5597"/>
                </a:solidFill>
              </a:defRPr>
            </a:lvl2pPr>
            <a:lvl3pPr>
              <a:defRPr sz="1950" b="1">
                <a:solidFill>
                  <a:srgbClr val="2F5597"/>
                </a:solidFill>
              </a:defRPr>
            </a:lvl3pPr>
            <a:lvl4pPr>
              <a:defRPr sz="1950" b="1">
                <a:solidFill>
                  <a:srgbClr val="2F5597"/>
                </a:solidFill>
              </a:defRPr>
            </a:lvl4pPr>
            <a:lvl5pPr>
              <a:defRPr sz="1950" b="1">
                <a:solidFill>
                  <a:srgbClr val="2F5597"/>
                </a:solidFill>
              </a:defRPr>
            </a:lvl5pPr>
            <a:lvl6pPr>
              <a:defRPr sz="1950" b="1">
                <a:solidFill>
                  <a:srgbClr val="2F5597"/>
                </a:solidFill>
              </a:defRPr>
            </a:lvl6pPr>
            <a:lvl7pPr>
              <a:defRPr sz="1950" b="1">
                <a:solidFill>
                  <a:srgbClr val="2F5597"/>
                </a:solidFill>
              </a:defRPr>
            </a:lvl7pPr>
            <a:lvl8pPr>
              <a:defRPr sz="1950" b="1">
                <a:solidFill>
                  <a:srgbClr val="2F5597"/>
                </a:solidFill>
              </a:defRPr>
            </a:lvl8pPr>
            <a:lvl9pPr>
              <a:defRPr sz="19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F5597"/>
                </a:solidFill>
              </a:defRPr>
            </a:pPr>
            <a:r>
              <a:rPr sz="1950" b="1">
                <a:solidFill>
                  <a:srgbClr val="2F5597"/>
                </a:solidFill>
              </a:rPr>
              <a:t>CNN tự xây dựng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ED461-C09A-478D-9BC4-B340998D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Học từ đầu · 4 khối Conv–BN–ReLU–MaxPool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GAP · Dropout 0,3 · Linear 4 lớp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Checkpoint E1 epoch 24 chọn theo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73315-5513-4AB5-B1F0-D1C2188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5597"/>
                </a:solidFill>
              </a:defRPr>
            </a:defPPr>
            <a:lvl1pPr>
              <a:defRPr sz="1950" b="1">
                <a:solidFill>
                  <a:srgbClr val="2F5597"/>
                </a:solidFill>
              </a:defRPr>
            </a:lvl1pPr>
            <a:lvl2pPr>
              <a:defRPr sz="1950" b="1">
                <a:solidFill>
                  <a:srgbClr val="2F5597"/>
                </a:solidFill>
              </a:defRPr>
            </a:lvl2pPr>
            <a:lvl3pPr>
              <a:defRPr sz="1950" b="1">
                <a:solidFill>
                  <a:srgbClr val="2F5597"/>
                </a:solidFill>
              </a:defRPr>
            </a:lvl3pPr>
            <a:lvl4pPr>
              <a:defRPr sz="1950" b="1">
                <a:solidFill>
                  <a:srgbClr val="2F5597"/>
                </a:solidFill>
              </a:defRPr>
            </a:lvl4pPr>
            <a:lvl5pPr>
              <a:defRPr sz="1950" b="1">
                <a:solidFill>
                  <a:srgbClr val="2F5597"/>
                </a:solidFill>
              </a:defRPr>
            </a:lvl5pPr>
            <a:lvl6pPr>
              <a:defRPr sz="1950" b="1">
                <a:solidFill>
                  <a:srgbClr val="2F5597"/>
                </a:solidFill>
              </a:defRPr>
            </a:lvl6pPr>
            <a:lvl7pPr>
              <a:defRPr sz="1950" b="1">
                <a:solidFill>
                  <a:srgbClr val="2F5597"/>
                </a:solidFill>
              </a:defRPr>
            </a:lvl7pPr>
            <a:lvl8pPr>
              <a:defRPr sz="1950" b="1">
                <a:solidFill>
                  <a:srgbClr val="2F5597"/>
                </a:solidFill>
              </a:defRPr>
            </a:lvl8pPr>
            <a:lvl9pPr>
              <a:defRPr sz="19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F5597"/>
                </a:solidFill>
              </a:defRPr>
            </a:pPr>
            <a:r>
              <a:rPr sz="1950" b="1">
                <a:solidFill>
                  <a:srgbClr val="2F5597"/>
                </a:solidFill>
              </a:rPr>
              <a:t>ResNet18 Transfer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31A9C-71C1-48DD-A1CA-2C1EA63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Pipeline source đã có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Checkpoint fine-tuned và Test artifact: PENDING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Không điền kiến trúc/metric chưa bàn giao</a:t>
            </a:r>
          </a:p>
        </p:txBody>
      </p:sp>
    </p:spTree>
    <p:extLst>
      <p:ext uri="{BB962C8B-B14F-4D97-AF65-F5344CB8AC3E}">
        <p14:creationId xmlns:p14="http://schemas.microsoft.com/office/powerpoint/2010/main" val="1646962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4BC56-18AB-40D2-B4D8-A5A99024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CC517-8133-4257-8286-474BEC4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Giao thức đánh giá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962D9-2FD9-4005-96BD-7B99B64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ECBE6-F1DC-4167-8828-5804063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02A"/>
                </a:solidFill>
              </a:defRPr>
            </a:defPPr>
            <a:lvl1pPr>
              <a:defRPr sz="1725" b="1">
                <a:solidFill>
                  <a:srgbClr val="17202A"/>
                </a:solidFill>
              </a:defRPr>
            </a:lvl1pPr>
            <a:lvl2pPr>
              <a:defRPr sz="1725" b="1">
                <a:solidFill>
                  <a:srgbClr val="17202A"/>
                </a:solidFill>
              </a:defRPr>
            </a:lvl2pPr>
            <a:lvl3pPr>
              <a:defRPr sz="1725" b="1">
                <a:solidFill>
                  <a:srgbClr val="17202A"/>
                </a:solidFill>
              </a:defRPr>
            </a:lvl3pPr>
            <a:lvl4pPr>
              <a:defRPr sz="1725" b="1">
                <a:solidFill>
                  <a:srgbClr val="17202A"/>
                </a:solidFill>
              </a:defRPr>
            </a:lvl4pPr>
            <a:lvl5pPr>
              <a:defRPr sz="1725" b="1">
                <a:solidFill>
                  <a:srgbClr val="17202A"/>
                </a:solidFill>
              </a:defRPr>
            </a:lvl5pPr>
            <a:lvl6pPr>
              <a:defRPr sz="1725" b="1">
                <a:solidFill>
                  <a:srgbClr val="17202A"/>
                </a:solidFill>
              </a:defRPr>
            </a:lvl6pPr>
            <a:lvl7pPr>
              <a:defRPr sz="1725" b="1">
                <a:solidFill>
                  <a:srgbClr val="17202A"/>
                </a:solidFill>
              </a:defRPr>
            </a:lvl7pPr>
            <a:lvl8pPr>
              <a:defRPr sz="1725" b="1">
                <a:solidFill>
                  <a:srgbClr val="17202A"/>
                </a:solidFill>
              </a:defRPr>
            </a:lvl8pPr>
            <a:lvl9pPr>
              <a:defRPr sz="1725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NV5 dùng scripts/evaluate_models.py để kiểm tra hai prediction CSV có cùng sample ID và ground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AFE2C-25FD-456C-97AE-B883E7B9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5597"/>
                </a:solidFill>
              </a:defRPr>
            </a:defPPr>
            <a:lvl1pPr>
              <a:defRPr sz="1650" b="1">
                <a:solidFill>
                  <a:srgbClr val="2F5597"/>
                </a:solidFill>
              </a:defRPr>
            </a:lvl1pPr>
            <a:lvl2pPr>
              <a:defRPr sz="1650" b="1">
                <a:solidFill>
                  <a:srgbClr val="2F5597"/>
                </a:solidFill>
              </a:defRPr>
            </a:lvl2pPr>
            <a:lvl3pPr>
              <a:defRPr sz="1650" b="1">
                <a:solidFill>
                  <a:srgbClr val="2F5597"/>
                </a:solidFill>
              </a:defRPr>
            </a:lvl3pPr>
            <a:lvl4pPr>
              <a:defRPr sz="1650" b="1">
                <a:solidFill>
                  <a:srgbClr val="2F5597"/>
                </a:solidFill>
              </a:defRPr>
            </a:lvl4pPr>
            <a:lvl5pPr>
              <a:defRPr sz="1650" b="1">
                <a:solidFill>
                  <a:srgbClr val="2F5597"/>
                </a:solidFill>
              </a:defRPr>
            </a:lvl5pPr>
            <a:lvl6pPr>
              <a:defRPr sz="1650" b="1">
                <a:solidFill>
                  <a:srgbClr val="2F5597"/>
                </a:solidFill>
              </a:defRPr>
            </a:lvl6pPr>
            <a:lvl7pPr>
              <a:defRPr sz="1650" b="1">
                <a:solidFill>
                  <a:srgbClr val="2F5597"/>
                </a:solidFill>
              </a:defRPr>
            </a:lvl7pPr>
            <a:lvl8pPr>
              <a:defRPr sz="1650" b="1">
                <a:solidFill>
                  <a:srgbClr val="2F5597"/>
                </a:solidFill>
              </a:defRPr>
            </a:lvl8pPr>
            <a:lvl9pPr>
              <a:defRPr sz="16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5597"/>
                </a:solidFill>
              </a:defRPr>
            </a:pPr>
            <a:r>
              <a:rPr sz="1650" b="1">
                <a:solidFill>
                  <a:srgbClr val="2F5597"/>
                </a:solidFill>
              </a:rPr>
              <a:t>Chỉ đánh giá Test sau khi checkpoint đã được chọn bằng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0F203-183A-455E-A872-EA6A23A8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Metrics cần báo cáo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7CF81-2C69-4212-BA5F-A9B010DA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Accuracy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Macro Precision / Recall / F1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F1 từng lớp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Số tham số và thời gian đo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7A47C-0CE0-4866-9C70-E810CEC7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Nguồn số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1D4E4-69E1-4269-8AB7-5DA6A776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results/comparison.csv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results/analysis.md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Hai confusion matrix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Prediction CSV và metadata checkpoint</a:t>
            </a:r>
          </a:p>
        </p:txBody>
      </p:sp>
    </p:spTree>
    <p:extLst>
      <p:ext uri="{BB962C8B-B14F-4D97-AF65-F5344CB8AC3E}">
        <p14:creationId xmlns:p14="http://schemas.microsoft.com/office/powerpoint/2010/main" val="952961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02FDB-9B4A-47CD-BA91-7BCC20E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E3442-69F0-4ABA-8881-27F79276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Kết quả so sánh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7F883-93D9-4DD6-BA60-D89244C8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A1A86-C1F6-4576-A121-D9A3A16D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B6573"/>
                </a:solidFill>
              </a:defRPr>
            </a:defPPr>
            <a:lvl1pPr>
              <a:defRPr sz="1650" b="1">
                <a:solidFill>
                  <a:srgbClr val="5B6573"/>
                </a:solidFill>
              </a:defRPr>
            </a:lvl1pPr>
            <a:lvl2pPr>
              <a:defRPr sz="1650" b="1">
                <a:solidFill>
                  <a:srgbClr val="5B6573"/>
                </a:solidFill>
              </a:defRPr>
            </a:lvl2pPr>
            <a:lvl3pPr>
              <a:defRPr sz="1650" b="1">
                <a:solidFill>
                  <a:srgbClr val="5B6573"/>
                </a:solidFill>
              </a:defRPr>
            </a:lvl3pPr>
            <a:lvl4pPr>
              <a:defRPr sz="1650" b="1">
                <a:solidFill>
                  <a:srgbClr val="5B6573"/>
                </a:solidFill>
              </a:defRPr>
            </a:lvl4pPr>
            <a:lvl5pPr>
              <a:defRPr sz="1650" b="1">
                <a:solidFill>
                  <a:srgbClr val="5B6573"/>
                </a:solidFill>
              </a:defRPr>
            </a:lvl5pPr>
            <a:lvl6pPr>
              <a:defRPr sz="1650" b="1">
                <a:solidFill>
                  <a:srgbClr val="5B6573"/>
                </a:solidFill>
              </a:defRPr>
            </a:lvl6pPr>
            <a:lvl7pPr>
              <a:defRPr sz="1650" b="1">
                <a:solidFill>
                  <a:srgbClr val="5B6573"/>
                </a:solidFill>
              </a:defRPr>
            </a:lvl7pPr>
            <a:lvl8pPr>
              <a:defRPr sz="1650" b="1">
                <a:solidFill>
                  <a:srgbClr val="5B6573"/>
                </a:solidFill>
              </a:defRPr>
            </a:lvl8pPr>
            <a:lvl9pPr>
              <a:defRPr sz="1650" b="1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B6573"/>
                </a:solidFill>
              </a:defRPr>
            </a:pPr>
            <a:r>
              <a:rPr sz="1650" b="1">
                <a:solidFill>
                  <a:srgbClr val="5B6573"/>
                </a:solidFill>
              </a:rPr>
              <a:t>Test chung 1.356 ảnh · Artifact CNN PR #9 đã đối chiếu dưới 1e-6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E752C-6A97-4FD7-A413-B17B9AEB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CNN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75B35-8DF0-4E71-B7EF-7354C0EB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Accuracy: 0,969764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Macro F1: 0,965034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Parameters/time: chưa bàn giao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D71F0-CE5C-428A-8192-0D67D9C1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ResNet18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45197-1D84-4E26-9F35-317DFE4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Accuracy: PENDING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Macro F1: PENDING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Cần CSV, metrics, checkpoint từ NV3</a:t>
            </a:r>
          </a:p>
        </p:txBody>
      </p:sp>
    </p:spTree>
    <p:extLst>
      <p:ext uri="{BB962C8B-B14F-4D97-AF65-F5344CB8AC3E}">
        <p14:creationId xmlns:p14="http://schemas.microsoft.com/office/powerpoint/2010/main" val="1999305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D794B-E3BF-4966-AE23-E0B2654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61246-C145-4CC5-B2B2-C405864F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Phân tích nhầm lẫn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E6E5E-3B2E-4E1E-9BF2-7844557C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FD8B9-34EF-4F4E-A2D8-40C71B42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2A"/>
                </a:solidFill>
              </a:defRPr>
            </a:defPPr>
            <a:lvl1pPr>
              <a:defRPr sz="1500" b="1">
                <a:solidFill>
                  <a:srgbClr val="17202A"/>
                </a:solidFill>
              </a:defRPr>
            </a:lvl1pPr>
            <a:lvl2pPr>
              <a:defRPr sz="1500" b="1">
                <a:solidFill>
                  <a:srgbClr val="17202A"/>
                </a:solidFill>
              </a:defRPr>
            </a:lvl2pPr>
            <a:lvl3pPr>
              <a:defRPr sz="1500" b="1">
                <a:solidFill>
                  <a:srgbClr val="17202A"/>
                </a:solidFill>
              </a:defRPr>
            </a:lvl3pPr>
            <a:lvl4pPr>
              <a:defRPr sz="1500" b="1">
                <a:solidFill>
                  <a:srgbClr val="17202A"/>
                </a:solidFill>
              </a:defRPr>
            </a:lvl4pPr>
            <a:lvl5pPr>
              <a:defRPr sz="1500" b="1">
                <a:solidFill>
                  <a:srgbClr val="17202A"/>
                </a:solidFill>
              </a:defRPr>
            </a:lvl5pPr>
            <a:lvl6pPr>
              <a:defRPr sz="1500" b="1">
                <a:solidFill>
                  <a:srgbClr val="17202A"/>
                </a:solidFill>
              </a:defRPr>
            </a:lvl6pPr>
            <a:lvl7pPr>
              <a:defRPr sz="1500" b="1">
                <a:solidFill>
                  <a:srgbClr val="17202A"/>
                </a:solidFill>
              </a:defRPr>
            </a:lvl7pPr>
            <a:lvl8pPr>
              <a:defRPr sz="1500" b="1">
                <a:solidFill>
                  <a:srgbClr val="17202A"/>
                </a:solidFill>
              </a:defRPr>
            </a:lvl8pPr>
            <a:lvl9pPr>
              <a:defRPr sz="1500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CNN confusion matrix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H: 329  0  1  0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E: 0  198  14  3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L: 5  12  358  0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B: 0  2  4  430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DC4A3-767A-4607-97BE-7FF939DE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B6573"/>
                </a:solidFill>
              </a:defRPr>
            </a:defPPr>
            <a:lvl1pPr>
              <a:defRPr sz="1650" b="1">
                <a:solidFill>
                  <a:srgbClr val="5B6573"/>
                </a:solidFill>
              </a:defRPr>
            </a:lvl1pPr>
            <a:lvl2pPr>
              <a:defRPr sz="1650" b="1">
                <a:solidFill>
                  <a:srgbClr val="5B6573"/>
                </a:solidFill>
              </a:defRPr>
            </a:lvl2pPr>
            <a:lvl3pPr>
              <a:defRPr sz="1650" b="1">
                <a:solidFill>
                  <a:srgbClr val="5B6573"/>
                </a:solidFill>
              </a:defRPr>
            </a:lvl3pPr>
            <a:lvl4pPr>
              <a:defRPr sz="1650" b="1">
                <a:solidFill>
                  <a:srgbClr val="5B6573"/>
                </a:solidFill>
              </a:defRPr>
            </a:lvl4pPr>
            <a:lvl5pPr>
              <a:defRPr sz="1650" b="1">
                <a:solidFill>
                  <a:srgbClr val="5B6573"/>
                </a:solidFill>
              </a:defRPr>
            </a:lvl5pPr>
            <a:lvl6pPr>
              <a:defRPr sz="1650" b="1">
                <a:solidFill>
                  <a:srgbClr val="5B6573"/>
                </a:solidFill>
              </a:defRPr>
            </a:lvl6pPr>
            <a:lvl7pPr>
              <a:defRPr sz="1650" b="1">
                <a:solidFill>
                  <a:srgbClr val="5B6573"/>
                </a:solidFill>
              </a:defRPr>
            </a:lvl7pPr>
            <a:lvl8pPr>
              <a:defRPr sz="1650" b="1">
                <a:solidFill>
                  <a:srgbClr val="5B6573"/>
                </a:solidFill>
              </a:defRPr>
            </a:lvl8pPr>
            <a:lvl9pPr>
              <a:defRPr sz="1650" b="1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B6573"/>
                </a:solidFill>
              </a:defRPr>
            </a:pPr>
            <a:r>
              <a:rPr sz="1650" b="1">
                <a:solidFill>
                  <a:srgbClr val="5B6573"/>
                </a:solidFill>
              </a:rPr>
              <a:t>ResNet18 confusion matrix</a:t>
            </a:r>
          </a:p>
          <a:p xmlns:a="http://schemas.openxmlformats.org/drawingml/2006/main">
            <a:pPr>
              <a:defRPr sz="1650" b="1">
                <a:solidFill>
                  <a:srgbClr val="5B6573"/>
                </a:solidFill>
              </a:defRPr>
            </a:pPr>
            <a:r>
              <a:rPr sz="1650" b="1">
                <a:solidFill>
                  <a:srgbClr val="5B6573"/>
                </a:solidFill>
              </a:rPr>
              <a:t>PENDING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5B6573"/>
                </a:solidFill>
              </a:defRPr>
            </a:pPr>
            <a:r>
              <a:rPr sz="1650" b="1">
                <a:solidFill>
                  <a:srgbClr val="5B6573"/>
                </a:solidFill>
              </a:rPr>
              <a:t>Chờ prediction CSV và</a:t>
            </a:r>
          </a:p>
          <a:p xmlns:a="http://schemas.openxmlformats.org/drawingml/2006/main">
            <a:pPr>
              <a:defRPr sz="1650" b="1">
                <a:solidFill>
                  <a:srgbClr val="5B6573"/>
                </a:solidFill>
              </a:defRPr>
            </a:pPr>
            <a:r>
              <a:rPr sz="1650" b="1">
                <a:solidFill>
                  <a:srgbClr val="5B6573"/>
                </a:solidFill>
              </a:rPr>
              <a:t>metrics JSON từ NV3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F07FA-5828-4FB7-AB11-C346C9B4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5597"/>
                </a:solidFill>
              </a:defRPr>
            </a:defPPr>
            <a:lvl1pPr>
              <a:defRPr sz="1650" b="1">
                <a:solidFill>
                  <a:srgbClr val="2F5597"/>
                </a:solidFill>
              </a:defRPr>
            </a:lvl1pPr>
            <a:lvl2pPr>
              <a:defRPr sz="1650" b="1">
                <a:solidFill>
                  <a:srgbClr val="2F5597"/>
                </a:solidFill>
              </a:defRPr>
            </a:lvl2pPr>
            <a:lvl3pPr>
              <a:defRPr sz="1650" b="1">
                <a:solidFill>
                  <a:srgbClr val="2F5597"/>
                </a:solidFill>
              </a:defRPr>
            </a:lvl3pPr>
            <a:lvl4pPr>
              <a:defRPr sz="1650" b="1">
                <a:solidFill>
                  <a:srgbClr val="2F5597"/>
                </a:solidFill>
              </a:defRPr>
            </a:lvl4pPr>
            <a:lvl5pPr>
              <a:defRPr sz="1650" b="1">
                <a:solidFill>
                  <a:srgbClr val="2F5597"/>
                </a:solidFill>
              </a:defRPr>
            </a:lvl5pPr>
            <a:lvl6pPr>
              <a:defRPr sz="1650" b="1">
                <a:solidFill>
                  <a:srgbClr val="2F5597"/>
                </a:solidFill>
              </a:defRPr>
            </a:lvl6pPr>
            <a:lvl7pPr>
              <a:defRPr sz="1650" b="1">
                <a:solidFill>
                  <a:srgbClr val="2F5597"/>
                </a:solidFill>
              </a:defRPr>
            </a:lvl7pPr>
            <a:lvl8pPr>
              <a:defRPr sz="1650" b="1">
                <a:solidFill>
                  <a:srgbClr val="2F5597"/>
                </a:solidFill>
              </a:defRPr>
            </a:lvl8pPr>
            <a:lvl9pPr>
              <a:defRPr sz="16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5597"/>
                </a:solidFill>
              </a:defRPr>
            </a:pPr>
            <a:r>
              <a:rPr sz="1650" b="1">
                <a:solidFill>
                  <a:srgbClr val="2F5597"/>
                </a:solidFill>
              </a:rPr>
              <a:t>Nhầm nhiều nhất: Early Blight ↔ Late Blight = 26/41 lỗi (63,4%)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62F0C-2AAA-4695-BD8F-90408AB9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  <a:lvl1pPr>
              <a:defRPr sz="1275" b="0">
                <a:solidFill>
                  <a:srgbClr val="5B6573"/>
                </a:solidFill>
              </a:defRPr>
            </a:lvl1pPr>
            <a:lvl2pPr>
              <a:defRPr sz="1275" b="0">
                <a:solidFill>
                  <a:srgbClr val="5B6573"/>
                </a:solidFill>
              </a:defRPr>
            </a:lvl2pPr>
            <a:lvl3pPr>
              <a:defRPr sz="1275" b="0">
                <a:solidFill>
                  <a:srgbClr val="5B6573"/>
                </a:solidFill>
              </a:defRPr>
            </a:lvl3pPr>
            <a:lvl4pPr>
              <a:defRPr sz="1275" b="0">
                <a:solidFill>
                  <a:srgbClr val="5B6573"/>
                </a:solidFill>
              </a:defRPr>
            </a:lvl4pPr>
            <a:lvl5pPr>
              <a:defRPr sz="1275" b="0">
                <a:solidFill>
                  <a:srgbClr val="5B6573"/>
                </a:solidFill>
              </a:defRPr>
            </a:lvl5pPr>
            <a:lvl6pPr>
              <a:defRPr sz="1275" b="0">
                <a:solidFill>
                  <a:srgbClr val="5B6573"/>
                </a:solidFill>
              </a:defRPr>
            </a:lvl6pPr>
            <a:lvl7pPr>
              <a:defRPr sz="1275" b="0">
                <a:solidFill>
                  <a:srgbClr val="5B6573"/>
                </a:solidFill>
              </a:defRPr>
            </a:lvl7pPr>
            <a:lvl8pPr>
              <a:defRPr sz="1275" b="0">
                <a:solidFill>
                  <a:srgbClr val="5B6573"/>
                </a:solidFill>
              </a:defRPr>
            </a:lvl8pPr>
            <a:lvl9pPr>
              <a:defRPr sz="127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H = Healthy · E = Early Blight · L = Late Blight · B = Bacterial Spot</a:t>
            </a:r>
          </a:p>
        </p:txBody>
      </p:sp>
    </p:spTree>
    <p:extLst>
      <p:ext uri="{BB962C8B-B14F-4D97-AF65-F5344CB8AC3E}">
        <p14:creationId xmlns:p14="http://schemas.microsoft.com/office/powerpoint/2010/main" val="1006492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A4E9D-6811-48B2-9239-C1D8B03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8FB3A-C7AD-4015-80EF-69679206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Demo và giới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3C2B3-6454-4499-8C38-A26FEBC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E2C22-8F53-48A4-9DF1-1410B7AC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4AA72-F92B-4392-895A-BF8B4A49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Streamlit: upload, CNN, ResNet18, so sánh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CNN strict-load CPU và consistency: max |delta| = 0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Ảnh/video cuối: chờ NV4 xác nhận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65402-A28C-4F0C-A0DA-FA2C14D5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Giới hạn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0FF6C-3D4B-4437-B1D7-0C90A17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Không thay thế chuyên gia.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Ảnh ngoài miền có thể bị ép vào một lớp.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Chưa chứng minh phát hiện sớm.</a:t>
            </a:r>
          </a:p>
        </p:txBody>
      </p:sp>
    </p:spTree>
    <p:extLst>
      <p:ext uri="{BB962C8B-B14F-4D97-AF65-F5344CB8AC3E}">
        <p14:creationId xmlns:p14="http://schemas.microsoft.com/office/powerpoint/2010/main" val="1091763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25035-CDAA-47EF-A1AB-52CF11BA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9795B-1AB8-4F38-940E-CE924E21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Kết luận và 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1AEB4-2B21-4CA2-9F8C-60DF5E5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9B011-4C69-4A8A-A7C7-9760876C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EBB50-AF40-4EF9-9E5A-2F91D845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CNN đạt macro-F1 0,965034 trên 1.356 ảnh Test.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Chưa kết luận CNN hay ResNet18 tốt hơn khi ResNet18 còn PENDING.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5943C-CA8F-4322-B199-C0F4E0F2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Hướng phát triển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D6172-D7FE-4343-BAC7-AEB30DB9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Bổ sung ảnh thực địa.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Kiểm tra độ tin cậy và calibration.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Đánh giá bệnh mới chớm khi có dataset phù hợp.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9B882-782F-483D-A84C-AD9F965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  <a:lvl1pPr>
              <a:defRPr sz="1350" b="0">
                <a:solidFill>
                  <a:srgbClr val="5B6573"/>
                </a:solidFill>
              </a:defRPr>
            </a:lvl1pPr>
            <a:lvl2pPr>
              <a:defRPr sz="1350" b="0">
                <a:solidFill>
                  <a:srgbClr val="5B6573"/>
                </a:solidFill>
              </a:defRPr>
            </a:lvl2pPr>
            <a:lvl3pPr>
              <a:defRPr sz="1350" b="0">
                <a:solidFill>
                  <a:srgbClr val="5B6573"/>
                </a:solidFill>
              </a:defRPr>
            </a:lvl3pPr>
            <a:lvl4pPr>
              <a:defRPr sz="1350" b="0">
                <a:solidFill>
                  <a:srgbClr val="5B6573"/>
                </a:solidFill>
              </a:defRPr>
            </a:lvl4pPr>
            <a:lvl5pPr>
              <a:defRPr sz="1350" b="0">
                <a:solidFill>
                  <a:srgbClr val="5B6573"/>
                </a:solidFill>
              </a:defRPr>
            </a:lvl5pPr>
            <a:lvl6pPr>
              <a:defRPr sz="1350" b="0">
                <a:solidFill>
                  <a:srgbClr val="5B6573"/>
                </a:solidFill>
              </a:defRPr>
            </a:lvl6pPr>
            <a:lvl7pPr>
              <a:defRPr sz="1350" b="0">
                <a:solidFill>
                  <a:srgbClr val="5B6573"/>
                </a:solidFill>
              </a:defRPr>
            </a:lvl7pPr>
            <a:lvl8pPr>
              <a:defRPr sz="1350" b="0">
                <a:solidFill>
                  <a:srgbClr val="5B6573"/>
                </a:solidFill>
              </a:defRPr>
            </a:lvl8pPr>
            <a:lvl9pPr>
              <a:defRPr sz="13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Câu hỏi phản biện: xem docs/NV5_DEFENSE_QA.md</a:t>
            </a:r>
          </a:p>
        </p:txBody>
      </p:sp>
    </p:spTree>
    <p:extLst>
      <p:ext uri="{BB962C8B-B14F-4D97-AF65-F5344CB8AC3E}">
        <p14:creationId xmlns:p14="http://schemas.microsoft.com/office/powerpoint/2010/main" val="15454590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C0D31-667C-4980-88FB-92805AA9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CFACA-FB73-4BB8-9A34-2ABACEB9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F1 từng lớp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528A5-3795-45D1-BAB2-E47BBDF2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56AB9-9E9B-4A7B-BE8F-9E5C747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02A"/>
                </a:solidFill>
              </a:defRPr>
            </a:defPPr>
            <a:lvl1pPr>
              <a:defRPr sz="1875" b="1">
                <a:solidFill>
                  <a:srgbClr val="17202A"/>
                </a:solidFill>
              </a:defRPr>
            </a:lvl1pPr>
            <a:lvl2pPr>
              <a:defRPr sz="1875" b="1">
                <a:solidFill>
                  <a:srgbClr val="17202A"/>
                </a:solidFill>
              </a:defRPr>
            </a:lvl2pPr>
            <a:lvl3pPr>
              <a:defRPr sz="1875" b="1">
                <a:solidFill>
                  <a:srgbClr val="17202A"/>
                </a:solidFill>
              </a:defRPr>
            </a:lvl3pPr>
            <a:lvl4pPr>
              <a:defRPr sz="1875" b="1">
                <a:solidFill>
                  <a:srgbClr val="17202A"/>
                </a:solidFill>
              </a:defRPr>
            </a:lvl4pPr>
            <a:lvl5pPr>
              <a:defRPr sz="1875" b="1">
                <a:solidFill>
                  <a:srgbClr val="17202A"/>
                </a:solidFill>
              </a:defRPr>
            </a:lvl5pPr>
            <a:lvl6pPr>
              <a:defRPr sz="1875" b="1">
                <a:solidFill>
                  <a:srgbClr val="17202A"/>
                </a:solidFill>
              </a:defRPr>
            </a:lvl6pPr>
            <a:lvl7pPr>
              <a:defRPr sz="1875" b="1">
                <a:solidFill>
                  <a:srgbClr val="17202A"/>
                </a:solidFill>
              </a:defRPr>
            </a:lvl7pPr>
            <a:lvl8pPr>
              <a:defRPr sz="1875" b="1">
                <a:solidFill>
                  <a:srgbClr val="17202A"/>
                </a:solidFill>
              </a:defRPr>
            </a:lvl8pPr>
            <a:lvl9pPr>
              <a:defRPr sz="1875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Healthy: 0,990964</a:t>
            </a:r>
          </a:p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Early Blight: 0,927400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4FF9E-FE1A-48CD-9491-8AC1B63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02A"/>
                </a:solidFill>
              </a:defRPr>
            </a:defPPr>
            <a:lvl1pPr>
              <a:defRPr sz="1875" b="1">
                <a:solidFill>
                  <a:srgbClr val="17202A"/>
                </a:solidFill>
              </a:defRPr>
            </a:lvl1pPr>
            <a:lvl2pPr>
              <a:defRPr sz="1875" b="1">
                <a:solidFill>
                  <a:srgbClr val="17202A"/>
                </a:solidFill>
              </a:defRPr>
            </a:lvl2pPr>
            <a:lvl3pPr>
              <a:defRPr sz="1875" b="1">
                <a:solidFill>
                  <a:srgbClr val="17202A"/>
                </a:solidFill>
              </a:defRPr>
            </a:lvl3pPr>
            <a:lvl4pPr>
              <a:defRPr sz="1875" b="1">
                <a:solidFill>
                  <a:srgbClr val="17202A"/>
                </a:solidFill>
              </a:defRPr>
            </a:lvl4pPr>
            <a:lvl5pPr>
              <a:defRPr sz="1875" b="1">
                <a:solidFill>
                  <a:srgbClr val="17202A"/>
                </a:solidFill>
              </a:defRPr>
            </a:lvl5pPr>
            <a:lvl6pPr>
              <a:defRPr sz="1875" b="1">
                <a:solidFill>
                  <a:srgbClr val="17202A"/>
                </a:solidFill>
              </a:defRPr>
            </a:lvl6pPr>
            <a:lvl7pPr>
              <a:defRPr sz="1875" b="1">
                <a:solidFill>
                  <a:srgbClr val="17202A"/>
                </a:solidFill>
              </a:defRPr>
            </a:lvl7pPr>
            <a:lvl8pPr>
              <a:defRPr sz="1875" b="1">
                <a:solidFill>
                  <a:srgbClr val="17202A"/>
                </a:solidFill>
              </a:defRPr>
            </a:lvl8pPr>
            <a:lvl9pPr>
              <a:defRPr sz="1875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Late Blight: 0,952128</a:t>
            </a:r>
          </a:p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Bacterial Spot: 0,989643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2F46E-EA93-48C8-9C45-133773E8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F5597"/>
                </a:solidFill>
              </a:defRPr>
            </a:defPPr>
            <a:lvl1pPr>
              <a:defRPr sz="1650" b="0">
                <a:solidFill>
                  <a:srgbClr val="2F5597"/>
                </a:solidFill>
              </a:defRPr>
            </a:lvl1pPr>
            <a:lvl2pPr>
              <a:defRPr sz="1650" b="0">
                <a:solidFill>
                  <a:srgbClr val="2F5597"/>
                </a:solidFill>
              </a:defRPr>
            </a:lvl2pPr>
            <a:lvl3pPr>
              <a:defRPr sz="1650" b="0">
                <a:solidFill>
                  <a:srgbClr val="2F5597"/>
                </a:solidFill>
              </a:defRPr>
            </a:lvl3pPr>
            <a:lvl4pPr>
              <a:defRPr sz="1650" b="0">
                <a:solidFill>
                  <a:srgbClr val="2F5597"/>
                </a:solidFill>
              </a:defRPr>
            </a:lvl4pPr>
            <a:lvl5pPr>
              <a:defRPr sz="1650" b="0">
                <a:solidFill>
                  <a:srgbClr val="2F5597"/>
                </a:solidFill>
              </a:defRPr>
            </a:lvl5pPr>
            <a:lvl6pPr>
              <a:defRPr sz="1650" b="0">
                <a:solidFill>
                  <a:srgbClr val="2F5597"/>
                </a:solidFill>
              </a:defRPr>
            </a:lvl6pPr>
            <a:lvl7pPr>
              <a:defRPr sz="1650" b="0">
                <a:solidFill>
                  <a:srgbClr val="2F5597"/>
                </a:solidFill>
              </a:defRPr>
            </a:lvl7pPr>
            <a:lvl8pPr>
              <a:defRPr sz="1650" b="0">
                <a:solidFill>
                  <a:srgbClr val="2F5597"/>
                </a:solidFill>
              </a:defRPr>
            </a:lvl8pPr>
            <a:lvl9pPr>
              <a:defRPr sz="1650" b="0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F5597"/>
                </a:solidFill>
              </a:defRPr>
            </a:pPr>
            <a:r>
              <a:rPr sz="1650" b="0">
                <a:solidFill>
                  <a:srgbClr val="2F5597"/>
                </a:solidFill>
              </a:rPr>
              <a:t>Early Blight có F1 thấp nhất trong artifact CNN. Cần đọc cùng support và confusion matrix, không chỉ dựa vào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E0152-7594-4335-803F-0F91B159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573"/>
                </a:solidFill>
              </a:defRPr>
            </a:defPPr>
            <a:lvl1pPr>
              <a:defRPr sz="1200" b="0">
                <a:solidFill>
                  <a:srgbClr val="5B6573"/>
                </a:solidFill>
              </a:defRPr>
            </a:lvl1pPr>
            <a:lvl2pPr>
              <a:defRPr sz="1200" b="0">
                <a:solidFill>
                  <a:srgbClr val="5B6573"/>
                </a:solidFill>
              </a:defRPr>
            </a:lvl2pPr>
            <a:lvl3pPr>
              <a:defRPr sz="1200" b="0">
                <a:solidFill>
                  <a:srgbClr val="5B6573"/>
                </a:solidFill>
              </a:defRPr>
            </a:lvl3pPr>
            <a:lvl4pPr>
              <a:defRPr sz="1200" b="0">
                <a:solidFill>
                  <a:srgbClr val="5B6573"/>
                </a:solidFill>
              </a:defRPr>
            </a:lvl4pPr>
            <a:lvl5pPr>
              <a:defRPr sz="1200" b="0">
                <a:solidFill>
                  <a:srgbClr val="5B6573"/>
                </a:solidFill>
              </a:defRPr>
            </a:lvl5pPr>
            <a:lvl6pPr>
              <a:defRPr sz="1200" b="0">
                <a:solidFill>
                  <a:srgbClr val="5B6573"/>
                </a:solidFill>
              </a:defRPr>
            </a:lvl6pPr>
            <a:lvl7pPr>
              <a:defRPr sz="1200" b="0">
                <a:solidFill>
                  <a:srgbClr val="5B6573"/>
                </a:solidFill>
              </a:defRPr>
            </a:lvl7pPr>
            <a:lvl8pPr>
              <a:defRPr sz="1200" b="0">
                <a:solidFill>
                  <a:srgbClr val="5B6573"/>
                </a:solidFill>
              </a:defRPr>
            </a:lvl8pPr>
            <a:lvl9pPr>
              <a:defRPr sz="120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Nguồn: results/cnn_metrics_nv2_handoff.json</a:t>
            </a:r>
          </a:p>
        </p:txBody>
      </p:sp>
    </p:spTree>
    <p:extLst>
      <p:ext uri="{BB962C8B-B14F-4D97-AF65-F5344CB8AC3E}">
        <p14:creationId xmlns:p14="http://schemas.microsoft.com/office/powerpoint/2010/main" val="2140593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38990-DFD1-472B-8ABB-96A47C87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45150-0226-41DE-A4C7-FB70FB64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Nguồn số liệu và giới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E3D5C-2254-4CC0-88C2-062D06E9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6CE53-7A24-4020-AC82-69C68563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Nguồn CNN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F5A05-360C-4E5E-A175-6B7DC1D4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PR #9 · cnn_metrics.json · prediction CSV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NV5 đối chiếu metrics dưới sai số 1e-6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40B8A-BAFE-40EA-BB8A-0E6BE43E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Giới hạn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93E53-6F7A-4141-B59C-FD94555E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PlantVillage có điều kiện kiểm soát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Ảnh ngoài bốn lớp vẫn bị ép nhãn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Chưa có Test bệnh mới chớm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E45A9-8104-418D-83FB-7D580D0B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F4E79"/>
                </a:solidFill>
              </a:defRPr>
            </a:defPPr>
            <a:lvl1pPr>
              <a:defRPr sz="1650" b="1">
                <a:solidFill>
                  <a:srgbClr val="1F4E79"/>
                </a:solidFill>
              </a:defRPr>
            </a:lvl1pPr>
            <a:lvl2pPr>
              <a:defRPr sz="1650" b="1">
                <a:solidFill>
                  <a:srgbClr val="1F4E79"/>
                </a:solidFill>
              </a:defRPr>
            </a:lvl2pPr>
            <a:lvl3pPr>
              <a:defRPr sz="1650" b="1">
                <a:solidFill>
                  <a:srgbClr val="1F4E79"/>
                </a:solidFill>
              </a:defRPr>
            </a:lvl3pPr>
            <a:lvl4pPr>
              <a:defRPr sz="1650" b="1">
                <a:solidFill>
                  <a:srgbClr val="1F4E79"/>
                </a:solidFill>
              </a:defRPr>
            </a:lvl4pPr>
            <a:lvl5pPr>
              <a:defRPr sz="1650" b="1">
                <a:solidFill>
                  <a:srgbClr val="1F4E79"/>
                </a:solidFill>
              </a:defRPr>
            </a:lvl5pPr>
            <a:lvl6pPr>
              <a:defRPr sz="1650" b="1">
                <a:solidFill>
                  <a:srgbClr val="1F4E79"/>
                </a:solidFill>
              </a:defRPr>
            </a:lvl6pPr>
            <a:lvl7pPr>
              <a:defRPr sz="1650" b="1">
                <a:solidFill>
                  <a:srgbClr val="1F4E79"/>
                </a:solidFill>
              </a:defRPr>
            </a:lvl7pPr>
            <a:lvl8pPr>
              <a:defRPr sz="1650" b="1">
                <a:solidFill>
                  <a:srgbClr val="1F4E79"/>
                </a:solidFill>
              </a:defRPr>
            </a:lvl8pPr>
            <a:lvl9pPr>
              <a:defRPr sz="16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Không dùng Test để chọn checkpoint hoặc hyperparameter.</a:t>
            </a:r>
          </a:p>
        </p:txBody>
      </p:sp>
    </p:spTree>
    <p:extLst>
      <p:ext uri="{BB962C8B-B14F-4D97-AF65-F5344CB8AC3E}">
        <p14:creationId xmlns:p14="http://schemas.microsoft.com/office/powerpoint/2010/main" val="203702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F3DA8-49DB-43CB-AE1A-AEBFD462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00283-B39A-4601-9785-0F655C2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Bàn giao cần thiết để chốt báo cáo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45791-7A7B-4991-B27B-021090D1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296A8-8BCE-467A-8AB2-8D4ABAA8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NV3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A1CD5-18FA-4214-A87E-03FF2B5C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ResNet18 checkpoint/hash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prediction CSV và metrics JSON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Validation evidence · metadata ·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A8697-DB72-4CB2-B827-B2584504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NV4 và nhóm trưởng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C1373-5790-4873-9549-B7E49807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Ảnh/video và checkpoint demo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Mẫu Word/PPTX, người trình bày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Review số liệu trước khi merge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8A929-9DFD-40AD-B687-3FCA70F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F4E79"/>
                </a:solidFill>
              </a:defRPr>
            </a:defPPr>
            <a:lvl1pPr>
              <a:defRPr sz="1575" b="1">
                <a:solidFill>
                  <a:srgbClr val="1F4E79"/>
                </a:solidFill>
              </a:defRPr>
            </a:lvl1pPr>
            <a:lvl2pPr>
              <a:defRPr sz="1575" b="1">
                <a:solidFill>
                  <a:srgbClr val="1F4E79"/>
                </a:solidFill>
              </a:defRPr>
            </a:lvl2pPr>
            <a:lvl3pPr>
              <a:defRPr sz="1575" b="1">
                <a:solidFill>
                  <a:srgbClr val="1F4E79"/>
                </a:solidFill>
              </a:defRPr>
            </a:lvl3pPr>
            <a:lvl4pPr>
              <a:defRPr sz="1575" b="1">
                <a:solidFill>
                  <a:srgbClr val="1F4E79"/>
                </a:solidFill>
              </a:defRPr>
            </a:lvl4pPr>
            <a:lvl5pPr>
              <a:defRPr sz="1575" b="1">
                <a:solidFill>
                  <a:srgbClr val="1F4E79"/>
                </a:solidFill>
              </a:defRPr>
            </a:lvl5pPr>
            <a:lvl6pPr>
              <a:defRPr sz="1575" b="1">
                <a:solidFill>
                  <a:srgbClr val="1F4E79"/>
                </a:solidFill>
              </a:defRPr>
            </a:lvl6pPr>
            <a:lvl7pPr>
              <a:defRPr sz="1575" b="1">
                <a:solidFill>
                  <a:srgbClr val="1F4E79"/>
                </a:solidFill>
              </a:defRPr>
            </a:lvl7pPr>
            <a:lvl8pPr>
              <a:defRPr sz="1575" b="1">
                <a:solidFill>
                  <a:srgbClr val="1F4E79"/>
                </a:solidFill>
              </a:defRPr>
            </a:lvl8pPr>
            <a:lvl9pPr>
              <a:defRPr sz="1575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4E79"/>
                </a:solidFill>
              </a:defRPr>
            </a:pPr>
            <a:r>
              <a:rPr sz="1575" b="1">
                <a:solidFill>
                  <a:srgbClr val="1F4E79"/>
                </a:solidFill>
              </a:rPr>
              <a:t>Sau khi đủ artifact: chạy evaluate_models.py rồi cập nhật comparison.csv, báo cáo và slide từ cùng một nguồn.</a:t>
            </a:r>
          </a:p>
        </p:txBody>
      </p:sp>
    </p:spTree>
    <p:extLst>
      <p:ext uri="{BB962C8B-B14F-4D97-AF65-F5344CB8AC3E}">
        <p14:creationId xmlns:p14="http://schemas.microsoft.com/office/powerpoint/2010/main" val="1207359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2026-10-30T00:55:21.4330000Z</dcterms:created>
  <dcterms:modified xsi:type="dcterms:W3CDTF">2026-10-30T00:55:21.4330000Z</dcterms:modified>
</coreProperties>
</file>