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5bf338905348e7" /><Relationship Type="http://schemas.openxmlformats.org/officeDocument/2006/relationships/extended-properties" Target="/docProps/app.xml" Id="Rcc2edce39f50441e" /><Relationship Type="http://schemas.openxmlformats.org/officeDocument/2006/relationships/officeDocument" Target="/ppt/presentation.xml" Id="Rda8591a8323a4a7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9cdb95995294a69"/>
  </p:sldMasterIdLst>
  <p:notesMasterIdLst>
    <p:notesMasterId xmlns:r="http://schemas.openxmlformats.org/officeDocument/2006/relationships" r:id="R1a5e9403a2954538"/>
  </p:notesMasterIdLst>
  <p:sldIdLst>
    <p:sldId xmlns:r="http://schemas.openxmlformats.org/officeDocument/2006/relationships" id="256" r:id="Rc8594ca4074341d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a4444edeac94db9" /><Relationship Type="http://schemas.openxmlformats.org/officeDocument/2006/relationships/slideMaster" Target="/ppt/slideMasters/slideMaster1.xml" Id="R39cdb95995294a69" /><Relationship Type="http://schemas.openxmlformats.org/officeDocument/2006/relationships/notesMaster" Target="/ppt/notesMasters/notesMaster1.xml" Id="R1a5e9403a2954538" /><Relationship Type="http://schemas.openxmlformats.org/officeDocument/2006/relationships/presProps" Target="/ppt/presProps.xml" Id="Rda7cf5858ca04ab3" /><Relationship Type="http://schemas.openxmlformats.org/officeDocument/2006/relationships/tableStyles" Target="/ppt/tableStyles.xml" Id="R3c82fea359d14efc" /><Relationship Type="http://schemas.openxmlformats.org/officeDocument/2006/relationships/slide" Target="/ppt/slides/slide1.xml" Id="Rc8594ca4074341d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991d31f45d4d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46122d64da04dcf" /><Relationship Type="http://schemas.openxmlformats.org/officeDocument/2006/relationships/notesMaster" Target="/ppt/notesMasters/notesMaster1.xml" Id="Ra6a03c9c9fe946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7139ca6a6545d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446679534a945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a23e52a8f145f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a2319f34ff49c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a9be42e97de403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03470971ec4f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642E7F2-1563-4960-8EBB-43A4758F4D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FADC6DF-B979-4F8B-8BF8-5609DDF47D3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8D9B421-F8E3-4A2F-AB28-1BE84E0A342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B66C4D-17E1-48A8-A8D9-C224386839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A2B4A82-1087-4AB4-B855-E6E62DE2A5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E873E88-2854-4FFF-9C61-54E778C8E6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C583757-D86C-4EC7-A9AF-6BEE38B2093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2930221-1BDA-4CC2-BE05-06C178DE774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15710C4-B9CB-4475-AE68-2D3F407877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6D7CF58-15E2-48EA-B8BF-562F33EE7E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f2ef685806c43a2" /><Relationship Type="http://schemas.openxmlformats.org/officeDocument/2006/relationships/slideLayout" Target="/ppt/slideLayouts/slideLayout1.xml" Id="Rd1ab469f1ff84e03" /><Relationship Type="http://schemas.openxmlformats.org/officeDocument/2006/relationships/slideLayout" Target="/ppt/slideLayouts/slideLayout2.xml" Id="R2074b213e19b4ee0" /><Relationship Type="http://schemas.openxmlformats.org/officeDocument/2006/relationships/slideLayout" Target="/ppt/slideLayouts/slideLayout3.xml" Id="R3a0718940192469f" /><Relationship Type="http://schemas.openxmlformats.org/officeDocument/2006/relationships/slideLayout" Target="/ppt/slideLayouts/slideLayout4.xml" Id="Rad265969e2bd4cf2" /><Relationship Type="http://schemas.openxmlformats.org/officeDocument/2006/relationships/slideLayout" Target="/ppt/slideLayouts/slideLayout5.xml" Id="Re4860e832f934a4d" /><Relationship Type="http://schemas.openxmlformats.org/officeDocument/2006/relationships/slideLayout" Target="/ppt/slideLayouts/slideLayout6.xml" Id="R321057faa3a04f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ab469f1ff84e03"/>
    <p:sldLayoutId xmlns:r="http://schemas.openxmlformats.org/officeDocument/2006/relationships" id="2147483650" r:id="R2074b213e19b4ee0"/>
    <p:sldLayoutId xmlns:r="http://schemas.openxmlformats.org/officeDocument/2006/relationships" id="2147483651" r:id="R3a0718940192469f"/>
    <p:sldLayoutId xmlns:r="http://schemas.openxmlformats.org/officeDocument/2006/relationships" id="2147483652" r:id="Rad265969e2bd4cf2"/>
    <p:sldLayoutId xmlns:r="http://schemas.openxmlformats.org/officeDocument/2006/relationships" id="2147483653" r:id="Re4860e832f934a4d"/>
    <p:sldLayoutId xmlns:r="http://schemas.openxmlformats.org/officeDocument/2006/relationships" id="2147483654" r:id="R321057faa3a04f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e1dd646401437f" /><Relationship Type="http://schemas.openxmlformats.org/officeDocument/2006/relationships/notesSlide" Target="/ppt/notesSlides/notesSlide1.xml" Id="R2cab8db2b0eb4a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073893D-5D94-44DE-AC70-839D8EE9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88C5"/>
          </a:solidFill>
          <a:ln xmlns:a="http://schemas.openxmlformats.org/drawingml/2006/main" w="9525">
            <a:solidFill>
              <a:srgbClr val="1388C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7B1B12-A24F-4EEB-A010-D10CD6ED7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76200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</a:defRPr>
            </a:defPPr>
            <a:lvl1pPr>
              <a:defRPr sz="1875" b="1">
                <a:solidFill>
                  <a:srgbClr val="FFFFFF"/>
                </a:solidFill>
              </a:defRPr>
            </a:lvl1pPr>
            <a:lvl2pPr>
              <a:defRPr sz="1875" b="1">
                <a:solidFill>
                  <a:srgbClr val="FFFFFF"/>
                </a:solidFill>
              </a:defRPr>
            </a:lvl2pPr>
            <a:lvl3pPr>
              <a:defRPr sz="1875" b="1">
                <a:solidFill>
                  <a:srgbClr val="FFFFFF"/>
                </a:solidFill>
              </a:defRPr>
            </a:lvl3pPr>
            <a:lvl4pPr>
              <a:defRPr sz="1875" b="1">
                <a:solidFill>
                  <a:srgbClr val="FFFFFF"/>
                </a:solidFill>
              </a:defRPr>
            </a:lvl4pPr>
            <a:lvl5pPr>
              <a:defRPr sz="1875" b="1">
                <a:solidFill>
                  <a:srgbClr val="FFFFFF"/>
                </a:solidFill>
              </a:defRPr>
            </a:lvl5pPr>
            <a:lvl6pPr>
              <a:defRPr sz="1875" b="1">
                <a:solidFill>
                  <a:srgbClr val="FFFFFF"/>
                </a:solidFill>
              </a:defRPr>
            </a:lvl6pPr>
            <a:lvl7pPr>
              <a:defRPr sz="1875" b="1">
                <a:solidFill>
                  <a:srgbClr val="FFFFFF"/>
                </a:solidFill>
              </a:defRPr>
            </a:lvl7pPr>
            <a:lvl8pPr>
              <a:defRPr sz="1875" b="1">
                <a:solidFill>
                  <a:srgbClr val="FFFFFF"/>
                </a:solidFill>
              </a:defRPr>
            </a:lvl8pPr>
            <a:lvl9pPr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BÁO CÁO CÔNG VIỆC: NHẬN DIỆN BỆNH QUA ẢNH LÁ CÀ CHUA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E0E8A4-2FE9-4E25-A025-8287D47B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7334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B83A2E"/>
                </a:solidFill>
              </a:defRPr>
            </a:defPPr>
            <a:lvl1pPr>
              <a:defRPr sz="1650" b="1">
                <a:solidFill>
                  <a:srgbClr val="B83A2E"/>
                </a:solidFill>
              </a:defRPr>
            </a:lvl1pPr>
            <a:lvl2pPr>
              <a:defRPr sz="1650" b="1">
                <a:solidFill>
                  <a:srgbClr val="B83A2E"/>
                </a:solidFill>
              </a:defRPr>
            </a:lvl2pPr>
            <a:lvl3pPr>
              <a:defRPr sz="1650" b="1">
                <a:solidFill>
                  <a:srgbClr val="B83A2E"/>
                </a:solidFill>
              </a:defRPr>
            </a:lvl3pPr>
            <a:lvl4pPr>
              <a:defRPr sz="1650" b="1">
                <a:solidFill>
                  <a:srgbClr val="B83A2E"/>
                </a:solidFill>
              </a:defRPr>
            </a:lvl4pPr>
            <a:lvl5pPr>
              <a:defRPr sz="1650" b="1">
                <a:solidFill>
                  <a:srgbClr val="B83A2E"/>
                </a:solidFill>
              </a:defRPr>
            </a:lvl5pPr>
            <a:lvl6pPr>
              <a:defRPr sz="1650" b="1">
                <a:solidFill>
                  <a:srgbClr val="B83A2E"/>
                </a:solidFill>
              </a:defRPr>
            </a:lvl6pPr>
            <a:lvl7pPr>
              <a:defRPr sz="1650" b="1">
                <a:solidFill>
                  <a:srgbClr val="B83A2E"/>
                </a:solidFill>
              </a:defRPr>
            </a:lvl7pPr>
            <a:lvl8pPr>
              <a:defRPr sz="1650" b="1">
                <a:solidFill>
                  <a:srgbClr val="B83A2E"/>
                </a:solidFill>
              </a:defRPr>
            </a:lvl8pPr>
            <a:lvl9pPr>
              <a:defRPr sz="1650" b="1">
                <a:solidFill>
                  <a:srgbClr val="B83A2E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B83A2E"/>
                </a:solidFill>
              </a:defRPr>
            </a:pPr>
            <a:r>
              <a:rPr sz="1650" b="1">
                <a:solidFill>
                  <a:srgbClr val="B83A2E"/>
                </a:solidFill>
              </a:rPr>
              <a:t>Sinh viên: Nguyễn Minh Duy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A84910-F915-4F6A-A665-8C04ADAB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762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4A5568"/>
                </a:solidFill>
              </a:defRPr>
            </a:defPPr>
            <a:lvl1pPr>
              <a:defRPr sz="1200" b="0">
                <a:solidFill>
                  <a:srgbClr val="4A5568"/>
                </a:solidFill>
              </a:defRPr>
            </a:lvl1pPr>
            <a:lvl2pPr>
              <a:defRPr sz="1200" b="0">
                <a:solidFill>
                  <a:srgbClr val="4A5568"/>
                </a:solidFill>
              </a:defRPr>
            </a:lvl2pPr>
            <a:lvl3pPr>
              <a:defRPr sz="1200" b="0">
                <a:solidFill>
                  <a:srgbClr val="4A5568"/>
                </a:solidFill>
              </a:defRPr>
            </a:lvl3pPr>
            <a:lvl4pPr>
              <a:defRPr sz="1200" b="0">
                <a:solidFill>
                  <a:srgbClr val="4A5568"/>
                </a:solidFill>
              </a:defRPr>
            </a:lvl4pPr>
            <a:lvl5pPr>
              <a:defRPr sz="1200" b="0">
                <a:solidFill>
                  <a:srgbClr val="4A5568"/>
                </a:solidFill>
              </a:defRPr>
            </a:lvl5pPr>
            <a:lvl6pPr>
              <a:defRPr sz="1200" b="0">
                <a:solidFill>
                  <a:srgbClr val="4A5568"/>
                </a:solidFill>
              </a:defRPr>
            </a:lvl6pPr>
            <a:lvl7pPr>
              <a:defRPr sz="1200" b="0">
                <a:solidFill>
                  <a:srgbClr val="4A5568"/>
                </a:solidFill>
              </a:defRPr>
            </a:lvl7pPr>
            <a:lvl8pPr>
              <a:defRPr sz="1200" b="0">
                <a:solidFill>
                  <a:srgbClr val="4A5568"/>
                </a:solidFill>
              </a:defRPr>
            </a:lvl8pPr>
            <a:lvl9pPr>
              <a:defRPr sz="1200" b="0">
                <a:solidFill>
                  <a:srgbClr val="4A5568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4A5568"/>
                </a:solidFill>
              </a:defRPr>
            </a:pPr>
            <a:r>
              <a:rPr sz="1200" b="0">
                <a:solidFill>
                  <a:srgbClr val="4A5568"/>
                </a:solidFill>
              </a:rPr>
              <a:t>Nhiệm vụ NV4 – Demo Streamlit và tích hợp mô hình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CF2E2C-31B5-4F9E-BFA8-6D1AA2ED9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885825"/>
            <a:ext cx="2762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2F66B3"/>
                </a:solidFill>
              </a:defRPr>
            </a:defPPr>
            <a:lvl1pPr>
              <a:defRPr sz="1125" b="1">
                <a:solidFill>
                  <a:srgbClr val="2F66B3"/>
                </a:solidFill>
              </a:defRPr>
            </a:lvl1pPr>
            <a:lvl2pPr>
              <a:defRPr sz="1125" b="1">
                <a:solidFill>
                  <a:srgbClr val="2F66B3"/>
                </a:solidFill>
              </a:defRPr>
            </a:lvl2pPr>
            <a:lvl3pPr>
              <a:defRPr sz="1125" b="1">
                <a:solidFill>
                  <a:srgbClr val="2F66B3"/>
                </a:solidFill>
              </a:defRPr>
            </a:lvl3pPr>
            <a:lvl4pPr>
              <a:defRPr sz="1125" b="1">
                <a:solidFill>
                  <a:srgbClr val="2F66B3"/>
                </a:solidFill>
              </a:defRPr>
            </a:lvl4pPr>
            <a:lvl5pPr>
              <a:defRPr sz="1125" b="1">
                <a:solidFill>
                  <a:srgbClr val="2F66B3"/>
                </a:solidFill>
              </a:defRPr>
            </a:lvl5pPr>
            <a:lvl6pPr>
              <a:defRPr sz="1125" b="1">
                <a:solidFill>
                  <a:srgbClr val="2F66B3"/>
                </a:solidFill>
              </a:defRPr>
            </a:lvl6pPr>
            <a:lvl7pPr>
              <a:defRPr sz="1125" b="1">
                <a:solidFill>
                  <a:srgbClr val="2F66B3"/>
                </a:solidFill>
              </a:defRPr>
            </a:lvl7pPr>
            <a:lvl8pPr>
              <a:defRPr sz="1125" b="1">
                <a:solidFill>
                  <a:srgbClr val="2F66B3"/>
                </a:solidFill>
              </a:defRPr>
            </a:lvl8pPr>
            <a:lvl9pPr>
              <a:defRPr sz="1125" b="1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2F66B3"/>
                </a:solidFill>
              </a:defRPr>
            </a:pPr>
            <a:r>
              <a:rPr sz="1125" b="1">
                <a:solidFill>
                  <a:srgbClr val="2F66B3"/>
                </a:solidFill>
              </a:rPr>
              <a:t>Nhóm 4 · Học máy và Khai phá dữ liệu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0796FF-4FD6-4DA8-B855-EB9F3A7DA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240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B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73D73-33C5-49D9-8787-CDF702DF7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581150"/>
            <a:ext cx="457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STT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7DBFE9-57E3-4E79-BE3D-F85FD5E1D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"/>
            <a:ext cx="240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B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F0B3D5-6C32-4C66-A229-1B536C23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581150"/>
            <a:ext cx="2305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NỘI DUNG CÔNG VIỆC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2792BE-AEC5-4D29-A121-CEBD730F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5240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B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93598C-DBD6-4A9F-80E9-BF84A606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1581150"/>
            <a:ext cx="5048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KẾT QUẢ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866C33-0079-42F3-90EE-337B6B9AA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52400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B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804FFD-5A49-4AEE-9E7E-0C161019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5811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TỰ ĐÁNH GIÁ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91CD62-9F14-4FAB-BED4-90F744F4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15240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6B3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F5E995-3EBC-4E49-8988-4DA7B676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1581150"/>
            <a:ext cx="171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125" b="1">
                <a:solidFill>
                  <a:srgbClr val="FFFFFF"/>
                </a:solidFill>
              </a:defRPr>
            </a:defPPr>
            <a:lvl1pPr>
              <a:defRPr sz="1125" b="1">
                <a:solidFill>
                  <a:srgbClr val="FFFFFF"/>
                </a:solidFill>
              </a:defRPr>
            </a:lvl1pPr>
            <a:lvl2pPr>
              <a:defRPr sz="1125" b="1">
                <a:solidFill>
                  <a:srgbClr val="FFFFFF"/>
                </a:solidFill>
              </a:defRPr>
            </a:lvl2pPr>
            <a:lvl3pPr>
              <a:defRPr sz="1125" b="1">
                <a:solidFill>
                  <a:srgbClr val="FFFFFF"/>
                </a:solidFill>
              </a:defRPr>
            </a:lvl3pPr>
            <a:lvl4pPr>
              <a:defRPr sz="1125" b="1">
                <a:solidFill>
                  <a:srgbClr val="FFFFFF"/>
                </a:solidFill>
              </a:defRPr>
            </a:lvl4pPr>
            <a:lvl5pPr>
              <a:defRPr sz="1125" b="1">
                <a:solidFill>
                  <a:srgbClr val="FFFFFF"/>
                </a:solidFill>
              </a:defRPr>
            </a:lvl5pPr>
            <a:lvl6pPr>
              <a:defRPr sz="1125" b="1">
                <a:solidFill>
                  <a:srgbClr val="FFFFFF"/>
                </a:solidFill>
              </a:defRPr>
            </a:lvl6pPr>
            <a:lvl7pPr>
              <a:defRPr sz="1125" b="1">
                <a:solidFill>
                  <a:srgbClr val="FFFFFF"/>
                </a:solidFill>
              </a:defRPr>
            </a:lvl7pPr>
            <a:lvl8pPr>
              <a:defRPr sz="1125" b="1">
                <a:solidFill>
                  <a:srgbClr val="FFFFFF"/>
                </a:solidFill>
              </a:defRPr>
            </a:lvl8pPr>
            <a:lvl9pPr>
              <a:defRPr sz="112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TRƯỞNG NHÓM</a:t>
            </a:r>
          </a:p>
          <a:p xmlns:a="http://schemas.openxmlformats.org/drawingml/2006/main">
            <a:pPr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ĐÁNH GIÁ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1149C9-38A4-4DEC-806A-21733AEB2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764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588E35-FF31-47F8-9B35-57877B58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12407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F66B3"/>
                </a:solidFill>
              </a:defRPr>
            </a:pPr>
            <a:r>
              <a:rPr sz="1050" b="0">
                <a:solidFill>
                  <a:srgbClr val="2F66B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76AC58-6371-43FD-9C6E-707D24204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76450"/>
            <a:ext cx="240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AFE8B8-050A-4623-ADD0-3160FB1A5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12407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88" b="1">
                <a:solidFill>
                  <a:srgbClr val="2F66B3"/>
                </a:solidFill>
              </a:defRPr>
            </a:defPPr>
            <a:lvl1pPr>
              <a:defRPr sz="1088" b="1">
                <a:solidFill>
                  <a:srgbClr val="2F66B3"/>
                </a:solidFill>
              </a:defRPr>
            </a:lvl1pPr>
            <a:lvl2pPr>
              <a:defRPr sz="1088" b="1">
                <a:solidFill>
                  <a:srgbClr val="2F66B3"/>
                </a:solidFill>
              </a:defRPr>
            </a:lvl2pPr>
            <a:lvl3pPr>
              <a:defRPr sz="1088" b="1">
                <a:solidFill>
                  <a:srgbClr val="2F66B3"/>
                </a:solidFill>
              </a:defRPr>
            </a:lvl3pPr>
            <a:lvl4pPr>
              <a:defRPr sz="1088" b="1">
                <a:solidFill>
                  <a:srgbClr val="2F66B3"/>
                </a:solidFill>
              </a:defRPr>
            </a:lvl4pPr>
            <a:lvl5pPr>
              <a:defRPr sz="1088" b="1">
                <a:solidFill>
                  <a:srgbClr val="2F66B3"/>
                </a:solidFill>
              </a:defRPr>
            </a:lvl5pPr>
            <a:lvl6pPr>
              <a:defRPr sz="1088" b="1">
                <a:solidFill>
                  <a:srgbClr val="2F66B3"/>
                </a:solidFill>
              </a:defRPr>
            </a:lvl6pPr>
            <a:lvl7pPr>
              <a:defRPr sz="1088" b="1">
                <a:solidFill>
                  <a:srgbClr val="2F66B3"/>
                </a:solidFill>
              </a:defRPr>
            </a:lvl7pPr>
            <a:lvl8pPr>
              <a:defRPr sz="1088" b="1">
                <a:solidFill>
                  <a:srgbClr val="2F66B3"/>
                </a:solidFill>
              </a:defRPr>
            </a:lvl8pPr>
            <a:lvl9pPr>
              <a:defRPr sz="1088" b="1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88" b="1">
                <a:solidFill>
                  <a:srgbClr val="2F66B3"/>
                </a:solidFill>
              </a:defRPr>
            </a:pPr>
            <a:r>
              <a:rPr sz="1088" b="1">
                <a:solidFill>
                  <a:srgbClr val="2F66B3"/>
                </a:solidFill>
              </a:rPr>
              <a:t>Thiết kế giao diện Streamlit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9CD5AC-8D90-4629-86FC-254ADA5C1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07645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2F1BFE-B413-4A13-83D1-EAF20494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124075"/>
            <a:ext cx="501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13" b="0">
                <a:solidFill>
                  <a:srgbClr val="2F66B3"/>
                </a:solidFill>
              </a:defRPr>
            </a:defPPr>
            <a:lvl1pPr>
              <a:defRPr sz="1013" b="0">
                <a:solidFill>
                  <a:srgbClr val="2F66B3"/>
                </a:solidFill>
              </a:defRPr>
            </a:lvl1pPr>
            <a:lvl2pPr>
              <a:defRPr sz="1013" b="0">
                <a:solidFill>
                  <a:srgbClr val="2F66B3"/>
                </a:solidFill>
              </a:defRPr>
            </a:lvl2pPr>
            <a:lvl3pPr>
              <a:defRPr sz="1013" b="0">
                <a:solidFill>
                  <a:srgbClr val="2F66B3"/>
                </a:solidFill>
              </a:defRPr>
            </a:lvl3pPr>
            <a:lvl4pPr>
              <a:defRPr sz="1013" b="0">
                <a:solidFill>
                  <a:srgbClr val="2F66B3"/>
                </a:solidFill>
              </a:defRPr>
            </a:lvl4pPr>
            <a:lvl5pPr>
              <a:defRPr sz="1013" b="0">
                <a:solidFill>
                  <a:srgbClr val="2F66B3"/>
                </a:solidFill>
              </a:defRPr>
            </a:lvl5pPr>
            <a:lvl6pPr>
              <a:defRPr sz="1013" b="0">
                <a:solidFill>
                  <a:srgbClr val="2F66B3"/>
                </a:solidFill>
              </a:defRPr>
            </a:lvl6pPr>
            <a:lvl7pPr>
              <a:defRPr sz="1013" b="0">
                <a:solidFill>
                  <a:srgbClr val="2F66B3"/>
                </a:solidFill>
              </a:defRPr>
            </a:lvl7pPr>
            <a:lvl8pPr>
              <a:defRPr sz="1013" b="0">
                <a:solidFill>
                  <a:srgbClr val="2F66B3"/>
                </a:solidFill>
              </a:defRPr>
            </a:lvl8pPr>
            <a:lvl9pPr>
              <a:defRPr sz="1013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13" b="0">
                <a:solidFill>
                  <a:srgbClr val="2F66B3"/>
                </a:solidFill>
              </a:defRPr>
            </a:pPr>
            <a:r>
              <a:rPr sz="1013" b="0">
                <a:solidFill>
                  <a:srgbClr val="2F66B3"/>
                </a:solidFill>
              </a:rPr>
              <a:t>Hoàn thiện app upload ảnh JPG/PNG, xem trước ảnh, chọn CNN, ResNet18 hoặc so sánh cả hai.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ADEF18-2578-42AE-8205-D2E9F4EDF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764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6F7DDD-37A4-4DAB-9D91-42A98D56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124075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F66B3"/>
                </a:solidFill>
              </a:defRPr>
            </a:pPr>
            <a:r>
              <a:rPr sz="1050" b="0">
                <a:solidFill>
                  <a:srgbClr val="2F66B3"/>
                </a:solidFill>
              </a:rPr>
              <a:t>100%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BD0C54-8599-442E-9DE8-6FC78F3C1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764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9FEF0C-DEEC-4941-985E-4D456FB0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124075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B19E28-1EC9-4E34-BD28-39C362AC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289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013E8D6-DF60-4112-8043-418277F5F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267652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F66B3"/>
                </a:solidFill>
              </a:defRPr>
            </a:pPr>
            <a:r>
              <a:rPr sz="1050" b="0">
                <a:solidFill>
                  <a:srgbClr val="2F66B3"/>
                </a:solidFill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6DB039-6520-4097-BCFE-95DDCA51A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28900"/>
            <a:ext cx="240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DE013D-659A-4206-95BC-F2E03AD09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67652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88" b="1">
                <a:solidFill>
                  <a:srgbClr val="2F66B3"/>
                </a:solidFill>
              </a:defRPr>
            </a:defPPr>
            <a:lvl1pPr>
              <a:defRPr sz="1088" b="1">
                <a:solidFill>
                  <a:srgbClr val="2F66B3"/>
                </a:solidFill>
              </a:defRPr>
            </a:lvl1pPr>
            <a:lvl2pPr>
              <a:defRPr sz="1088" b="1">
                <a:solidFill>
                  <a:srgbClr val="2F66B3"/>
                </a:solidFill>
              </a:defRPr>
            </a:lvl2pPr>
            <a:lvl3pPr>
              <a:defRPr sz="1088" b="1">
                <a:solidFill>
                  <a:srgbClr val="2F66B3"/>
                </a:solidFill>
              </a:defRPr>
            </a:lvl3pPr>
            <a:lvl4pPr>
              <a:defRPr sz="1088" b="1">
                <a:solidFill>
                  <a:srgbClr val="2F66B3"/>
                </a:solidFill>
              </a:defRPr>
            </a:lvl4pPr>
            <a:lvl5pPr>
              <a:defRPr sz="1088" b="1">
                <a:solidFill>
                  <a:srgbClr val="2F66B3"/>
                </a:solidFill>
              </a:defRPr>
            </a:lvl5pPr>
            <a:lvl6pPr>
              <a:defRPr sz="1088" b="1">
                <a:solidFill>
                  <a:srgbClr val="2F66B3"/>
                </a:solidFill>
              </a:defRPr>
            </a:lvl6pPr>
            <a:lvl7pPr>
              <a:defRPr sz="1088" b="1">
                <a:solidFill>
                  <a:srgbClr val="2F66B3"/>
                </a:solidFill>
              </a:defRPr>
            </a:lvl7pPr>
            <a:lvl8pPr>
              <a:defRPr sz="1088" b="1">
                <a:solidFill>
                  <a:srgbClr val="2F66B3"/>
                </a:solidFill>
              </a:defRPr>
            </a:lvl8pPr>
            <a:lvl9pPr>
              <a:defRPr sz="1088" b="1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88" b="1">
                <a:solidFill>
                  <a:srgbClr val="2F66B3"/>
                </a:solidFill>
              </a:defRPr>
            </a:pPr>
            <a:r>
              <a:rPr sz="1088" b="1">
                <a:solidFill>
                  <a:srgbClr val="2F66B3"/>
                </a:solidFill>
              </a:rPr>
              <a:t>Xây API suy luận dùng chung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2CCF6A-3D97-455E-8D15-09AA9D6E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289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7DE409-8736-489A-A801-E879E45B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676525"/>
            <a:ext cx="501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13" b="0">
                <a:solidFill>
                  <a:srgbClr val="2F66B3"/>
                </a:solidFill>
              </a:defRPr>
            </a:defPPr>
            <a:lvl1pPr>
              <a:defRPr sz="1013" b="0">
                <a:solidFill>
                  <a:srgbClr val="2F66B3"/>
                </a:solidFill>
              </a:defRPr>
            </a:lvl1pPr>
            <a:lvl2pPr>
              <a:defRPr sz="1013" b="0">
                <a:solidFill>
                  <a:srgbClr val="2F66B3"/>
                </a:solidFill>
              </a:defRPr>
            </a:lvl2pPr>
            <a:lvl3pPr>
              <a:defRPr sz="1013" b="0">
                <a:solidFill>
                  <a:srgbClr val="2F66B3"/>
                </a:solidFill>
              </a:defRPr>
            </a:lvl3pPr>
            <a:lvl4pPr>
              <a:defRPr sz="1013" b="0">
                <a:solidFill>
                  <a:srgbClr val="2F66B3"/>
                </a:solidFill>
              </a:defRPr>
            </a:lvl4pPr>
            <a:lvl5pPr>
              <a:defRPr sz="1013" b="0">
                <a:solidFill>
                  <a:srgbClr val="2F66B3"/>
                </a:solidFill>
              </a:defRPr>
            </a:lvl5pPr>
            <a:lvl6pPr>
              <a:defRPr sz="1013" b="0">
                <a:solidFill>
                  <a:srgbClr val="2F66B3"/>
                </a:solidFill>
              </a:defRPr>
            </a:lvl6pPr>
            <a:lvl7pPr>
              <a:defRPr sz="1013" b="0">
                <a:solidFill>
                  <a:srgbClr val="2F66B3"/>
                </a:solidFill>
              </a:defRPr>
            </a:lvl7pPr>
            <a:lvl8pPr>
              <a:defRPr sz="1013" b="0">
                <a:solidFill>
                  <a:srgbClr val="2F66B3"/>
                </a:solidFill>
              </a:defRPr>
            </a:lvl8pPr>
            <a:lvl9pPr>
              <a:defRPr sz="1013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13" b="0">
                <a:solidFill>
                  <a:srgbClr val="2F66B3"/>
                </a:solidFill>
              </a:defRPr>
            </a:pPr>
            <a:r>
              <a:rPr sz="1013" b="0">
                <a:solidFill>
                  <a:srgbClr val="2F66B3"/>
                </a:solidFill>
              </a:rPr>
              <a:t>Hoàn thiện `src/inference.py`: đọc mapping, config, preprocessing, load model và trả top-1 cùng xác suất 4 lớp.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C0D9D9C-DB2F-4C69-8BE0-B05BFBC3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2890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80BABA1-8D11-478F-8BBA-A6CC7F154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676525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F66B3"/>
                </a:solidFill>
              </a:defRPr>
            </a:pPr>
            <a:r>
              <a:rPr sz="1050" b="0">
                <a:solidFill>
                  <a:srgbClr val="2F66B3"/>
                </a:solidFill>
              </a:rPr>
              <a:t>100%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2A8850-C56D-4A32-815C-C2903B9E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289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7F8075-9F40-4E9C-9D07-BAAB6F338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2676525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2B42C1E-E408-4583-96DA-C54595F3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3A252E-AEC8-45A0-96B1-6C505DB6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22897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F66B3"/>
                </a:solidFill>
              </a:defRPr>
            </a:pPr>
            <a:r>
              <a:rPr sz="1050" b="0">
                <a:solidFill>
                  <a:srgbClr val="2F66B3"/>
                </a:solidFill>
              </a:rPr>
              <a:t>3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C53E97D-5BED-4794-9019-8DE5B339C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81350"/>
            <a:ext cx="240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B7FBBA-5999-4FB0-BB0D-7F34587E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22897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88" b="1">
                <a:solidFill>
                  <a:srgbClr val="2F66B3"/>
                </a:solidFill>
              </a:defRPr>
            </a:defPPr>
            <a:lvl1pPr>
              <a:defRPr sz="1088" b="1">
                <a:solidFill>
                  <a:srgbClr val="2F66B3"/>
                </a:solidFill>
              </a:defRPr>
            </a:lvl1pPr>
            <a:lvl2pPr>
              <a:defRPr sz="1088" b="1">
                <a:solidFill>
                  <a:srgbClr val="2F66B3"/>
                </a:solidFill>
              </a:defRPr>
            </a:lvl2pPr>
            <a:lvl3pPr>
              <a:defRPr sz="1088" b="1">
                <a:solidFill>
                  <a:srgbClr val="2F66B3"/>
                </a:solidFill>
              </a:defRPr>
            </a:lvl3pPr>
            <a:lvl4pPr>
              <a:defRPr sz="1088" b="1">
                <a:solidFill>
                  <a:srgbClr val="2F66B3"/>
                </a:solidFill>
              </a:defRPr>
            </a:lvl4pPr>
            <a:lvl5pPr>
              <a:defRPr sz="1088" b="1">
                <a:solidFill>
                  <a:srgbClr val="2F66B3"/>
                </a:solidFill>
              </a:defRPr>
            </a:lvl5pPr>
            <a:lvl6pPr>
              <a:defRPr sz="1088" b="1">
                <a:solidFill>
                  <a:srgbClr val="2F66B3"/>
                </a:solidFill>
              </a:defRPr>
            </a:lvl6pPr>
            <a:lvl7pPr>
              <a:defRPr sz="1088" b="1">
                <a:solidFill>
                  <a:srgbClr val="2F66B3"/>
                </a:solidFill>
              </a:defRPr>
            </a:lvl7pPr>
            <a:lvl8pPr>
              <a:defRPr sz="1088" b="1">
                <a:solidFill>
                  <a:srgbClr val="2F66B3"/>
                </a:solidFill>
              </a:defRPr>
            </a:lvl8pPr>
            <a:lvl9pPr>
              <a:defRPr sz="1088" b="1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88" b="1">
                <a:solidFill>
                  <a:srgbClr val="2F66B3"/>
                </a:solidFill>
              </a:defRPr>
            </a:pPr>
            <a:r>
              <a:rPr sz="1088" b="1">
                <a:solidFill>
                  <a:srgbClr val="2F66B3"/>
                </a:solidFill>
              </a:rPr>
              <a:t>Tích hợp xử lý lỗi và giới hạn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8EE620B-4E9C-4EF1-9F9A-6E2A814A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18135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AE1209-1009-465F-AC2A-4C6BC1B0A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228975"/>
            <a:ext cx="501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13" b="0">
                <a:solidFill>
                  <a:srgbClr val="2F66B3"/>
                </a:solidFill>
              </a:defRPr>
            </a:defPPr>
            <a:lvl1pPr>
              <a:defRPr sz="1013" b="0">
                <a:solidFill>
                  <a:srgbClr val="2F66B3"/>
                </a:solidFill>
              </a:defRPr>
            </a:lvl1pPr>
            <a:lvl2pPr>
              <a:defRPr sz="1013" b="0">
                <a:solidFill>
                  <a:srgbClr val="2F66B3"/>
                </a:solidFill>
              </a:defRPr>
            </a:lvl2pPr>
            <a:lvl3pPr>
              <a:defRPr sz="1013" b="0">
                <a:solidFill>
                  <a:srgbClr val="2F66B3"/>
                </a:solidFill>
              </a:defRPr>
            </a:lvl3pPr>
            <a:lvl4pPr>
              <a:defRPr sz="1013" b="0">
                <a:solidFill>
                  <a:srgbClr val="2F66B3"/>
                </a:solidFill>
              </a:defRPr>
            </a:lvl4pPr>
            <a:lvl5pPr>
              <a:defRPr sz="1013" b="0">
                <a:solidFill>
                  <a:srgbClr val="2F66B3"/>
                </a:solidFill>
              </a:defRPr>
            </a:lvl5pPr>
            <a:lvl6pPr>
              <a:defRPr sz="1013" b="0">
                <a:solidFill>
                  <a:srgbClr val="2F66B3"/>
                </a:solidFill>
              </a:defRPr>
            </a:lvl6pPr>
            <a:lvl7pPr>
              <a:defRPr sz="1013" b="0">
                <a:solidFill>
                  <a:srgbClr val="2F66B3"/>
                </a:solidFill>
              </a:defRPr>
            </a:lvl7pPr>
            <a:lvl8pPr>
              <a:defRPr sz="1013" b="0">
                <a:solidFill>
                  <a:srgbClr val="2F66B3"/>
                </a:solidFill>
              </a:defRPr>
            </a:lvl8pPr>
            <a:lvl9pPr>
              <a:defRPr sz="1013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13" b="0">
                <a:solidFill>
                  <a:srgbClr val="2F66B3"/>
                </a:solidFill>
              </a:defRPr>
            </a:pPr>
            <a:r>
              <a:rPr sz="1013" b="0">
                <a:solidFill>
                  <a:srgbClr val="2F66B3"/>
                </a:solidFill>
              </a:rPr>
              <a:t>Kiểm tra ảnh hỏng, định dạng sai, file trên 10 MiB, thiếu checkpoint, CUDA và hiển thị cảnh báo không thay thế chuyên gia.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DDF5B6-27D5-4865-8A90-37A7C360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813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AE9950-62BA-41A4-B4B6-B3F9BA87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228975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F66B3"/>
                </a:solidFill>
              </a:defRPr>
            </a:pPr>
            <a:r>
              <a:rPr sz="1050" b="0">
                <a:solidFill>
                  <a:srgbClr val="2F66B3"/>
                </a:solidFill>
              </a:rPr>
              <a:t>100%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420D006-1152-4680-9688-9FBFB0F1B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813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BA4FA2E-0EA9-4C9C-AEE8-F3B37A41C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228975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7E9D5C-9507-47D6-80DD-18954DED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338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7E0104D-A817-4AB0-88C5-B5E8641C0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378142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F66B3"/>
                </a:solidFill>
              </a:defRPr>
            </a:pPr>
            <a:r>
              <a:rPr sz="1050" b="0">
                <a:solidFill>
                  <a:srgbClr val="2F66B3"/>
                </a:solidFill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B3AB95-755B-4802-82FA-483D09A2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33800"/>
            <a:ext cx="240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8EBDDE4-C767-4CB1-8FC6-CE2B03AA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378142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88" b="1">
                <a:solidFill>
                  <a:srgbClr val="2F66B3"/>
                </a:solidFill>
              </a:defRPr>
            </a:defPPr>
            <a:lvl1pPr>
              <a:defRPr sz="1088" b="1">
                <a:solidFill>
                  <a:srgbClr val="2F66B3"/>
                </a:solidFill>
              </a:defRPr>
            </a:lvl1pPr>
            <a:lvl2pPr>
              <a:defRPr sz="1088" b="1">
                <a:solidFill>
                  <a:srgbClr val="2F66B3"/>
                </a:solidFill>
              </a:defRPr>
            </a:lvl2pPr>
            <a:lvl3pPr>
              <a:defRPr sz="1088" b="1">
                <a:solidFill>
                  <a:srgbClr val="2F66B3"/>
                </a:solidFill>
              </a:defRPr>
            </a:lvl3pPr>
            <a:lvl4pPr>
              <a:defRPr sz="1088" b="1">
                <a:solidFill>
                  <a:srgbClr val="2F66B3"/>
                </a:solidFill>
              </a:defRPr>
            </a:lvl4pPr>
            <a:lvl5pPr>
              <a:defRPr sz="1088" b="1">
                <a:solidFill>
                  <a:srgbClr val="2F66B3"/>
                </a:solidFill>
              </a:defRPr>
            </a:lvl5pPr>
            <a:lvl6pPr>
              <a:defRPr sz="1088" b="1">
                <a:solidFill>
                  <a:srgbClr val="2F66B3"/>
                </a:solidFill>
              </a:defRPr>
            </a:lvl6pPr>
            <a:lvl7pPr>
              <a:defRPr sz="1088" b="1">
                <a:solidFill>
                  <a:srgbClr val="2F66B3"/>
                </a:solidFill>
              </a:defRPr>
            </a:lvl7pPr>
            <a:lvl8pPr>
              <a:defRPr sz="1088" b="1">
                <a:solidFill>
                  <a:srgbClr val="2F66B3"/>
                </a:solidFill>
              </a:defRPr>
            </a:lvl8pPr>
            <a:lvl9pPr>
              <a:defRPr sz="1088" b="1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88" b="1">
                <a:solidFill>
                  <a:srgbClr val="2F66B3"/>
                </a:solidFill>
              </a:defRPr>
            </a:pPr>
            <a:r>
              <a:rPr sz="1088" b="1">
                <a:solidFill>
                  <a:srgbClr val="2F66B3"/>
                </a:solidFill>
              </a:rPr>
              <a:t>Đo thời gian và cache model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2B2ED42-49FE-4192-8E9C-0AA3358D1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338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4C86D15-A728-4DA7-85A6-F23C3C37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3781425"/>
            <a:ext cx="501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13" b="0">
                <a:solidFill>
                  <a:srgbClr val="2F66B3"/>
                </a:solidFill>
              </a:defRPr>
            </a:defPPr>
            <a:lvl1pPr>
              <a:defRPr sz="1013" b="0">
                <a:solidFill>
                  <a:srgbClr val="2F66B3"/>
                </a:solidFill>
              </a:defRPr>
            </a:lvl1pPr>
            <a:lvl2pPr>
              <a:defRPr sz="1013" b="0">
                <a:solidFill>
                  <a:srgbClr val="2F66B3"/>
                </a:solidFill>
              </a:defRPr>
            </a:lvl2pPr>
            <a:lvl3pPr>
              <a:defRPr sz="1013" b="0">
                <a:solidFill>
                  <a:srgbClr val="2F66B3"/>
                </a:solidFill>
              </a:defRPr>
            </a:lvl3pPr>
            <a:lvl4pPr>
              <a:defRPr sz="1013" b="0">
                <a:solidFill>
                  <a:srgbClr val="2F66B3"/>
                </a:solidFill>
              </a:defRPr>
            </a:lvl4pPr>
            <a:lvl5pPr>
              <a:defRPr sz="1013" b="0">
                <a:solidFill>
                  <a:srgbClr val="2F66B3"/>
                </a:solidFill>
              </a:defRPr>
            </a:lvl5pPr>
            <a:lvl6pPr>
              <a:defRPr sz="1013" b="0">
                <a:solidFill>
                  <a:srgbClr val="2F66B3"/>
                </a:solidFill>
              </a:defRPr>
            </a:lvl6pPr>
            <a:lvl7pPr>
              <a:defRPr sz="1013" b="0">
                <a:solidFill>
                  <a:srgbClr val="2F66B3"/>
                </a:solidFill>
              </a:defRPr>
            </a:lvl7pPr>
            <a:lvl8pPr>
              <a:defRPr sz="1013" b="0">
                <a:solidFill>
                  <a:srgbClr val="2F66B3"/>
                </a:solidFill>
              </a:defRPr>
            </a:lvl8pPr>
            <a:lvl9pPr>
              <a:defRPr sz="1013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13" b="0">
                <a:solidFill>
                  <a:srgbClr val="2F66B3"/>
                </a:solidFill>
              </a:defRPr>
            </a:pPr>
            <a:r>
              <a:rPr sz="1013" b="0">
                <a:solidFill>
                  <a:srgbClr val="2F66B3"/>
                </a:solidFill>
              </a:rPr>
              <a:t>Đo forward pass riêng, đồng bộ CUDA khi cần và cache model; không tính thời gian tải model/đọc ảnh vào số đo.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5C10914-3830-4C4C-9225-69A32086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3380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4C1771A-5D3E-4C30-8BA0-855A256A7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781425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F66B3"/>
                </a:solidFill>
              </a:defRPr>
            </a:pPr>
            <a:r>
              <a:rPr sz="1050" b="0">
                <a:solidFill>
                  <a:srgbClr val="2F66B3"/>
                </a:solidFill>
              </a:rPr>
              <a:t>100%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6E5BD63-62B1-40CD-874E-4596E722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7338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63C17A3-B97E-4107-A257-B282B4100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3781425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478066A-2B38-44F2-92D3-63B32121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862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79CD3FE-9192-420B-9BED-D03E15F6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33387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F66B3"/>
                </a:solidFill>
              </a:defRPr>
            </a:pPr>
            <a:r>
              <a:rPr sz="1050" b="0">
                <a:solidFill>
                  <a:srgbClr val="2F66B3"/>
                </a:solidFill>
              </a:rPr>
              <a:t>5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5D608E3-A836-4C10-AB36-85846A186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86250"/>
            <a:ext cx="240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AB62E03-BC75-4BBF-915A-80AA2B323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33387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88" b="1">
                <a:solidFill>
                  <a:srgbClr val="2F66B3"/>
                </a:solidFill>
              </a:defRPr>
            </a:defPPr>
            <a:lvl1pPr>
              <a:defRPr sz="1088" b="1">
                <a:solidFill>
                  <a:srgbClr val="2F66B3"/>
                </a:solidFill>
              </a:defRPr>
            </a:lvl1pPr>
            <a:lvl2pPr>
              <a:defRPr sz="1088" b="1">
                <a:solidFill>
                  <a:srgbClr val="2F66B3"/>
                </a:solidFill>
              </a:defRPr>
            </a:lvl2pPr>
            <a:lvl3pPr>
              <a:defRPr sz="1088" b="1">
                <a:solidFill>
                  <a:srgbClr val="2F66B3"/>
                </a:solidFill>
              </a:defRPr>
            </a:lvl3pPr>
            <a:lvl4pPr>
              <a:defRPr sz="1088" b="1">
                <a:solidFill>
                  <a:srgbClr val="2F66B3"/>
                </a:solidFill>
              </a:defRPr>
            </a:lvl4pPr>
            <a:lvl5pPr>
              <a:defRPr sz="1088" b="1">
                <a:solidFill>
                  <a:srgbClr val="2F66B3"/>
                </a:solidFill>
              </a:defRPr>
            </a:lvl5pPr>
            <a:lvl6pPr>
              <a:defRPr sz="1088" b="1">
                <a:solidFill>
                  <a:srgbClr val="2F66B3"/>
                </a:solidFill>
              </a:defRPr>
            </a:lvl6pPr>
            <a:lvl7pPr>
              <a:defRPr sz="1088" b="1">
                <a:solidFill>
                  <a:srgbClr val="2F66B3"/>
                </a:solidFill>
              </a:defRPr>
            </a:lvl7pPr>
            <a:lvl8pPr>
              <a:defRPr sz="1088" b="1">
                <a:solidFill>
                  <a:srgbClr val="2F66B3"/>
                </a:solidFill>
              </a:defRPr>
            </a:lvl8pPr>
            <a:lvl9pPr>
              <a:defRPr sz="1088" b="1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88" b="1">
                <a:solidFill>
                  <a:srgbClr val="2F66B3"/>
                </a:solidFill>
              </a:defRPr>
            </a:pPr>
            <a:r>
              <a:rPr sz="1088" b="1">
                <a:solidFill>
                  <a:srgbClr val="2F66B3"/>
                </a:solidFill>
              </a:rPr>
              <a:t>Kiểm thử giao diện và server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3431CA4-6A28-491F-952B-26153E65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A9CDC44-64BC-45EE-8C65-AB85FED8A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333875"/>
            <a:ext cx="501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13" b="0">
                <a:solidFill>
                  <a:srgbClr val="2F66B3"/>
                </a:solidFill>
              </a:defRPr>
            </a:defPPr>
            <a:lvl1pPr>
              <a:defRPr sz="1013" b="0">
                <a:solidFill>
                  <a:srgbClr val="2F66B3"/>
                </a:solidFill>
              </a:defRPr>
            </a:lvl1pPr>
            <a:lvl2pPr>
              <a:defRPr sz="1013" b="0">
                <a:solidFill>
                  <a:srgbClr val="2F66B3"/>
                </a:solidFill>
              </a:defRPr>
            </a:lvl2pPr>
            <a:lvl3pPr>
              <a:defRPr sz="1013" b="0">
                <a:solidFill>
                  <a:srgbClr val="2F66B3"/>
                </a:solidFill>
              </a:defRPr>
            </a:lvl3pPr>
            <a:lvl4pPr>
              <a:defRPr sz="1013" b="0">
                <a:solidFill>
                  <a:srgbClr val="2F66B3"/>
                </a:solidFill>
              </a:defRPr>
            </a:lvl4pPr>
            <a:lvl5pPr>
              <a:defRPr sz="1013" b="0">
                <a:solidFill>
                  <a:srgbClr val="2F66B3"/>
                </a:solidFill>
              </a:defRPr>
            </a:lvl5pPr>
            <a:lvl6pPr>
              <a:defRPr sz="1013" b="0">
                <a:solidFill>
                  <a:srgbClr val="2F66B3"/>
                </a:solidFill>
              </a:defRPr>
            </a:lvl6pPr>
            <a:lvl7pPr>
              <a:defRPr sz="1013" b="0">
                <a:solidFill>
                  <a:srgbClr val="2F66B3"/>
                </a:solidFill>
              </a:defRPr>
            </a:lvl7pPr>
            <a:lvl8pPr>
              <a:defRPr sz="1013" b="0">
                <a:solidFill>
                  <a:srgbClr val="2F66B3"/>
                </a:solidFill>
              </a:defRPr>
            </a:lvl8pPr>
            <a:lvl9pPr>
              <a:defRPr sz="1013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13" b="0">
                <a:solidFill>
                  <a:srgbClr val="2F66B3"/>
                </a:solidFill>
              </a:defRPr>
            </a:pPr>
            <a:r>
              <a:rPr sz="1013" b="0">
                <a:solidFill>
                  <a:srgbClr val="2F66B3"/>
                </a:solidFill>
              </a:rPr>
              <a:t>Smoke test Streamlit không có exception; health check trả `ok`; kiểm tra cú pháp và bộ test inference đã có kết quả ghi nhận.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62AC7F2-FE9B-47F4-B398-80BA9951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C367C59-2B9F-4EBF-8C5C-50E2369A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333875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F66B3"/>
                </a:solidFill>
              </a:defRPr>
            </a:pPr>
            <a:r>
              <a:rPr sz="1050" b="0">
                <a:solidFill>
                  <a:srgbClr val="2F66B3"/>
                </a:solidFill>
              </a:rPr>
              <a:t>90%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480C6B7-A6C0-4E04-B37D-ABD63649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862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6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7141CAD-CC5A-471B-84F1-B00FFD0C4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333875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11BDE51-B3B0-4EED-8407-B4F47E307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387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7D9B69C-9F75-4D5D-8939-EA1F9301F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4886325"/>
            <a:ext cx="419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F66B3"/>
                </a:solidFill>
              </a:defRPr>
            </a:pPr>
            <a:r>
              <a:rPr sz="1050" b="0">
                <a:solidFill>
                  <a:srgbClr val="2F66B3"/>
                </a:solidFill>
              </a:rPr>
              <a:t>6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4726D19-6F81-4806-B11A-A7653C74F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38700"/>
            <a:ext cx="2400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463869F-9DA1-4562-9ECF-0C315AF2D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886325"/>
            <a:ext cx="2266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88" b="1">
                <a:solidFill>
                  <a:srgbClr val="2F66B3"/>
                </a:solidFill>
              </a:defRPr>
            </a:defPPr>
            <a:lvl1pPr>
              <a:defRPr sz="1088" b="1">
                <a:solidFill>
                  <a:srgbClr val="2F66B3"/>
                </a:solidFill>
              </a:defRPr>
            </a:lvl1pPr>
            <a:lvl2pPr>
              <a:defRPr sz="1088" b="1">
                <a:solidFill>
                  <a:srgbClr val="2F66B3"/>
                </a:solidFill>
              </a:defRPr>
            </a:lvl2pPr>
            <a:lvl3pPr>
              <a:defRPr sz="1088" b="1">
                <a:solidFill>
                  <a:srgbClr val="2F66B3"/>
                </a:solidFill>
              </a:defRPr>
            </a:lvl3pPr>
            <a:lvl4pPr>
              <a:defRPr sz="1088" b="1">
                <a:solidFill>
                  <a:srgbClr val="2F66B3"/>
                </a:solidFill>
              </a:defRPr>
            </a:lvl4pPr>
            <a:lvl5pPr>
              <a:defRPr sz="1088" b="1">
                <a:solidFill>
                  <a:srgbClr val="2F66B3"/>
                </a:solidFill>
              </a:defRPr>
            </a:lvl5pPr>
            <a:lvl6pPr>
              <a:defRPr sz="1088" b="1">
                <a:solidFill>
                  <a:srgbClr val="2F66B3"/>
                </a:solidFill>
              </a:defRPr>
            </a:lvl6pPr>
            <a:lvl7pPr>
              <a:defRPr sz="1088" b="1">
                <a:solidFill>
                  <a:srgbClr val="2F66B3"/>
                </a:solidFill>
              </a:defRPr>
            </a:lvl7pPr>
            <a:lvl8pPr>
              <a:defRPr sz="1088" b="1">
                <a:solidFill>
                  <a:srgbClr val="2F66B3"/>
                </a:solidFill>
              </a:defRPr>
            </a:lvl8pPr>
            <a:lvl9pPr>
              <a:defRPr sz="1088" b="1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88" b="1">
                <a:solidFill>
                  <a:srgbClr val="2F66B3"/>
                </a:solidFill>
              </a:defRPr>
            </a:pPr>
            <a:r>
              <a:rPr sz="1088" b="1">
                <a:solidFill>
                  <a:srgbClr val="2F66B3"/>
                </a:solidFill>
              </a:rPr>
              <a:t>Tích hợp checkpoint thật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A27748A-EE90-424B-AE40-F3A48FF0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838700"/>
            <a:ext cx="5143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7EA64D6-210E-4B5B-AF54-A3DB2461C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4886325"/>
            <a:ext cx="501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13" b="0">
                <a:solidFill>
                  <a:srgbClr val="2F66B3"/>
                </a:solidFill>
              </a:defRPr>
            </a:defPPr>
            <a:lvl1pPr>
              <a:defRPr sz="1013" b="0">
                <a:solidFill>
                  <a:srgbClr val="2F66B3"/>
                </a:solidFill>
              </a:defRPr>
            </a:lvl1pPr>
            <a:lvl2pPr>
              <a:defRPr sz="1013" b="0">
                <a:solidFill>
                  <a:srgbClr val="2F66B3"/>
                </a:solidFill>
              </a:defRPr>
            </a:lvl2pPr>
            <a:lvl3pPr>
              <a:defRPr sz="1013" b="0">
                <a:solidFill>
                  <a:srgbClr val="2F66B3"/>
                </a:solidFill>
              </a:defRPr>
            </a:lvl3pPr>
            <a:lvl4pPr>
              <a:defRPr sz="1013" b="0">
                <a:solidFill>
                  <a:srgbClr val="2F66B3"/>
                </a:solidFill>
              </a:defRPr>
            </a:lvl4pPr>
            <a:lvl5pPr>
              <a:defRPr sz="1013" b="0">
                <a:solidFill>
                  <a:srgbClr val="2F66B3"/>
                </a:solidFill>
              </a:defRPr>
            </a:lvl5pPr>
            <a:lvl6pPr>
              <a:defRPr sz="1013" b="0">
                <a:solidFill>
                  <a:srgbClr val="2F66B3"/>
                </a:solidFill>
              </a:defRPr>
            </a:lvl6pPr>
            <a:lvl7pPr>
              <a:defRPr sz="1013" b="0">
                <a:solidFill>
                  <a:srgbClr val="2F66B3"/>
                </a:solidFill>
              </a:defRPr>
            </a:lvl7pPr>
            <a:lvl8pPr>
              <a:defRPr sz="1013" b="0">
                <a:solidFill>
                  <a:srgbClr val="2F66B3"/>
                </a:solidFill>
              </a:defRPr>
            </a:lvl8pPr>
            <a:lvl9pPr>
              <a:defRPr sz="1013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13" b="0">
                <a:solidFill>
                  <a:srgbClr val="2F66B3"/>
                </a:solidFill>
              </a:defRPr>
            </a:pPr>
            <a:r>
              <a:rPr sz="1013" b="0">
                <a:solidFill>
                  <a:srgbClr val="2F66B3"/>
                </a:solidFill>
              </a:rPr>
              <a:t>Chưa nghiệm thu Gate 4 vì còn chờ checkpoint đã huấn luyện, PR phụ thuộc và định dạng state_dict thống nhất từ NV2/NV3.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5C5FA0B-F36D-4796-9D6B-9C367E4B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838700"/>
            <a:ext cx="1238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E42F5EB-63DE-4444-9B2A-1B257FF8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886325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2F66B3"/>
                </a:solidFill>
              </a:defRPr>
            </a:pPr>
            <a:r>
              <a:rPr sz="1050" b="0">
                <a:solidFill>
                  <a:srgbClr val="2F66B3"/>
                </a:solidFill>
              </a:rPr>
              <a:t>70%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81F7DDA-71A9-48D6-8477-292BBFF8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8387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CFE5D04-B940-4DBE-B746-6BC9D4977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886325"/>
            <a:ext cx="1676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050" b="0">
                <a:solidFill>
                  <a:srgbClr val="2F66B3"/>
                </a:solidFill>
              </a:defRPr>
            </a:defPPr>
            <a:lvl1pPr>
              <a:defRPr sz="1050" b="0">
                <a:solidFill>
                  <a:srgbClr val="2F66B3"/>
                </a:solidFill>
              </a:defRPr>
            </a:lvl1pPr>
            <a:lvl2pPr>
              <a:defRPr sz="1050" b="0">
                <a:solidFill>
                  <a:srgbClr val="2F66B3"/>
                </a:solidFill>
              </a:defRPr>
            </a:lvl2pPr>
            <a:lvl3pPr>
              <a:defRPr sz="1050" b="0">
                <a:solidFill>
                  <a:srgbClr val="2F66B3"/>
                </a:solidFill>
              </a:defRPr>
            </a:lvl3pPr>
            <a:lvl4pPr>
              <a:defRPr sz="1050" b="0">
                <a:solidFill>
                  <a:srgbClr val="2F66B3"/>
                </a:solidFill>
              </a:defRPr>
            </a:lvl4pPr>
            <a:lvl5pPr>
              <a:defRPr sz="1050" b="0">
                <a:solidFill>
                  <a:srgbClr val="2F66B3"/>
                </a:solidFill>
              </a:defRPr>
            </a:lvl5pPr>
            <a:lvl6pPr>
              <a:defRPr sz="1050" b="0">
                <a:solidFill>
                  <a:srgbClr val="2F66B3"/>
                </a:solidFill>
              </a:defRPr>
            </a:lvl6pPr>
            <a:lvl7pPr>
              <a:defRPr sz="1050" b="0">
                <a:solidFill>
                  <a:srgbClr val="2F66B3"/>
                </a:solidFill>
              </a:defRPr>
            </a:lvl7pPr>
            <a:lvl8pPr>
              <a:defRPr sz="1050" b="0">
                <a:solidFill>
                  <a:srgbClr val="2F66B3"/>
                </a:solidFill>
              </a:defRPr>
            </a:lvl8pPr>
            <a:lvl9pPr>
              <a:defRPr sz="1050" b="0">
                <a:solidFill>
                  <a:srgbClr val="2F66B3"/>
                </a:solidFill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3DA4E846-2321-4A47-990F-A216B5C6B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75" b="0">
                <a:solidFill>
                  <a:srgbClr val="4A5568"/>
                </a:solidFill>
              </a:defRPr>
            </a:defPPr>
            <a:lvl1pPr>
              <a:defRPr sz="975" b="0">
                <a:solidFill>
                  <a:srgbClr val="4A5568"/>
                </a:solidFill>
              </a:defRPr>
            </a:lvl1pPr>
            <a:lvl2pPr>
              <a:defRPr sz="975" b="0">
                <a:solidFill>
                  <a:srgbClr val="4A5568"/>
                </a:solidFill>
              </a:defRPr>
            </a:lvl2pPr>
            <a:lvl3pPr>
              <a:defRPr sz="975" b="0">
                <a:solidFill>
                  <a:srgbClr val="4A5568"/>
                </a:solidFill>
              </a:defRPr>
            </a:lvl3pPr>
            <a:lvl4pPr>
              <a:defRPr sz="975" b="0">
                <a:solidFill>
                  <a:srgbClr val="4A5568"/>
                </a:solidFill>
              </a:defRPr>
            </a:lvl4pPr>
            <a:lvl5pPr>
              <a:defRPr sz="975" b="0">
                <a:solidFill>
                  <a:srgbClr val="4A5568"/>
                </a:solidFill>
              </a:defRPr>
            </a:lvl5pPr>
            <a:lvl6pPr>
              <a:defRPr sz="975" b="0">
                <a:solidFill>
                  <a:srgbClr val="4A5568"/>
                </a:solidFill>
              </a:defRPr>
            </a:lvl6pPr>
            <a:lvl7pPr>
              <a:defRPr sz="975" b="0">
                <a:solidFill>
                  <a:srgbClr val="4A5568"/>
                </a:solidFill>
              </a:defRPr>
            </a:lvl7pPr>
            <a:lvl8pPr>
              <a:defRPr sz="975" b="0">
                <a:solidFill>
                  <a:srgbClr val="4A5568"/>
                </a:solidFill>
              </a:defRPr>
            </a:lvl8pPr>
            <a:lvl9pPr>
              <a:defRPr sz="975" b="0">
                <a:solidFill>
                  <a:srgbClr val="4A5568"/>
                </a:solidFill>
              </a:defRPr>
            </a:lvl9pPr>
          </a:lstStyle>
          <a:p xmlns:a="http://schemas.openxmlformats.org/drawingml/2006/main">
            <a:pPr>
              <a:defRPr sz="975" b="0">
                <a:solidFill>
                  <a:srgbClr val="4A5568"/>
                </a:solidFill>
              </a:defRPr>
            </a:pPr>
            <a:r>
              <a:rPr sz="975" b="0">
                <a:solidFill>
                  <a:srgbClr val="4A5568"/>
                </a:solidFill>
              </a:rPr>
              <a:t>Ghi chú: giao diện và API đã có; kết quả dự đoán end-to-end chỉ được xác nhận sau khi nhận đủ hai checkpoint thật.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BE8DC7C-6E54-4A39-8E97-587DFCB1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858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900" b="0">
                <a:solidFill>
                  <a:srgbClr val="4A5568"/>
                </a:solidFill>
              </a:defRPr>
            </a:defPPr>
            <a:lvl1pPr>
              <a:defRPr sz="900" b="0">
                <a:solidFill>
                  <a:srgbClr val="4A5568"/>
                </a:solidFill>
              </a:defRPr>
            </a:lvl1pPr>
            <a:lvl2pPr>
              <a:defRPr sz="900" b="0">
                <a:solidFill>
                  <a:srgbClr val="4A5568"/>
                </a:solidFill>
              </a:defRPr>
            </a:lvl2pPr>
            <a:lvl3pPr>
              <a:defRPr sz="900" b="0">
                <a:solidFill>
                  <a:srgbClr val="4A5568"/>
                </a:solidFill>
              </a:defRPr>
            </a:lvl3pPr>
            <a:lvl4pPr>
              <a:defRPr sz="900" b="0">
                <a:solidFill>
                  <a:srgbClr val="4A5568"/>
                </a:solidFill>
              </a:defRPr>
            </a:lvl4pPr>
            <a:lvl5pPr>
              <a:defRPr sz="900" b="0">
                <a:solidFill>
                  <a:srgbClr val="4A5568"/>
                </a:solidFill>
              </a:defRPr>
            </a:lvl5pPr>
            <a:lvl6pPr>
              <a:defRPr sz="900" b="0">
                <a:solidFill>
                  <a:srgbClr val="4A5568"/>
                </a:solidFill>
              </a:defRPr>
            </a:lvl6pPr>
            <a:lvl7pPr>
              <a:defRPr sz="900" b="0">
                <a:solidFill>
                  <a:srgbClr val="4A5568"/>
                </a:solidFill>
              </a:defRPr>
            </a:lvl7pPr>
            <a:lvl8pPr>
              <a:defRPr sz="900" b="0">
                <a:solidFill>
                  <a:srgbClr val="4A5568"/>
                </a:solidFill>
              </a:defRPr>
            </a:lvl8pPr>
            <a:lvl9pPr>
              <a:defRPr sz="900" b="0">
                <a:solidFill>
                  <a:srgbClr val="4A5568"/>
                </a:solidFill>
              </a:defRPr>
            </a:lvl9pPr>
          </a:lstStyle>
          <a:p xmlns:a="http://schemas.openxmlformats.org/drawingml/2006/main">
            <a:pPr>
              <a:defRPr sz="900" b="0">
                <a:solidFill>
                  <a:srgbClr val="4A5568"/>
                </a:solidFill>
              </a:defRPr>
            </a:pPr>
            <a:r>
              <a:rPr sz="900" b="0">
                <a:solidFill>
                  <a:srgbClr val="4A5568"/>
                </a:solidFill>
              </a:rPr>
              <a:t>Nguồn kiểm tra: docs/DEMO_README.md trên nhánh feature/nv4-demo.</a:t>
            </a:r>
          </a:p>
        </p:txBody>
      </p:sp>
    </p:spTree>
    <p:extLst>
      <p:ext uri="{BB962C8B-B14F-4D97-AF65-F5344CB8AC3E}">
        <p14:creationId xmlns:p14="http://schemas.microsoft.com/office/powerpoint/2010/main" val="193554519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2026-10-28T03:41:11.2990000Z</dcterms:created>
  <dcterms:modified xsi:type="dcterms:W3CDTF">2026-10-28T03:41:11.2990000Z</dcterms:modified>
</coreProperties>
</file>