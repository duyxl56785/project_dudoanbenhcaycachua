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2c91fae54e4ecc" /><Relationship Type="http://schemas.openxmlformats.org/officeDocument/2006/relationships/extended-properties" Target="/docProps/app.xml" Id="R6c67d4a39404406f" /><Relationship Type="http://schemas.openxmlformats.org/officeDocument/2006/relationships/officeDocument" Target="/ppt/presentation.xml" Id="Rece01922fda04f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92158630214f01"/>
  </p:sldMasterIdLst>
  <p:notesMasterIdLst>
    <p:notesMasterId xmlns:r="http://schemas.openxmlformats.org/officeDocument/2006/relationships" r:id="R2da21bb7b89847ad"/>
  </p:notesMasterIdLst>
  <p:sldIdLst>
    <p:sldId xmlns:r="http://schemas.openxmlformats.org/officeDocument/2006/relationships" id="256" r:id="R98854d845d79462c"/>
    <p:sldId xmlns:r="http://schemas.openxmlformats.org/officeDocument/2006/relationships" id="257" r:id="R1b476df1462346f4"/>
    <p:sldId xmlns:r="http://schemas.openxmlformats.org/officeDocument/2006/relationships" id="258" r:id="Re70895281c49447a"/>
    <p:sldId xmlns:r="http://schemas.openxmlformats.org/officeDocument/2006/relationships" id="259" r:id="R63bf729e2971415e"/>
    <p:sldId xmlns:r="http://schemas.openxmlformats.org/officeDocument/2006/relationships" id="260" r:id="R7167594c65c245f6"/>
    <p:sldId xmlns:r="http://schemas.openxmlformats.org/officeDocument/2006/relationships" id="261" r:id="Rbdd5d9dec0634269"/>
    <p:sldId xmlns:r="http://schemas.openxmlformats.org/officeDocument/2006/relationships" id="262" r:id="Rae0d5355341045c4"/>
    <p:sldId xmlns:r="http://schemas.openxmlformats.org/officeDocument/2006/relationships" id="263" r:id="Rf786ff29b567455f"/>
    <p:sldId xmlns:r="http://schemas.openxmlformats.org/officeDocument/2006/relationships" id="264" r:id="R61135ca14aeb40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6cf75e9ecb4522" /><Relationship Type="http://schemas.openxmlformats.org/officeDocument/2006/relationships/slideMaster" Target="/ppt/slideMasters/slideMaster1.xml" Id="R4692158630214f01" /><Relationship Type="http://schemas.openxmlformats.org/officeDocument/2006/relationships/notesMaster" Target="/ppt/notesMasters/notesMaster1.xml" Id="R2da21bb7b89847ad" /><Relationship Type="http://schemas.openxmlformats.org/officeDocument/2006/relationships/presProps" Target="/ppt/presProps.xml" Id="R81b006d587294738" /><Relationship Type="http://schemas.openxmlformats.org/officeDocument/2006/relationships/tableStyles" Target="/ppt/tableStyles.xml" Id="R3bca957b76ef4253" /><Relationship Type="http://schemas.openxmlformats.org/officeDocument/2006/relationships/slide" Target="/ppt/slides/slide1.xml" Id="R98854d845d79462c" /><Relationship Type="http://schemas.openxmlformats.org/officeDocument/2006/relationships/slide" Target="/ppt/slides/slide2.xml" Id="R1b476df1462346f4" /><Relationship Type="http://schemas.openxmlformats.org/officeDocument/2006/relationships/slide" Target="/ppt/slides/slide3.xml" Id="Re70895281c49447a" /><Relationship Type="http://schemas.openxmlformats.org/officeDocument/2006/relationships/slide" Target="/ppt/slides/slide4.xml" Id="R63bf729e2971415e" /><Relationship Type="http://schemas.openxmlformats.org/officeDocument/2006/relationships/slide" Target="/ppt/slides/slide5.xml" Id="R7167594c65c245f6" /><Relationship Type="http://schemas.openxmlformats.org/officeDocument/2006/relationships/slide" Target="/ppt/slides/slide6.xml" Id="Rbdd5d9dec0634269" /><Relationship Type="http://schemas.openxmlformats.org/officeDocument/2006/relationships/slide" Target="/ppt/slides/slide7.xml" Id="Rae0d5355341045c4" /><Relationship Type="http://schemas.openxmlformats.org/officeDocument/2006/relationships/slide" Target="/ppt/slides/slide8.xml" Id="Rf786ff29b567455f" /><Relationship Type="http://schemas.openxmlformats.org/officeDocument/2006/relationships/slide" Target="/ppt/slides/slide9.xml" Id="R61135ca14aeb40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f42e1d42ac40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d31b519af24074" /><Relationship Type="http://schemas.openxmlformats.org/officeDocument/2006/relationships/notesMaster" Target="/ppt/notesMasters/notesMaster1.xml" Id="R113caf8bc40642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a4bf4f962c47a4" /><Relationship Type="http://schemas.openxmlformats.org/officeDocument/2006/relationships/notesMaster" Target="/ppt/notesMasters/notesMaster1.xml" Id="Rd27814928eeb47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dd2f50d05f4ea5" /><Relationship Type="http://schemas.openxmlformats.org/officeDocument/2006/relationships/notesMaster" Target="/ppt/notesMasters/notesMaster1.xml" Id="Ra258d43e2bb24c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1239ab94a2424c" /><Relationship Type="http://schemas.openxmlformats.org/officeDocument/2006/relationships/notesMaster" Target="/ppt/notesMasters/notesMaster1.xml" Id="R4dff478fac3c41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4f9178f90c4c7b" /><Relationship Type="http://schemas.openxmlformats.org/officeDocument/2006/relationships/notesMaster" Target="/ppt/notesMasters/notesMaster1.xml" Id="Rd70bdcec8ae648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76593b78d945e5" /><Relationship Type="http://schemas.openxmlformats.org/officeDocument/2006/relationships/notesMaster" Target="/ppt/notesMasters/notesMaster1.xml" Id="R3c5081f2987d4c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3c94d2a544431b" /><Relationship Type="http://schemas.openxmlformats.org/officeDocument/2006/relationships/notesMaster" Target="/ppt/notesMasters/notesMaster1.xml" Id="R96483a3540cc4a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69de13eeb34996" /><Relationship Type="http://schemas.openxmlformats.org/officeDocument/2006/relationships/notesMaster" Target="/ppt/notesMasters/notesMaster1.xml" Id="R4a2920c235564f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3116d91e2c4f21" /><Relationship Type="http://schemas.openxmlformats.org/officeDocument/2006/relationships/notesMaster" Target="/ppt/notesMasters/notesMaster1.xml" Id="R36844264454340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09731a63a43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44365fc6547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183064cf440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aae76fb83240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ea240b30844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171311ee64f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74E8FF-A0E9-4097-A84E-836D2C3EFB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75771B-A668-4C96-8DA9-24756ADC2B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A6D248-136C-4AFF-A2D2-11E09DB20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2215BA-C5E0-443F-AC87-BCF555F13D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166DD7-76FA-4749-B0F5-79A84946F8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055F4D-32F5-4C52-B26B-04930A5C0D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F37072-682C-407A-935D-1BB667A7DA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080054-147D-4605-94DC-4A3C8523C2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10A199-A821-4F38-AB4F-F9A6445C6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38C77F-375C-4B0D-8F52-D674E4DCED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4724b25ca94159" /><Relationship Type="http://schemas.openxmlformats.org/officeDocument/2006/relationships/slideLayout" Target="/ppt/slideLayouts/slideLayout1.xml" Id="R1a47697914454862" /><Relationship Type="http://schemas.openxmlformats.org/officeDocument/2006/relationships/slideLayout" Target="/ppt/slideLayouts/slideLayout2.xml" Id="R1bce0fd31de44b11" /><Relationship Type="http://schemas.openxmlformats.org/officeDocument/2006/relationships/slideLayout" Target="/ppt/slideLayouts/slideLayout3.xml" Id="Rd1e1ae1b55954387" /><Relationship Type="http://schemas.openxmlformats.org/officeDocument/2006/relationships/slideLayout" Target="/ppt/slideLayouts/slideLayout4.xml" Id="R818ad95505f34ea8" /><Relationship Type="http://schemas.openxmlformats.org/officeDocument/2006/relationships/slideLayout" Target="/ppt/slideLayouts/slideLayout5.xml" Id="R99ae94b278244f8d" /><Relationship Type="http://schemas.openxmlformats.org/officeDocument/2006/relationships/slideLayout" Target="/ppt/slideLayouts/slideLayout6.xml" Id="R0cd5ae5ba8a84c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47697914454862"/>
    <p:sldLayoutId xmlns:r="http://schemas.openxmlformats.org/officeDocument/2006/relationships" id="2147483650" r:id="R1bce0fd31de44b11"/>
    <p:sldLayoutId xmlns:r="http://schemas.openxmlformats.org/officeDocument/2006/relationships" id="2147483651" r:id="Rd1e1ae1b55954387"/>
    <p:sldLayoutId xmlns:r="http://schemas.openxmlformats.org/officeDocument/2006/relationships" id="2147483652" r:id="R818ad95505f34ea8"/>
    <p:sldLayoutId xmlns:r="http://schemas.openxmlformats.org/officeDocument/2006/relationships" id="2147483653" r:id="R99ae94b278244f8d"/>
    <p:sldLayoutId xmlns:r="http://schemas.openxmlformats.org/officeDocument/2006/relationships" id="2147483654" r:id="R0cd5ae5ba8a84c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95aeb0044b484c" /><Relationship Type="http://schemas.openxmlformats.org/officeDocument/2006/relationships/notesSlide" Target="/ppt/notesSlides/notesSlide1.xml" Id="Rf936fc89001847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2f208295d94e7d" /><Relationship Type="http://schemas.openxmlformats.org/officeDocument/2006/relationships/notesSlide" Target="/ppt/notesSlides/notesSlide2.xml" Id="Rff6ef2da373f47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f26cbebf1b46a0" /><Relationship Type="http://schemas.openxmlformats.org/officeDocument/2006/relationships/notesSlide" Target="/ppt/notesSlides/notesSlide3.xml" Id="Ra01292c937a946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1638787f949dc" /><Relationship Type="http://schemas.openxmlformats.org/officeDocument/2006/relationships/notesSlide" Target="/ppt/notesSlides/notesSlide4.xml" Id="Rfba2950077fa4f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096794b2c44661" /><Relationship Type="http://schemas.openxmlformats.org/officeDocument/2006/relationships/notesSlide" Target="/ppt/notesSlides/notesSlide5.xml" Id="R577be387cdc041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1f258c33ab4078" /><Relationship Type="http://schemas.openxmlformats.org/officeDocument/2006/relationships/notesSlide" Target="/ppt/notesSlides/notesSlide6.xml" Id="R10e6b7ec653b48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accff6df7a4714" /><Relationship Type="http://schemas.openxmlformats.org/officeDocument/2006/relationships/notesSlide" Target="/ppt/notesSlides/notesSlide7.xml" Id="R8761aedbac5d47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8f19e27b864542" /><Relationship Type="http://schemas.openxmlformats.org/officeDocument/2006/relationships/notesSlide" Target="/ppt/notesSlides/notesSlide8.xml" Id="R442a5ca2b3e74a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159c1a0b03431c" /><Relationship Type="http://schemas.openxmlformats.org/officeDocument/2006/relationships/notesSlide" Target="/ppt/notesSlides/notesSlide9.xml" Id="Raaeb62fa9c8e41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872B5-A472-433E-98BE-58CF8B41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F5597"/>
                </a:solidFill>
              </a:defRPr>
            </a:defPPr>
            <a:lvl1pPr>
              <a:defRPr sz="1275" b="1">
                <a:solidFill>
                  <a:srgbClr val="2F5597"/>
                </a:solidFill>
              </a:defRPr>
            </a:lvl1pPr>
            <a:lvl2pPr>
              <a:defRPr sz="1275" b="1">
                <a:solidFill>
                  <a:srgbClr val="2F5597"/>
                </a:solidFill>
              </a:defRPr>
            </a:lvl2pPr>
            <a:lvl3pPr>
              <a:defRPr sz="1275" b="1">
                <a:solidFill>
                  <a:srgbClr val="2F5597"/>
                </a:solidFill>
              </a:defRPr>
            </a:lvl3pPr>
            <a:lvl4pPr>
              <a:defRPr sz="1275" b="1">
                <a:solidFill>
                  <a:srgbClr val="2F5597"/>
                </a:solidFill>
              </a:defRPr>
            </a:lvl4pPr>
            <a:lvl5pPr>
              <a:defRPr sz="1275" b="1">
                <a:solidFill>
                  <a:srgbClr val="2F5597"/>
                </a:solidFill>
              </a:defRPr>
            </a:lvl5pPr>
            <a:lvl6pPr>
              <a:defRPr sz="1275" b="1">
                <a:solidFill>
                  <a:srgbClr val="2F5597"/>
                </a:solidFill>
              </a:defRPr>
            </a:lvl6pPr>
            <a:lvl7pPr>
              <a:defRPr sz="1275" b="1">
                <a:solidFill>
                  <a:srgbClr val="2F5597"/>
                </a:solidFill>
              </a:defRPr>
            </a:lvl7pPr>
            <a:lvl8pPr>
              <a:defRPr sz="1275" b="1">
                <a:solidFill>
                  <a:srgbClr val="2F5597"/>
                </a:solidFill>
              </a:defRPr>
            </a:lvl8pPr>
            <a:lvl9pPr>
              <a:defRPr sz="12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F5597"/>
                </a:solidFill>
              </a:defRPr>
            </a:pPr>
            <a:r>
              <a:rPr sz="12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B43C4-5D96-482F-9C31-0BBD44C9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F4E79"/>
                </a:solidFill>
              </a:defRPr>
            </a:defPPr>
            <a:lvl1pPr>
              <a:defRPr sz="3450" b="1">
                <a:solidFill>
                  <a:srgbClr val="1F4E79"/>
                </a:solidFill>
              </a:defRPr>
            </a:lvl1pPr>
            <a:lvl2pPr>
              <a:defRPr sz="3450" b="1">
                <a:solidFill>
                  <a:srgbClr val="1F4E79"/>
                </a:solidFill>
              </a:defRPr>
            </a:lvl2pPr>
            <a:lvl3pPr>
              <a:defRPr sz="3450" b="1">
                <a:solidFill>
                  <a:srgbClr val="1F4E79"/>
                </a:solidFill>
              </a:defRPr>
            </a:lvl3pPr>
            <a:lvl4pPr>
              <a:defRPr sz="3450" b="1">
                <a:solidFill>
                  <a:srgbClr val="1F4E79"/>
                </a:solidFill>
              </a:defRPr>
            </a:lvl4pPr>
            <a:lvl5pPr>
              <a:defRPr sz="3450" b="1">
                <a:solidFill>
                  <a:srgbClr val="1F4E79"/>
                </a:solidFill>
              </a:defRPr>
            </a:lvl5pPr>
            <a:lvl6pPr>
              <a:defRPr sz="3450" b="1">
                <a:solidFill>
                  <a:srgbClr val="1F4E79"/>
                </a:solidFill>
              </a:defRPr>
            </a:lvl6pPr>
            <a:lvl7pPr>
              <a:defRPr sz="3450" b="1">
                <a:solidFill>
                  <a:srgbClr val="1F4E79"/>
                </a:solidFill>
              </a:defRPr>
            </a:lvl7pPr>
            <a:lvl8pPr>
              <a:defRPr sz="3450" b="1">
                <a:solidFill>
                  <a:srgbClr val="1F4E79"/>
                </a:solidFill>
              </a:defRPr>
            </a:lvl8pPr>
            <a:lvl9pPr>
              <a:defRPr sz="34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F4E79"/>
                </a:solidFill>
              </a:defRPr>
            </a:pPr>
            <a:r>
              <a:rPr sz="3450" b="1">
                <a:solidFill>
                  <a:srgbClr val="1F4E79"/>
                </a:solidFill>
              </a:rPr>
              <a:t>So sánh CNN và ResNet18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37E54-E796-4C3E-AD09-F85F7222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B6573"/>
                </a:solidFill>
              </a:defRPr>
            </a:defPPr>
            <a:lvl1pPr>
              <a:defRPr sz="1650" b="0">
                <a:solidFill>
                  <a:srgbClr val="5B6573"/>
                </a:solidFill>
              </a:defRPr>
            </a:lvl1pPr>
            <a:lvl2pPr>
              <a:defRPr sz="1650" b="0">
                <a:solidFill>
                  <a:srgbClr val="5B6573"/>
                </a:solidFill>
              </a:defRPr>
            </a:lvl2pPr>
            <a:lvl3pPr>
              <a:defRPr sz="1650" b="0">
                <a:solidFill>
                  <a:srgbClr val="5B6573"/>
                </a:solidFill>
              </a:defRPr>
            </a:lvl3pPr>
            <a:lvl4pPr>
              <a:defRPr sz="1650" b="0">
                <a:solidFill>
                  <a:srgbClr val="5B6573"/>
                </a:solidFill>
              </a:defRPr>
            </a:lvl4pPr>
            <a:lvl5pPr>
              <a:defRPr sz="1650" b="0">
                <a:solidFill>
                  <a:srgbClr val="5B6573"/>
                </a:solidFill>
              </a:defRPr>
            </a:lvl5pPr>
            <a:lvl6pPr>
              <a:defRPr sz="1650" b="0">
                <a:solidFill>
                  <a:srgbClr val="5B6573"/>
                </a:solidFill>
              </a:defRPr>
            </a:lvl6pPr>
            <a:lvl7pPr>
              <a:defRPr sz="1650" b="0">
                <a:solidFill>
                  <a:srgbClr val="5B6573"/>
                </a:solidFill>
              </a:defRPr>
            </a:lvl7pPr>
            <a:lvl8pPr>
              <a:defRPr sz="1650" b="0">
                <a:solidFill>
                  <a:srgbClr val="5B6573"/>
                </a:solidFill>
              </a:defRPr>
            </a:lvl8pPr>
            <a:lvl9pPr>
              <a:defRPr sz="1650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B6573"/>
                </a:solidFill>
              </a:defRPr>
            </a:pPr>
            <a:r>
              <a:rPr sz="1650" b="0">
                <a:solidFill>
                  <a:srgbClr val="5B6573"/>
                </a:solidFill>
              </a:rPr>
              <a:t>Báo cáo bài tập lớn · Nhóm 4 · Trường Đại học CMC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0954A-FDCC-4CD0-8480-7D2B9593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2A"/>
                </a:solidFill>
              </a:defRPr>
            </a:defPPr>
            <a:lvl1pPr>
              <a:defRPr sz="1200" b="0">
                <a:solidFill>
                  <a:srgbClr val="17202A"/>
                </a:solidFill>
              </a:defRPr>
            </a:lvl1pPr>
            <a:lvl2pPr>
              <a:defRPr sz="1200" b="0">
                <a:solidFill>
                  <a:srgbClr val="17202A"/>
                </a:solidFill>
              </a:defRPr>
            </a:lvl2pPr>
            <a:lvl3pPr>
              <a:defRPr sz="1200" b="0">
                <a:solidFill>
                  <a:srgbClr val="17202A"/>
                </a:solidFill>
              </a:defRPr>
            </a:lvl3pPr>
            <a:lvl4pPr>
              <a:defRPr sz="1200" b="0">
                <a:solidFill>
                  <a:srgbClr val="17202A"/>
                </a:solidFill>
              </a:defRPr>
            </a:lvl4pPr>
            <a:lvl5pPr>
              <a:defRPr sz="1200" b="0">
                <a:solidFill>
                  <a:srgbClr val="17202A"/>
                </a:solidFill>
              </a:defRPr>
            </a:lvl5pPr>
            <a:lvl6pPr>
              <a:defRPr sz="1200" b="0">
                <a:solidFill>
                  <a:srgbClr val="17202A"/>
                </a:solidFill>
              </a:defRPr>
            </a:lvl6pPr>
            <a:lvl7pPr>
              <a:defRPr sz="1200" b="0">
                <a:solidFill>
                  <a:srgbClr val="17202A"/>
                </a:solidFill>
              </a:defRPr>
            </a:lvl7pPr>
            <a:lvl8pPr>
              <a:defRPr sz="1200" b="0">
                <a:solidFill>
                  <a:srgbClr val="17202A"/>
                </a:solidFill>
              </a:defRPr>
            </a:lvl8pPr>
            <a:lvl9pPr>
              <a:defRPr sz="120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7202A"/>
                </a:solidFill>
              </a:defRPr>
            </a:pPr>
            <a:r>
              <a:rPr sz="1200" b="0">
                <a:solidFill>
                  <a:srgbClr val="17202A"/>
                </a:solidFill>
              </a:rPr>
              <a:t>Bản khung chờ số liệu Test và minh chứng từ NV2, NV3, NV4</a:t>
            </a:r>
          </a:p>
        </p:txBody>
      </p:sp>
    </p:spTree>
    <p:extLst>
      <p:ext uri="{BB962C8B-B14F-4D97-AF65-F5344CB8AC3E}">
        <p14:creationId xmlns:p14="http://schemas.microsoft.com/office/powerpoint/2010/main" val="69647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B955B-477B-45D0-AA09-987DB78E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E6192-6BC0-4136-8FD2-664E33FB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Mục tiêu và phạm 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43D2E-75F8-49A2-9F21-E2E78176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Bản khung NV5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78833-9CD7-4CF7-8F83-6EE5C8A0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Mục tiêu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969E2-D636-4E48-B886-E6B72BA2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Phân loại ảnh lá cà chua vào bốn lớp đã thống nhất.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So sánh CNN huấn luyện từ đầu với ResNet18 dùng Transfer Learning.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Đối chiếu kết quả với demo Streamlit.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DC367-B6AC-47C8-B3EA-9BABE574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Phạm vi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DC42C-B99E-46C4-80A4-D24A0823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Kết quả chỉ áp dụng cho các lớp và dữ liệu đã học.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PlantVillage có điều kiện chụp được kiểm soát.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Chưa có thí nghiệm riêng cho bệnh mới chớm.</a:t>
            </a:r>
          </a:p>
        </p:txBody>
      </p:sp>
    </p:spTree>
    <p:extLst>
      <p:ext uri="{BB962C8B-B14F-4D97-AF65-F5344CB8AC3E}">
        <p14:creationId xmlns:p14="http://schemas.microsoft.com/office/powerpoint/2010/main" val="13845139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E3E8F-5DFB-492E-8C1D-E7C75228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8F02E-94E4-4013-A94E-4014AF04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Dữ liệu và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AAC0B-08C5-4B8F-B5DE-06E82B13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Bản khung NV5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A230E-EAF5-40FD-AB48-1CBD8849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Nguồn dữ liệu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E0647-F525-4F2A-BBE8-76AE7173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2A"/>
                </a:solidFill>
              </a:defRPr>
            </a:defPPr>
            <a:lvl1pPr>
              <a:defRPr sz="1500" b="0">
                <a:solidFill>
                  <a:srgbClr val="17202A"/>
                </a:solidFill>
              </a:defRPr>
            </a:lvl1pPr>
            <a:lvl2pPr>
              <a:defRPr sz="1500" b="0">
                <a:solidFill>
                  <a:srgbClr val="17202A"/>
                </a:solidFill>
              </a:defRPr>
            </a:lvl2pPr>
            <a:lvl3pPr>
              <a:defRPr sz="1500" b="0">
                <a:solidFill>
                  <a:srgbClr val="17202A"/>
                </a:solidFill>
              </a:defRPr>
            </a:lvl3pPr>
            <a:lvl4pPr>
              <a:defRPr sz="1500" b="0">
                <a:solidFill>
                  <a:srgbClr val="17202A"/>
                </a:solidFill>
              </a:defRPr>
            </a:lvl4pPr>
            <a:lvl5pPr>
              <a:defRPr sz="1500" b="0">
                <a:solidFill>
                  <a:srgbClr val="17202A"/>
                </a:solidFill>
              </a:defRPr>
            </a:lvl5pPr>
            <a:lvl6pPr>
              <a:defRPr sz="1500" b="0">
                <a:solidFill>
                  <a:srgbClr val="17202A"/>
                </a:solidFill>
              </a:defRPr>
            </a:lvl6pPr>
            <a:lvl7pPr>
              <a:defRPr sz="1500" b="0">
                <a:solidFill>
                  <a:srgbClr val="17202A"/>
                </a:solidFill>
              </a:defRPr>
            </a:lvl7pPr>
            <a:lvl8pPr>
              <a:defRPr sz="1500" b="0">
                <a:solidFill>
                  <a:srgbClr val="17202A"/>
                </a:solidFill>
              </a:defRPr>
            </a:lvl8pPr>
            <a:lvl9pPr>
              <a:defRPr sz="150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[Điền nguồn, số ảnh từng lớp và phiên bản manifest từ NV1]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E17B6-EB36-4DF9-BAAD-05C2E2DA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Pipeline chung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187CD-5C31-4E6F-A9EE-2080AE4D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23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202A"/>
                </a:solidFill>
              </a:defRPr>
            </a:defPPr>
            <a:lvl1pPr>
              <a:defRPr sz="1800" b="1">
                <a:solidFill>
                  <a:srgbClr val="17202A"/>
                </a:solidFill>
              </a:defRPr>
            </a:lvl1pPr>
            <a:lvl2pPr>
              <a:defRPr sz="1800" b="1">
                <a:solidFill>
                  <a:srgbClr val="17202A"/>
                </a:solidFill>
              </a:defRPr>
            </a:lvl2pPr>
            <a:lvl3pPr>
              <a:defRPr sz="1800" b="1">
                <a:solidFill>
                  <a:srgbClr val="17202A"/>
                </a:solidFill>
              </a:defRPr>
            </a:lvl3pPr>
            <a:lvl4pPr>
              <a:defRPr sz="1800" b="1">
                <a:solidFill>
                  <a:srgbClr val="17202A"/>
                </a:solidFill>
              </a:defRPr>
            </a:lvl4pPr>
            <a:lvl5pPr>
              <a:defRPr sz="1800" b="1">
                <a:solidFill>
                  <a:srgbClr val="17202A"/>
                </a:solidFill>
              </a:defRPr>
            </a:lvl5pPr>
            <a:lvl6pPr>
              <a:defRPr sz="1800" b="1">
                <a:solidFill>
                  <a:srgbClr val="17202A"/>
                </a:solidFill>
              </a:defRPr>
            </a:lvl6pPr>
            <a:lvl7pPr>
              <a:defRPr sz="1800" b="1">
                <a:solidFill>
                  <a:srgbClr val="17202A"/>
                </a:solidFill>
              </a:defRPr>
            </a:lvl7pPr>
            <a:lvl8pPr>
              <a:defRPr sz="1800" b="1">
                <a:solidFill>
                  <a:srgbClr val="17202A"/>
                </a:solidFill>
              </a:defRPr>
            </a:lvl8pPr>
            <a:lvl9pPr>
              <a:defRPr sz="1800" b="1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7202A"/>
                </a:solidFill>
              </a:defRPr>
            </a:pPr>
            <a:r>
              <a:rPr sz="1800" b="1">
                <a:solidFill>
                  <a:srgbClr val="17202A"/>
                </a:solidFill>
              </a:rPr>
              <a:t>Manifest → transform → model → prediction CSV → đánh giá NV5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FB08B-6B64-45F2-A4C4-730E8EBD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  <a:lvl1pPr>
              <a:defRPr sz="1350" b="0">
                <a:solidFill>
                  <a:srgbClr val="5B6573"/>
                </a:solidFill>
              </a:defRPr>
            </a:lvl1pPr>
            <a:lvl2pPr>
              <a:defRPr sz="1350" b="0">
                <a:solidFill>
                  <a:srgbClr val="5B6573"/>
                </a:solidFill>
              </a:defRPr>
            </a:lvl2pPr>
            <a:lvl3pPr>
              <a:defRPr sz="1350" b="0">
                <a:solidFill>
                  <a:srgbClr val="5B6573"/>
                </a:solidFill>
              </a:defRPr>
            </a:lvl3pPr>
            <a:lvl4pPr>
              <a:defRPr sz="1350" b="0">
                <a:solidFill>
                  <a:srgbClr val="5B6573"/>
                </a:solidFill>
              </a:defRPr>
            </a:lvl4pPr>
            <a:lvl5pPr>
              <a:defRPr sz="1350" b="0">
                <a:solidFill>
                  <a:srgbClr val="5B6573"/>
                </a:solidFill>
              </a:defRPr>
            </a:lvl5pPr>
            <a:lvl6pPr>
              <a:defRPr sz="1350" b="0">
                <a:solidFill>
                  <a:srgbClr val="5B6573"/>
                </a:solidFill>
              </a:defRPr>
            </a:lvl6pPr>
            <a:lvl7pPr>
              <a:defRPr sz="1350" b="0">
                <a:solidFill>
                  <a:srgbClr val="5B6573"/>
                </a:solidFill>
              </a:defRPr>
            </a:lvl7pPr>
            <a:lvl8pPr>
              <a:defRPr sz="1350" b="0">
                <a:solidFill>
                  <a:srgbClr val="5B6573"/>
                </a:solidFill>
              </a:defRPr>
            </a:lvl8pPr>
            <a:lvl9pPr>
              <a:defRPr sz="1350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Mapping nhãn duy nhất: Healthy · Early Blight · Late Blight · Bacterial Spot</a:t>
            </a:r>
          </a:p>
        </p:txBody>
      </p:sp>
    </p:spTree>
    <p:extLst>
      <p:ext uri="{BB962C8B-B14F-4D97-AF65-F5344CB8AC3E}">
        <p14:creationId xmlns:p14="http://schemas.microsoft.com/office/powerpoint/2010/main" val="19131799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07BE5-84F2-4D95-A891-8BB9FA45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04B1D-89C5-4B02-AF00-EE20F44E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Hai hướng mô hình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83298-2EE8-4898-9A4D-770E089D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Bản khung NV5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2C487-342E-49B2-9623-9E554EF7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F5597"/>
                </a:solidFill>
              </a:defRPr>
            </a:defPPr>
            <a:lvl1pPr>
              <a:defRPr sz="1950" b="1">
                <a:solidFill>
                  <a:srgbClr val="2F5597"/>
                </a:solidFill>
              </a:defRPr>
            </a:lvl1pPr>
            <a:lvl2pPr>
              <a:defRPr sz="1950" b="1">
                <a:solidFill>
                  <a:srgbClr val="2F5597"/>
                </a:solidFill>
              </a:defRPr>
            </a:lvl2pPr>
            <a:lvl3pPr>
              <a:defRPr sz="1950" b="1">
                <a:solidFill>
                  <a:srgbClr val="2F5597"/>
                </a:solidFill>
              </a:defRPr>
            </a:lvl3pPr>
            <a:lvl4pPr>
              <a:defRPr sz="1950" b="1">
                <a:solidFill>
                  <a:srgbClr val="2F5597"/>
                </a:solidFill>
              </a:defRPr>
            </a:lvl4pPr>
            <a:lvl5pPr>
              <a:defRPr sz="1950" b="1">
                <a:solidFill>
                  <a:srgbClr val="2F5597"/>
                </a:solidFill>
              </a:defRPr>
            </a:lvl5pPr>
            <a:lvl6pPr>
              <a:defRPr sz="1950" b="1">
                <a:solidFill>
                  <a:srgbClr val="2F5597"/>
                </a:solidFill>
              </a:defRPr>
            </a:lvl6pPr>
            <a:lvl7pPr>
              <a:defRPr sz="1950" b="1">
                <a:solidFill>
                  <a:srgbClr val="2F5597"/>
                </a:solidFill>
              </a:defRPr>
            </a:lvl7pPr>
            <a:lvl8pPr>
              <a:defRPr sz="1950" b="1">
                <a:solidFill>
                  <a:srgbClr val="2F5597"/>
                </a:solidFill>
              </a:defRPr>
            </a:lvl8pPr>
            <a:lvl9pPr>
              <a:defRPr sz="195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F5597"/>
                </a:solidFill>
              </a:defRPr>
            </a:pPr>
            <a:r>
              <a:rPr sz="1950" b="1">
                <a:solidFill>
                  <a:srgbClr val="2F5597"/>
                </a:solidFill>
              </a:rPr>
              <a:t>CNN tự xây dựng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8A183-A1B6-44C6-B94E-8B14E5E2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• Học từ đầu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• [Điền kiến trúc, optimizer và seed]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• Chọn checkpoint bằng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6D662-7155-4631-8F2E-4DA039E6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F5597"/>
                </a:solidFill>
              </a:defRPr>
            </a:defPPr>
            <a:lvl1pPr>
              <a:defRPr sz="1950" b="1">
                <a:solidFill>
                  <a:srgbClr val="2F5597"/>
                </a:solidFill>
              </a:defRPr>
            </a:lvl1pPr>
            <a:lvl2pPr>
              <a:defRPr sz="1950" b="1">
                <a:solidFill>
                  <a:srgbClr val="2F5597"/>
                </a:solidFill>
              </a:defRPr>
            </a:lvl2pPr>
            <a:lvl3pPr>
              <a:defRPr sz="1950" b="1">
                <a:solidFill>
                  <a:srgbClr val="2F5597"/>
                </a:solidFill>
              </a:defRPr>
            </a:lvl3pPr>
            <a:lvl4pPr>
              <a:defRPr sz="1950" b="1">
                <a:solidFill>
                  <a:srgbClr val="2F5597"/>
                </a:solidFill>
              </a:defRPr>
            </a:lvl4pPr>
            <a:lvl5pPr>
              <a:defRPr sz="1950" b="1">
                <a:solidFill>
                  <a:srgbClr val="2F5597"/>
                </a:solidFill>
              </a:defRPr>
            </a:lvl5pPr>
            <a:lvl6pPr>
              <a:defRPr sz="1950" b="1">
                <a:solidFill>
                  <a:srgbClr val="2F5597"/>
                </a:solidFill>
              </a:defRPr>
            </a:lvl6pPr>
            <a:lvl7pPr>
              <a:defRPr sz="1950" b="1">
                <a:solidFill>
                  <a:srgbClr val="2F5597"/>
                </a:solidFill>
              </a:defRPr>
            </a:lvl7pPr>
            <a:lvl8pPr>
              <a:defRPr sz="1950" b="1">
                <a:solidFill>
                  <a:srgbClr val="2F5597"/>
                </a:solidFill>
              </a:defRPr>
            </a:lvl8pPr>
            <a:lvl9pPr>
              <a:defRPr sz="195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2F5597"/>
                </a:solidFill>
              </a:defRPr>
            </a:pPr>
            <a:r>
              <a:rPr sz="1950" b="1">
                <a:solidFill>
                  <a:srgbClr val="2F5597"/>
                </a:solidFill>
              </a:rPr>
              <a:t>ResNet18 Transfer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2CE48-089C-4D44-884E-4E708273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• Backbone pretrained ImageNet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• Feature extraction và fine-tuning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• Chọn stage bằng Validation</a:t>
            </a:r>
          </a:p>
        </p:txBody>
      </p:sp>
    </p:spTree>
    <p:extLst>
      <p:ext uri="{BB962C8B-B14F-4D97-AF65-F5344CB8AC3E}">
        <p14:creationId xmlns:p14="http://schemas.microsoft.com/office/powerpoint/2010/main" val="13242485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EEDD6-6A64-46CA-9894-96F53924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1A913-5698-4261-AB09-5F0F54F8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Giao thức đánh giá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B960F-D321-4F92-94DD-5CAC2677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Bản khung NV5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E3448-975B-42E2-A2AA-8EE66C18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202A"/>
                </a:solidFill>
              </a:defRPr>
            </a:defPPr>
            <a:lvl1pPr>
              <a:defRPr sz="1725" b="1">
                <a:solidFill>
                  <a:srgbClr val="17202A"/>
                </a:solidFill>
              </a:defRPr>
            </a:lvl1pPr>
            <a:lvl2pPr>
              <a:defRPr sz="1725" b="1">
                <a:solidFill>
                  <a:srgbClr val="17202A"/>
                </a:solidFill>
              </a:defRPr>
            </a:lvl2pPr>
            <a:lvl3pPr>
              <a:defRPr sz="1725" b="1">
                <a:solidFill>
                  <a:srgbClr val="17202A"/>
                </a:solidFill>
              </a:defRPr>
            </a:lvl3pPr>
            <a:lvl4pPr>
              <a:defRPr sz="1725" b="1">
                <a:solidFill>
                  <a:srgbClr val="17202A"/>
                </a:solidFill>
              </a:defRPr>
            </a:lvl4pPr>
            <a:lvl5pPr>
              <a:defRPr sz="1725" b="1">
                <a:solidFill>
                  <a:srgbClr val="17202A"/>
                </a:solidFill>
              </a:defRPr>
            </a:lvl5pPr>
            <a:lvl6pPr>
              <a:defRPr sz="1725" b="1">
                <a:solidFill>
                  <a:srgbClr val="17202A"/>
                </a:solidFill>
              </a:defRPr>
            </a:lvl6pPr>
            <a:lvl7pPr>
              <a:defRPr sz="1725" b="1">
                <a:solidFill>
                  <a:srgbClr val="17202A"/>
                </a:solidFill>
              </a:defRPr>
            </a:lvl7pPr>
            <a:lvl8pPr>
              <a:defRPr sz="1725" b="1">
                <a:solidFill>
                  <a:srgbClr val="17202A"/>
                </a:solidFill>
              </a:defRPr>
            </a:lvl8pPr>
            <a:lvl9pPr>
              <a:defRPr sz="1725" b="1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7202A"/>
                </a:solidFill>
              </a:defRPr>
            </a:pPr>
            <a:r>
              <a:rPr sz="1725" b="1">
                <a:solidFill>
                  <a:srgbClr val="17202A"/>
                </a:solidFill>
              </a:rPr>
              <a:t>NV5 dùng scripts/evaluate_models.py để kiểm tra hai prediction CSV có cùng sample ID và ground truth.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FAB93-811A-4DBF-9B59-D913BD26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F5597"/>
                </a:solidFill>
              </a:defRPr>
            </a:defPPr>
            <a:lvl1pPr>
              <a:defRPr sz="1650" b="1">
                <a:solidFill>
                  <a:srgbClr val="2F5597"/>
                </a:solidFill>
              </a:defRPr>
            </a:lvl1pPr>
            <a:lvl2pPr>
              <a:defRPr sz="1650" b="1">
                <a:solidFill>
                  <a:srgbClr val="2F5597"/>
                </a:solidFill>
              </a:defRPr>
            </a:lvl2pPr>
            <a:lvl3pPr>
              <a:defRPr sz="1650" b="1">
                <a:solidFill>
                  <a:srgbClr val="2F5597"/>
                </a:solidFill>
              </a:defRPr>
            </a:lvl3pPr>
            <a:lvl4pPr>
              <a:defRPr sz="1650" b="1">
                <a:solidFill>
                  <a:srgbClr val="2F5597"/>
                </a:solidFill>
              </a:defRPr>
            </a:lvl4pPr>
            <a:lvl5pPr>
              <a:defRPr sz="1650" b="1">
                <a:solidFill>
                  <a:srgbClr val="2F5597"/>
                </a:solidFill>
              </a:defRPr>
            </a:lvl5pPr>
            <a:lvl6pPr>
              <a:defRPr sz="1650" b="1">
                <a:solidFill>
                  <a:srgbClr val="2F5597"/>
                </a:solidFill>
              </a:defRPr>
            </a:lvl6pPr>
            <a:lvl7pPr>
              <a:defRPr sz="1650" b="1">
                <a:solidFill>
                  <a:srgbClr val="2F5597"/>
                </a:solidFill>
              </a:defRPr>
            </a:lvl7pPr>
            <a:lvl8pPr>
              <a:defRPr sz="1650" b="1">
                <a:solidFill>
                  <a:srgbClr val="2F5597"/>
                </a:solidFill>
              </a:defRPr>
            </a:lvl8pPr>
            <a:lvl9pPr>
              <a:defRPr sz="165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F5597"/>
                </a:solidFill>
              </a:defRPr>
            </a:pPr>
            <a:r>
              <a:rPr sz="1650" b="1">
                <a:solidFill>
                  <a:srgbClr val="2F5597"/>
                </a:solidFill>
              </a:rPr>
              <a:t>Chỉ đánh giá Test sau khi checkpoint đã được chọn bằng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95588-398E-4A79-BDD0-4FE483FA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Metrics cần báo cáo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4CAC5-E5C4-40DB-9EF8-DE4A17B4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Accuracy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Macro Precision / Recall / F1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F1 từng lớp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Số tham số và thời gian đo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BD8A5-25AF-4D4A-96AD-A036837B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671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Nguồn số liệu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637D3-4CEF-4C93-A119-9446CFF5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202A"/>
                </a:solidFill>
              </a:defRPr>
            </a:defPPr>
            <a:lvl1pPr>
              <a:defRPr sz="1575" b="0">
                <a:solidFill>
                  <a:srgbClr val="17202A"/>
                </a:solidFill>
              </a:defRPr>
            </a:lvl1pPr>
            <a:lvl2pPr>
              <a:defRPr sz="1575" b="0">
                <a:solidFill>
                  <a:srgbClr val="17202A"/>
                </a:solidFill>
              </a:defRPr>
            </a:lvl2pPr>
            <a:lvl3pPr>
              <a:defRPr sz="1575" b="0">
                <a:solidFill>
                  <a:srgbClr val="17202A"/>
                </a:solidFill>
              </a:defRPr>
            </a:lvl3pPr>
            <a:lvl4pPr>
              <a:defRPr sz="1575" b="0">
                <a:solidFill>
                  <a:srgbClr val="17202A"/>
                </a:solidFill>
              </a:defRPr>
            </a:lvl4pPr>
            <a:lvl5pPr>
              <a:defRPr sz="1575" b="0">
                <a:solidFill>
                  <a:srgbClr val="17202A"/>
                </a:solidFill>
              </a:defRPr>
            </a:lvl5pPr>
            <a:lvl6pPr>
              <a:defRPr sz="1575" b="0">
                <a:solidFill>
                  <a:srgbClr val="17202A"/>
                </a:solidFill>
              </a:defRPr>
            </a:lvl6pPr>
            <a:lvl7pPr>
              <a:defRPr sz="1575" b="0">
                <a:solidFill>
                  <a:srgbClr val="17202A"/>
                </a:solidFill>
              </a:defRPr>
            </a:lvl7pPr>
            <a:lvl8pPr>
              <a:defRPr sz="1575" b="0">
                <a:solidFill>
                  <a:srgbClr val="17202A"/>
                </a:solidFill>
              </a:defRPr>
            </a:lvl8pPr>
            <a:lvl9pPr>
              <a:defRPr sz="1575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results/comparison.csv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results/analysis.md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Hai confusion matrix</a:t>
            </a:r>
          </a:p>
          <a:p xmlns:a="http://schemas.openxmlformats.org/drawingml/2006/main">
            <a:pPr>
              <a:defRPr sz="1575" b="0">
                <a:solidFill>
                  <a:srgbClr val="17202A"/>
                </a:solidFill>
              </a:defRPr>
            </a:pPr>
            <a:r>
              <a:rPr sz="1575" b="0">
                <a:solidFill>
                  <a:srgbClr val="17202A"/>
                </a:solidFill>
              </a:rPr>
              <a:t>Prediction CSV và metadata checkpoint</a:t>
            </a:r>
          </a:p>
        </p:txBody>
      </p:sp>
    </p:spTree>
    <p:extLst>
      <p:ext uri="{BB962C8B-B14F-4D97-AF65-F5344CB8AC3E}">
        <p14:creationId xmlns:p14="http://schemas.microsoft.com/office/powerpoint/2010/main" val="16217801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F4E82-C701-4C14-8A75-9B87C3EC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995E5-3E44-4881-9BC3-D2956D77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Kết quả so sánh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2F547-6FC9-497C-A242-D5F44194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Bản khung NV5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A1A79-D7D7-4671-A277-41025672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5B6573"/>
                </a:solidFill>
              </a:defRPr>
            </a:defPPr>
            <a:lvl1pPr>
              <a:defRPr sz="1800" b="1">
                <a:solidFill>
                  <a:srgbClr val="5B6573"/>
                </a:solidFill>
              </a:defRPr>
            </a:lvl1pPr>
            <a:lvl2pPr>
              <a:defRPr sz="1800" b="1">
                <a:solidFill>
                  <a:srgbClr val="5B6573"/>
                </a:solidFill>
              </a:defRPr>
            </a:lvl2pPr>
            <a:lvl3pPr>
              <a:defRPr sz="1800" b="1">
                <a:solidFill>
                  <a:srgbClr val="5B6573"/>
                </a:solidFill>
              </a:defRPr>
            </a:lvl3pPr>
            <a:lvl4pPr>
              <a:defRPr sz="1800" b="1">
                <a:solidFill>
                  <a:srgbClr val="5B6573"/>
                </a:solidFill>
              </a:defRPr>
            </a:lvl4pPr>
            <a:lvl5pPr>
              <a:defRPr sz="1800" b="1">
                <a:solidFill>
                  <a:srgbClr val="5B6573"/>
                </a:solidFill>
              </a:defRPr>
            </a:lvl5pPr>
            <a:lvl6pPr>
              <a:defRPr sz="1800" b="1">
                <a:solidFill>
                  <a:srgbClr val="5B6573"/>
                </a:solidFill>
              </a:defRPr>
            </a:lvl6pPr>
            <a:lvl7pPr>
              <a:defRPr sz="1800" b="1">
                <a:solidFill>
                  <a:srgbClr val="5B6573"/>
                </a:solidFill>
              </a:defRPr>
            </a:lvl7pPr>
            <a:lvl8pPr>
              <a:defRPr sz="1800" b="1">
                <a:solidFill>
                  <a:srgbClr val="5B6573"/>
                </a:solidFill>
              </a:defRPr>
            </a:lvl8pPr>
            <a:lvl9pPr>
              <a:defRPr sz="1800" b="1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5B6573"/>
                </a:solidFill>
              </a:defRPr>
            </a:pPr>
            <a:r>
              <a:rPr sz="1800" b="1">
                <a:solidFill>
                  <a:srgbClr val="5B6573"/>
                </a:solidFill>
              </a:rPr>
              <a:t>[Chèn bảng results/comparison.csv sau khi có prediction CSV thật]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0F6BB-E381-4F0C-9023-6C695476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CNN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5B616-8395-447D-8B9B-4069EF8C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Accuracy: [điền]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Macro F1: [điền]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Tham số: [điền]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9E68C-BB61-46BD-93CA-6AADD888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F5597"/>
                </a:solidFill>
              </a:defRPr>
            </a:defPPr>
            <a:lvl1pPr>
              <a:defRPr sz="1800" b="1">
                <a:solidFill>
                  <a:srgbClr val="2F5597"/>
                </a:solidFill>
              </a:defRPr>
            </a:lvl1pPr>
            <a:lvl2pPr>
              <a:defRPr sz="1800" b="1">
                <a:solidFill>
                  <a:srgbClr val="2F5597"/>
                </a:solidFill>
              </a:defRPr>
            </a:lvl2pPr>
            <a:lvl3pPr>
              <a:defRPr sz="1800" b="1">
                <a:solidFill>
                  <a:srgbClr val="2F5597"/>
                </a:solidFill>
              </a:defRPr>
            </a:lvl3pPr>
            <a:lvl4pPr>
              <a:defRPr sz="1800" b="1">
                <a:solidFill>
                  <a:srgbClr val="2F5597"/>
                </a:solidFill>
              </a:defRPr>
            </a:lvl4pPr>
            <a:lvl5pPr>
              <a:defRPr sz="1800" b="1">
                <a:solidFill>
                  <a:srgbClr val="2F5597"/>
                </a:solidFill>
              </a:defRPr>
            </a:lvl5pPr>
            <a:lvl6pPr>
              <a:defRPr sz="1800" b="1">
                <a:solidFill>
                  <a:srgbClr val="2F5597"/>
                </a:solidFill>
              </a:defRPr>
            </a:lvl6pPr>
            <a:lvl7pPr>
              <a:defRPr sz="1800" b="1">
                <a:solidFill>
                  <a:srgbClr val="2F5597"/>
                </a:solidFill>
              </a:defRPr>
            </a:lvl7pPr>
            <a:lvl8pPr>
              <a:defRPr sz="1800" b="1">
                <a:solidFill>
                  <a:srgbClr val="2F5597"/>
                </a:solidFill>
              </a:defRPr>
            </a:lvl8pPr>
            <a:lvl9pPr>
              <a:defRPr sz="1800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2F5597"/>
                </a:solidFill>
              </a:defRPr>
            </a:pPr>
            <a:r>
              <a:rPr sz="1800" b="1">
                <a:solidFill>
                  <a:srgbClr val="2F5597"/>
                </a:solidFill>
              </a:rPr>
              <a:t>ResNet18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E47C3-4B33-4BE3-B5DD-5CD9B353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Accuracy: [điền]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Macro F1: [điền]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Tham số: [điền]</a:t>
            </a:r>
          </a:p>
        </p:txBody>
      </p:sp>
    </p:spTree>
    <p:extLst>
      <p:ext uri="{BB962C8B-B14F-4D97-AF65-F5344CB8AC3E}">
        <p14:creationId xmlns:p14="http://schemas.microsoft.com/office/powerpoint/2010/main" val="7837731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EE269-3C45-45C0-A3A3-8EC8B2B1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55767-1BEB-45A3-9A5C-B9459CF5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Phân tích nhầm lẫn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2B3B6-2211-4A95-B1A7-1D1B648F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Bản khung NV5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0FB56-093A-4B3A-94DB-895ACA74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5B6573"/>
                </a:solidFill>
              </a:defRPr>
            </a:defPPr>
            <a:lvl1pPr>
              <a:defRPr sz="1875" b="1">
                <a:solidFill>
                  <a:srgbClr val="5B6573"/>
                </a:solidFill>
              </a:defRPr>
            </a:lvl1pPr>
            <a:lvl2pPr>
              <a:defRPr sz="1875" b="1">
                <a:solidFill>
                  <a:srgbClr val="5B6573"/>
                </a:solidFill>
              </a:defRPr>
            </a:lvl2pPr>
            <a:lvl3pPr>
              <a:defRPr sz="1875" b="1">
                <a:solidFill>
                  <a:srgbClr val="5B6573"/>
                </a:solidFill>
              </a:defRPr>
            </a:lvl3pPr>
            <a:lvl4pPr>
              <a:defRPr sz="1875" b="1">
                <a:solidFill>
                  <a:srgbClr val="5B6573"/>
                </a:solidFill>
              </a:defRPr>
            </a:lvl4pPr>
            <a:lvl5pPr>
              <a:defRPr sz="1875" b="1">
                <a:solidFill>
                  <a:srgbClr val="5B6573"/>
                </a:solidFill>
              </a:defRPr>
            </a:lvl5pPr>
            <a:lvl6pPr>
              <a:defRPr sz="1875" b="1">
                <a:solidFill>
                  <a:srgbClr val="5B6573"/>
                </a:solidFill>
              </a:defRPr>
            </a:lvl6pPr>
            <a:lvl7pPr>
              <a:defRPr sz="1875" b="1">
                <a:solidFill>
                  <a:srgbClr val="5B6573"/>
                </a:solidFill>
              </a:defRPr>
            </a:lvl7pPr>
            <a:lvl8pPr>
              <a:defRPr sz="1875" b="1">
                <a:solidFill>
                  <a:srgbClr val="5B6573"/>
                </a:solidFill>
              </a:defRPr>
            </a:lvl8pPr>
            <a:lvl9pPr>
              <a:defRPr sz="1875" b="1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B6573"/>
                </a:solidFill>
              </a:defRPr>
            </a:pPr>
            <a:r>
              <a:rPr sz="1875" b="1">
                <a:solidFill>
                  <a:srgbClr val="5B6573"/>
                </a:solidFill>
              </a:rPr>
              <a:t>[Chèn confusion matrix CNN]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0BE23-6EFF-42D2-AEA5-15E6F3A1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5B6573"/>
                </a:solidFill>
              </a:defRPr>
            </a:defPPr>
            <a:lvl1pPr>
              <a:defRPr sz="1875" b="1">
                <a:solidFill>
                  <a:srgbClr val="5B6573"/>
                </a:solidFill>
              </a:defRPr>
            </a:lvl1pPr>
            <a:lvl2pPr>
              <a:defRPr sz="1875" b="1">
                <a:solidFill>
                  <a:srgbClr val="5B6573"/>
                </a:solidFill>
              </a:defRPr>
            </a:lvl2pPr>
            <a:lvl3pPr>
              <a:defRPr sz="1875" b="1">
                <a:solidFill>
                  <a:srgbClr val="5B6573"/>
                </a:solidFill>
              </a:defRPr>
            </a:lvl3pPr>
            <a:lvl4pPr>
              <a:defRPr sz="1875" b="1">
                <a:solidFill>
                  <a:srgbClr val="5B6573"/>
                </a:solidFill>
              </a:defRPr>
            </a:lvl4pPr>
            <a:lvl5pPr>
              <a:defRPr sz="1875" b="1">
                <a:solidFill>
                  <a:srgbClr val="5B6573"/>
                </a:solidFill>
              </a:defRPr>
            </a:lvl5pPr>
            <a:lvl6pPr>
              <a:defRPr sz="1875" b="1">
                <a:solidFill>
                  <a:srgbClr val="5B6573"/>
                </a:solidFill>
              </a:defRPr>
            </a:lvl6pPr>
            <a:lvl7pPr>
              <a:defRPr sz="1875" b="1">
                <a:solidFill>
                  <a:srgbClr val="5B6573"/>
                </a:solidFill>
              </a:defRPr>
            </a:lvl7pPr>
            <a:lvl8pPr>
              <a:defRPr sz="1875" b="1">
                <a:solidFill>
                  <a:srgbClr val="5B6573"/>
                </a:solidFill>
              </a:defRPr>
            </a:lvl8pPr>
            <a:lvl9pPr>
              <a:defRPr sz="1875" b="1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B6573"/>
                </a:solidFill>
              </a:defRPr>
            </a:pPr>
            <a:r>
              <a:rPr sz="1875" b="1">
                <a:solidFill>
                  <a:srgbClr val="5B6573"/>
                </a:solidFill>
              </a:rPr>
              <a:t>[Chèn confusion matrix ResNet18]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16D6D-EC97-464B-8EB1-E322DF3E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F5597"/>
                </a:solidFill>
              </a:defRPr>
            </a:defPPr>
            <a:lvl1pPr>
              <a:defRPr sz="1725" b="1">
                <a:solidFill>
                  <a:srgbClr val="2F5597"/>
                </a:solidFill>
              </a:defRPr>
            </a:lvl1pPr>
            <a:lvl2pPr>
              <a:defRPr sz="1725" b="1">
                <a:solidFill>
                  <a:srgbClr val="2F5597"/>
                </a:solidFill>
              </a:defRPr>
            </a:lvl2pPr>
            <a:lvl3pPr>
              <a:defRPr sz="1725" b="1">
                <a:solidFill>
                  <a:srgbClr val="2F5597"/>
                </a:solidFill>
              </a:defRPr>
            </a:lvl3pPr>
            <a:lvl4pPr>
              <a:defRPr sz="1725" b="1">
                <a:solidFill>
                  <a:srgbClr val="2F5597"/>
                </a:solidFill>
              </a:defRPr>
            </a:lvl4pPr>
            <a:lvl5pPr>
              <a:defRPr sz="1725" b="1">
                <a:solidFill>
                  <a:srgbClr val="2F5597"/>
                </a:solidFill>
              </a:defRPr>
            </a:lvl5pPr>
            <a:lvl6pPr>
              <a:defRPr sz="1725" b="1">
                <a:solidFill>
                  <a:srgbClr val="2F5597"/>
                </a:solidFill>
              </a:defRPr>
            </a:lvl6pPr>
            <a:lvl7pPr>
              <a:defRPr sz="1725" b="1">
                <a:solidFill>
                  <a:srgbClr val="2F5597"/>
                </a:solidFill>
              </a:defRPr>
            </a:lvl7pPr>
            <a:lvl8pPr>
              <a:defRPr sz="1725" b="1">
                <a:solidFill>
                  <a:srgbClr val="2F5597"/>
                </a:solidFill>
              </a:defRPr>
            </a:lvl8pPr>
            <a:lvl9pPr>
              <a:defRPr sz="172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F5597"/>
                </a:solidFill>
              </a:defRPr>
            </a:pPr>
            <a:r>
              <a:rPr sz="1725" b="1">
                <a:solidFill>
                  <a:srgbClr val="2F5597"/>
                </a:solidFill>
              </a:rPr>
              <a:t>Cặp lớp dễ nhầm: [điền từ results/analysis.md]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12A1B-93D0-41F1-B77E-65439FAD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7202A"/>
                </a:solidFill>
              </a:defRPr>
            </a:defPPr>
            <a:lvl1pPr>
              <a:defRPr sz="1500" b="0">
                <a:solidFill>
                  <a:srgbClr val="17202A"/>
                </a:solidFill>
              </a:defRPr>
            </a:lvl1pPr>
            <a:lvl2pPr>
              <a:defRPr sz="1500" b="0">
                <a:solidFill>
                  <a:srgbClr val="17202A"/>
                </a:solidFill>
              </a:defRPr>
            </a:lvl2pPr>
            <a:lvl3pPr>
              <a:defRPr sz="1500" b="0">
                <a:solidFill>
                  <a:srgbClr val="17202A"/>
                </a:solidFill>
              </a:defRPr>
            </a:lvl3pPr>
            <a:lvl4pPr>
              <a:defRPr sz="1500" b="0">
                <a:solidFill>
                  <a:srgbClr val="17202A"/>
                </a:solidFill>
              </a:defRPr>
            </a:lvl4pPr>
            <a:lvl5pPr>
              <a:defRPr sz="1500" b="0">
                <a:solidFill>
                  <a:srgbClr val="17202A"/>
                </a:solidFill>
              </a:defRPr>
            </a:lvl5pPr>
            <a:lvl6pPr>
              <a:defRPr sz="1500" b="0">
                <a:solidFill>
                  <a:srgbClr val="17202A"/>
                </a:solidFill>
              </a:defRPr>
            </a:lvl6pPr>
            <a:lvl7pPr>
              <a:defRPr sz="1500" b="0">
                <a:solidFill>
                  <a:srgbClr val="17202A"/>
                </a:solidFill>
              </a:defRPr>
            </a:lvl7pPr>
            <a:lvl8pPr>
              <a:defRPr sz="1500" b="0">
                <a:solidFill>
                  <a:srgbClr val="17202A"/>
                </a:solidFill>
              </a:defRPr>
            </a:lvl8pPr>
            <a:lvl9pPr>
              <a:defRPr sz="150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Ví dụ ảnh Test đúng/sai: [điền path và giải thích ngắn]</a:t>
            </a:r>
          </a:p>
        </p:txBody>
      </p:sp>
    </p:spTree>
    <p:extLst>
      <p:ext uri="{BB962C8B-B14F-4D97-AF65-F5344CB8AC3E}">
        <p14:creationId xmlns:p14="http://schemas.microsoft.com/office/powerpoint/2010/main" val="19074103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997FF-B8D3-4F0C-90C2-2CC47C1E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FC48-2BCF-48B4-B255-FF88386A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Demo và giới hạn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1B6E0-D35C-4979-9B89-4C49B6AB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Bản khung NV5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57A4D-FEB9-4C55-B388-D0A6FFCB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997A2-3711-465D-987D-7BF4B449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[Chèn ảnh màn hình Streamlit và lệnh chạy từ NV4]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4C96B-BB93-4C04-BF0D-43D759CE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Giới hạn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F8688-416B-43B2-92B5-B0E803FA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Không thay thế chuyên gia.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Ảnh ngoài miền có thể bị ép vào một lớp.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Chưa chứng minh phát hiện sớm.</a:t>
            </a:r>
          </a:p>
        </p:txBody>
      </p:sp>
    </p:spTree>
    <p:extLst>
      <p:ext uri="{BB962C8B-B14F-4D97-AF65-F5344CB8AC3E}">
        <p14:creationId xmlns:p14="http://schemas.microsoft.com/office/powerpoint/2010/main" val="3412860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E464F-BBBC-4860-98C1-610D6C6C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2F5597"/>
                </a:solidFill>
              </a:defRPr>
            </a:defPPr>
            <a:lvl1pPr>
              <a:defRPr sz="975" b="1">
                <a:solidFill>
                  <a:srgbClr val="2F5597"/>
                </a:solidFill>
              </a:defRPr>
            </a:lvl1pPr>
            <a:lvl2pPr>
              <a:defRPr sz="975" b="1">
                <a:solidFill>
                  <a:srgbClr val="2F5597"/>
                </a:solidFill>
              </a:defRPr>
            </a:lvl2pPr>
            <a:lvl3pPr>
              <a:defRPr sz="975" b="1">
                <a:solidFill>
                  <a:srgbClr val="2F5597"/>
                </a:solidFill>
              </a:defRPr>
            </a:lvl3pPr>
            <a:lvl4pPr>
              <a:defRPr sz="975" b="1">
                <a:solidFill>
                  <a:srgbClr val="2F5597"/>
                </a:solidFill>
              </a:defRPr>
            </a:lvl4pPr>
            <a:lvl5pPr>
              <a:defRPr sz="975" b="1">
                <a:solidFill>
                  <a:srgbClr val="2F5597"/>
                </a:solidFill>
              </a:defRPr>
            </a:lvl5pPr>
            <a:lvl6pPr>
              <a:defRPr sz="975" b="1">
                <a:solidFill>
                  <a:srgbClr val="2F5597"/>
                </a:solidFill>
              </a:defRPr>
            </a:lvl6pPr>
            <a:lvl7pPr>
              <a:defRPr sz="975" b="1">
                <a:solidFill>
                  <a:srgbClr val="2F5597"/>
                </a:solidFill>
              </a:defRPr>
            </a:lvl7pPr>
            <a:lvl8pPr>
              <a:defRPr sz="975" b="1">
                <a:solidFill>
                  <a:srgbClr val="2F5597"/>
                </a:solidFill>
              </a:defRPr>
            </a:lvl8pPr>
            <a:lvl9pPr>
              <a:defRPr sz="9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2F5597"/>
                </a:solidFill>
              </a:defRPr>
            </a:pPr>
            <a:r>
              <a:rPr sz="975" b="1">
                <a:solidFill>
                  <a:srgbClr val="2F5597"/>
                </a:solidFill>
              </a:rPr>
              <a:t>NHẬN DIỆN BỆNH LÁ CÀ CHUA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FD031-CDA2-4B52-9083-3D5D9B69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4E79"/>
                </a:solidFill>
              </a:defRPr>
            </a:defPPr>
            <a:lvl1pPr>
              <a:defRPr sz="2550" b="1">
                <a:solidFill>
                  <a:srgbClr val="1F4E79"/>
                </a:solidFill>
              </a:defRPr>
            </a:lvl1pPr>
            <a:lvl2pPr>
              <a:defRPr sz="2550" b="1">
                <a:solidFill>
                  <a:srgbClr val="1F4E79"/>
                </a:solidFill>
              </a:defRPr>
            </a:lvl2pPr>
            <a:lvl3pPr>
              <a:defRPr sz="2550" b="1">
                <a:solidFill>
                  <a:srgbClr val="1F4E79"/>
                </a:solidFill>
              </a:defRPr>
            </a:lvl3pPr>
            <a:lvl4pPr>
              <a:defRPr sz="2550" b="1">
                <a:solidFill>
                  <a:srgbClr val="1F4E79"/>
                </a:solidFill>
              </a:defRPr>
            </a:lvl4pPr>
            <a:lvl5pPr>
              <a:defRPr sz="2550" b="1">
                <a:solidFill>
                  <a:srgbClr val="1F4E79"/>
                </a:solidFill>
              </a:defRPr>
            </a:lvl5pPr>
            <a:lvl6pPr>
              <a:defRPr sz="2550" b="1">
                <a:solidFill>
                  <a:srgbClr val="1F4E79"/>
                </a:solidFill>
              </a:defRPr>
            </a:lvl6pPr>
            <a:lvl7pPr>
              <a:defRPr sz="2550" b="1">
                <a:solidFill>
                  <a:srgbClr val="1F4E79"/>
                </a:solidFill>
              </a:defRPr>
            </a:lvl7pPr>
            <a:lvl8pPr>
              <a:defRPr sz="2550" b="1">
                <a:solidFill>
                  <a:srgbClr val="1F4E79"/>
                </a:solidFill>
              </a:defRPr>
            </a:lvl8pPr>
            <a:lvl9pPr>
              <a:defRPr sz="2550" b="1">
                <a:solidFill>
                  <a:srgbClr val="1F4E7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Kết luận và hướng phát triển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385B1-1B2B-4A37-BE3C-DD8A5FDA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573"/>
                </a:solidFill>
              </a:defRPr>
            </a:defPPr>
            <a:lvl1pPr>
              <a:defRPr sz="825" b="0">
                <a:solidFill>
                  <a:srgbClr val="5B6573"/>
                </a:solidFill>
              </a:defRPr>
            </a:lvl1pPr>
            <a:lvl2pPr>
              <a:defRPr sz="825" b="0">
                <a:solidFill>
                  <a:srgbClr val="5B6573"/>
                </a:solidFill>
              </a:defRPr>
            </a:lvl2pPr>
            <a:lvl3pPr>
              <a:defRPr sz="825" b="0">
                <a:solidFill>
                  <a:srgbClr val="5B6573"/>
                </a:solidFill>
              </a:defRPr>
            </a:lvl3pPr>
            <a:lvl4pPr>
              <a:defRPr sz="825" b="0">
                <a:solidFill>
                  <a:srgbClr val="5B6573"/>
                </a:solidFill>
              </a:defRPr>
            </a:lvl4pPr>
            <a:lvl5pPr>
              <a:defRPr sz="825" b="0">
                <a:solidFill>
                  <a:srgbClr val="5B6573"/>
                </a:solidFill>
              </a:defRPr>
            </a:lvl5pPr>
            <a:lvl6pPr>
              <a:defRPr sz="825" b="0">
                <a:solidFill>
                  <a:srgbClr val="5B6573"/>
                </a:solidFill>
              </a:defRPr>
            </a:lvl6pPr>
            <a:lvl7pPr>
              <a:defRPr sz="825" b="0">
                <a:solidFill>
                  <a:srgbClr val="5B6573"/>
                </a:solidFill>
              </a:defRPr>
            </a:lvl7pPr>
            <a:lvl8pPr>
              <a:defRPr sz="825" b="0">
                <a:solidFill>
                  <a:srgbClr val="5B6573"/>
                </a:solidFill>
              </a:defRPr>
            </a:lvl8pPr>
            <a:lvl9pPr>
              <a:defRPr sz="825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B6573"/>
                </a:solidFill>
              </a:defRPr>
            </a:pPr>
            <a:r>
              <a:rPr sz="825" b="0">
                <a:solidFill>
                  <a:srgbClr val="5B6573"/>
                </a:solidFill>
              </a:rPr>
              <a:t>Nhóm 4 · Học máy và Khai phá dữ liệu · Bản khung NV5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68C48-ED4A-4F98-9E35-330FEDF6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Kết luận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1F039-AEA9-4522-B2CB-698610E3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[Tóm tắt mô hình phù hợp hơn dựa trên số liệu thật và điều kiện đo]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C250D-6F94-431F-899A-599F072A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F5597"/>
                </a:solidFill>
              </a:defRPr>
            </a:defPPr>
            <a:lvl1pPr>
              <a:defRPr sz="1875" b="1">
                <a:solidFill>
                  <a:srgbClr val="2F5597"/>
                </a:solidFill>
              </a:defRPr>
            </a:lvl1pPr>
            <a:lvl2pPr>
              <a:defRPr sz="1875" b="1">
                <a:solidFill>
                  <a:srgbClr val="2F5597"/>
                </a:solidFill>
              </a:defRPr>
            </a:lvl2pPr>
            <a:lvl3pPr>
              <a:defRPr sz="1875" b="1">
                <a:solidFill>
                  <a:srgbClr val="2F5597"/>
                </a:solidFill>
              </a:defRPr>
            </a:lvl3pPr>
            <a:lvl4pPr>
              <a:defRPr sz="1875" b="1">
                <a:solidFill>
                  <a:srgbClr val="2F5597"/>
                </a:solidFill>
              </a:defRPr>
            </a:lvl4pPr>
            <a:lvl5pPr>
              <a:defRPr sz="1875" b="1">
                <a:solidFill>
                  <a:srgbClr val="2F5597"/>
                </a:solidFill>
              </a:defRPr>
            </a:lvl5pPr>
            <a:lvl6pPr>
              <a:defRPr sz="1875" b="1">
                <a:solidFill>
                  <a:srgbClr val="2F5597"/>
                </a:solidFill>
              </a:defRPr>
            </a:lvl6pPr>
            <a:lvl7pPr>
              <a:defRPr sz="1875" b="1">
                <a:solidFill>
                  <a:srgbClr val="2F5597"/>
                </a:solidFill>
              </a:defRPr>
            </a:lvl7pPr>
            <a:lvl8pPr>
              <a:defRPr sz="1875" b="1">
                <a:solidFill>
                  <a:srgbClr val="2F5597"/>
                </a:solidFill>
              </a:defRPr>
            </a:lvl8pPr>
            <a:lvl9pPr>
              <a:defRPr sz="1875" b="1">
                <a:solidFill>
                  <a:srgbClr val="2F5597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597"/>
                </a:solidFill>
              </a:defRPr>
            </a:pPr>
            <a:r>
              <a:rPr sz="1875" b="1">
                <a:solidFill>
                  <a:srgbClr val="2F5597"/>
                </a:solidFill>
              </a:rPr>
              <a:t>Hướng phát triển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058A5-F3E0-4CEF-9F6E-F140CE3A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7202A"/>
                </a:solidFill>
              </a:defRPr>
            </a:defPPr>
            <a:lvl1pPr>
              <a:defRPr sz="1650" b="0">
                <a:solidFill>
                  <a:srgbClr val="17202A"/>
                </a:solidFill>
              </a:defRPr>
            </a:lvl1pPr>
            <a:lvl2pPr>
              <a:defRPr sz="1650" b="0">
                <a:solidFill>
                  <a:srgbClr val="17202A"/>
                </a:solidFill>
              </a:defRPr>
            </a:lvl2pPr>
            <a:lvl3pPr>
              <a:defRPr sz="1650" b="0">
                <a:solidFill>
                  <a:srgbClr val="17202A"/>
                </a:solidFill>
              </a:defRPr>
            </a:lvl3pPr>
            <a:lvl4pPr>
              <a:defRPr sz="1650" b="0">
                <a:solidFill>
                  <a:srgbClr val="17202A"/>
                </a:solidFill>
              </a:defRPr>
            </a:lvl4pPr>
            <a:lvl5pPr>
              <a:defRPr sz="1650" b="0">
                <a:solidFill>
                  <a:srgbClr val="17202A"/>
                </a:solidFill>
              </a:defRPr>
            </a:lvl5pPr>
            <a:lvl6pPr>
              <a:defRPr sz="1650" b="0">
                <a:solidFill>
                  <a:srgbClr val="17202A"/>
                </a:solidFill>
              </a:defRPr>
            </a:lvl6pPr>
            <a:lvl7pPr>
              <a:defRPr sz="1650" b="0">
                <a:solidFill>
                  <a:srgbClr val="17202A"/>
                </a:solidFill>
              </a:defRPr>
            </a:lvl7pPr>
            <a:lvl8pPr>
              <a:defRPr sz="1650" b="0">
                <a:solidFill>
                  <a:srgbClr val="17202A"/>
                </a:solidFill>
              </a:defRPr>
            </a:lvl8pPr>
            <a:lvl9pPr>
              <a:defRPr sz="1650" b="0">
                <a:solidFill>
                  <a:srgbClr val="17202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Bổ sung ảnh thực địa.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Kiểm tra độ tin cậy và calibration.</a:t>
            </a:r>
          </a:p>
          <a:p xmlns:a="http://schemas.openxmlformats.org/drawingml/2006/main">
            <a:pPr>
              <a:defRPr sz="1650" b="0">
                <a:solidFill>
                  <a:srgbClr val="17202A"/>
                </a:solidFill>
              </a:defRPr>
            </a:pPr>
            <a:r>
              <a:rPr sz="1650" b="0">
                <a:solidFill>
                  <a:srgbClr val="17202A"/>
                </a:solidFill>
              </a:rPr>
              <a:t>Đánh giá bệnh mới chớm khi có dataset phù hợp.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F322C0-D481-4A23-9CAC-FFF2352D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B6573"/>
                </a:solidFill>
              </a:defRPr>
            </a:defPPr>
            <a:lvl1pPr>
              <a:defRPr sz="1350" b="0">
                <a:solidFill>
                  <a:srgbClr val="5B6573"/>
                </a:solidFill>
              </a:defRPr>
            </a:lvl1pPr>
            <a:lvl2pPr>
              <a:defRPr sz="1350" b="0">
                <a:solidFill>
                  <a:srgbClr val="5B6573"/>
                </a:solidFill>
              </a:defRPr>
            </a:lvl2pPr>
            <a:lvl3pPr>
              <a:defRPr sz="1350" b="0">
                <a:solidFill>
                  <a:srgbClr val="5B6573"/>
                </a:solidFill>
              </a:defRPr>
            </a:lvl3pPr>
            <a:lvl4pPr>
              <a:defRPr sz="1350" b="0">
                <a:solidFill>
                  <a:srgbClr val="5B6573"/>
                </a:solidFill>
              </a:defRPr>
            </a:lvl4pPr>
            <a:lvl5pPr>
              <a:defRPr sz="1350" b="0">
                <a:solidFill>
                  <a:srgbClr val="5B6573"/>
                </a:solidFill>
              </a:defRPr>
            </a:lvl5pPr>
            <a:lvl6pPr>
              <a:defRPr sz="1350" b="0">
                <a:solidFill>
                  <a:srgbClr val="5B6573"/>
                </a:solidFill>
              </a:defRPr>
            </a:lvl6pPr>
            <a:lvl7pPr>
              <a:defRPr sz="1350" b="0">
                <a:solidFill>
                  <a:srgbClr val="5B6573"/>
                </a:solidFill>
              </a:defRPr>
            </a:lvl7pPr>
            <a:lvl8pPr>
              <a:defRPr sz="1350" b="0">
                <a:solidFill>
                  <a:srgbClr val="5B6573"/>
                </a:solidFill>
              </a:defRPr>
            </a:lvl8pPr>
            <a:lvl9pPr>
              <a:defRPr sz="1350" b="0">
                <a:solidFill>
                  <a:srgbClr val="5B657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B6573"/>
                </a:solidFill>
              </a:defRPr>
            </a:pPr>
            <a:r>
              <a:rPr sz="1350" b="0">
                <a:solidFill>
                  <a:srgbClr val="5B6573"/>
                </a:solidFill>
              </a:rPr>
              <a:t>Câu hỏi phản biện: xem docs/NV5_DEFENSE_QA.md</a:t>
            </a:r>
          </a:p>
        </p:txBody>
      </p:sp>
    </p:spTree>
    <p:extLst>
      <p:ext uri="{BB962C8B-B14F-4D97-AF65-F5344CB8AC3E}">
        <p14:creationId xmlns:p14="http://schemas.microsoft.com/office/powerpoint/2010/main" val="302509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2026-10-28T02:18:41.7930000Z</dcterms:created>
  <dcterms:modified xsi:type="dcterms:W3CDTF">2026-10-28T02:18:41.7930000Z</dcterms:modified>
</coreProperties>
</file>