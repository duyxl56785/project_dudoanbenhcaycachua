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f7962ef8484fe6" /><Relationship Type="http://schemas.openxmlformats.org/officeDocument/2006/relationships/extended-properties" Target="/docProps/app.xml" Id="R023c9dd1a486433f" /><Relationship Type="http://schemas.openxmlformats.org/officeDocument/2006/relationships/officeDocument" Target="/ppt/presentation.xml" Id="R3a1e17428181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14eb0efa6b4227"/>
  </p:sldMasterIdLst>
  <p:notesMasterIdLst>
    <p:notesMasterId xmlns:r="http://schemas.openxmlformats.org/officeDocument/2006/relationships" r:id="Rc55d3dbcf7114b16"/>
  </p:notesMasterIdLst>
  <p:sldIdLst>
    <p:sldId xmlns:r="http://schemas.openxmlformats.org/officeDocument/2006/relationships" id="256" r:id="R3e68854a00ca4383"/>
    <p:sldId xmlns:r="http://schemas.openxmlformats.org/officeDocument/2006/relationships" id="257" r:id="Rc7d2296298af4c9f"/>
    <p:sldId xmlns:r="http://schemas.openxmlformats.org/officeDocument/2006/relationships" id="258" r:id="Rcbecac5714f8485d"/>
    <p:sldId xmlns:r="http://schemas.openxmlformats.org/officeDocument/2006/relationships" id="259" r:id="R4349295d57df4314"/>
    <p:sldId xmlns:r="http://schemas.openxmlformats.org/officeDocument/2006/relationships" id="260" r:id="R2aa125c4c6324176"/>
    <p:sldId xmlns:r="http://schemas.openxmlformats.org/officeDocument/2006/relationships" id="261" r:id="R6a4446ce58b44f42"/>
    <p:sldId xmlns:r="http://schemas.openxmlformats.org/officeDocument/2006/relationships" id="262" r:id="R0184fdf9cb49455e"/>
    <p:sldId xmlns:r="http://schemas.openxmlformats.org/officeDocument/2006/relationships" id="263" r:id="Ra09e5861b6594ae4"/>
    <p:sldId xmlns:r="http://schemas.openxmlformats.org/officeDocument/2006/relationships" id="264" r:id="R196314c438184b85"/>
    <p:sldId xmlns:r="http://schemas.openxmlformats.org/officeDocument/2006/relationships" id="265" r:id="R52d81cb3801949d3"/>
    <p:sldId xmlns:r="http://schemas.openxmlformats.org/officeDocument/2006/relationships" id="266" r:id="R838bd052d78a44c1"/>
    <p:sldId xmlns:r="http://schemas.openxmlformats.org/officeDocument/2006/relationships" id="267" r:id="R6736fb9e0d714b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bf56fdd4074a94" /><Relationship Type="http://schemas.openxmlformats.org/officeDocument/2006/relationships/slideMaster" Target="/ppt/slideMasters/slideMaster1.xml" Id="Rc414eb0efa6b4227" /><Relationship Type="http://schemas.openxmlformats.org/officeDocument/2006/relationships/notesMaster" Target="/ppt/notesMasters/notesMaster1.xml" Id="Rc55d3dbcf7114b16" /><Relationship Type="http://schemas.openxmlformats.org/officeDocument/2006/relationships/presProps" Target="/ppt/presProps.xml" Id="R53a7c2861b264047" /><Relationship Type="http://schemas.openxmlformats.org/officeDocument/2006/relationships/tableStyles" Target="/ppt/tableStyles.xml" Id="R224c5e76d3de4f27" /><Relationship Type="http://schemas.openxmlformats.org/officeDocument/2006/relationships/slide" Target="/ppt/slides/slide1.xml" Id="R3e68854a00ca4383" /><Relationship Type="http://schemas.openxmlformats.org/officeDocument/2006/relationships/slide" Target="/ppt/slides/slide2.xml" Id="Rc7d2296298af4c9f" /><Relationship Type="http://schemas.openxmlformats.org/officeDocument/2006/relationships/slide" Target="/ppt/slides/slide3.xml" Id="Rcbecac5714f8485d" /><Relationship Type="http://schemas.openxmlformats.org/officeDocument/2006/relationships/slide" Target="/ppt/slides/slide4.xml" Id="R4349295d57df4314" /><Relationship Type="http://schemas.openxmlformats.org/officeDocument/2006/relationships/slide" Target="/ppt/slides/slide5.xml" Id="R2aa125c4c6324176" /><Relationship Type="http://schemas.openxmlformats.org/officeDocument/2006/relationships/slide" Target="/ppt/slides/slide6.xml" Id="R6a4446ce58b44f42" /><Relationship Type="http://schemas.openxmlformats.org/officeDocument/2006/relationships/slide" Target="/ppt/slides/slide7.xml" Id="R0184fdf9cb49455e" /><Relationship Type="http://schemas.openxmlformats.org/officeDocument/2006/relationships/slide" Target="/ppt/slides/slide8.xml" Id="Ra09e5861b6594ae4" /><Relationship Type="http://schemas.openxmlformats.org/officeDocument/2006/relationships/slide" Target="/ppt/slides/slide9.xml" Id="R196314c438184b85" /><Relationship Type="http://schemas.openxmlformats.org/officeDocument/2006/relationships/slide" Target="/ppt/slides/slide10.xml" Id="R52d81cb3801949d3" /><Relationship Type="http://schemas.openxmlformats.org/officeDocument/2006/relationships/slide" Target="/ppt/slides/slide11.xml" Id="R838bd052d78a44c1" /><Relationship Type="http://schemas.openxmlformats.org/officeDocument/2006/relationships/slide" Target="/ppt/slides/slide12.xml" Id="R6736fb9e0d714b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b159d7772248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2e17d0ef548b7" /><Relationship Type="http://schemas.openxmlformats.org/officeDocument/2006/relationships/notesMaster" Target="/ppt/notesMasters/notesMaster1.xml" Id="Rc5a734979a58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4a9e77a8745b1" /><Relationship Type="http://schemas.openxmlformats.org/officeDocument/2006/relationships/notesMaster" Target="/ppt/notesMasters/notesMaster1.xml" Id="R4f180397a34f41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a103678155457a" /><Relationship Type="http://schemas.openxmlformats.org/officeDocument/2006/relationships/notesMaster" Target="/ppt/notesMasters/notesMaster1.xml" Id="R16c8d295f56e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71a35f6654986" /><Relationship Type="http://schemas.openxmlformats.org/officeDocument/2006/relationships/notesMaster" Target="/ppt/notesMasters/notesMaster1.xml" Id="R2a78c474b6734a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7ea0c84a8d4708" /><Relationship Type="http://schemas.openxmlformats.org/officeDocument/2006/relationships/notesMaster" Target="/ppt/notesMasters/notesMaster1.xml" Id="Rd6f4ee69f7e749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14e8f5c4da409c" /><Relationship Type="http://schemas.openxmlformats.org/officeDocument/2006/relationships/notesMaster" Target="/ppt/notesMasters/notesMaster1.xml" Id="R048c062765d445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a18b2558684147" /><Relationship Type="http://schemas.openxmlformats.org/officeDocument/2006/relationships/notesMaster" Target="/ppt/notesMasters/notesMaster1.xml" Id="R18bb502c72c648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7fe0eb624c4ccb" /><Relationship Type="http://schemas.openxmlformats.org/officeDocument/2006/relationships/notesMaster" Target="/ppt/notesMasters/notesMaster1.xml" Id="Rf617a00479f044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b5d23234304e58" /><Relationship Type="http://schemas.openxmlformats.org/officeDocument/2006/relationships/notesMaster" Target="/ppt/notesMasters/notesMaster1.xml" Id="R725ee5a848b94e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46c751a35d4dca" /><Relationship Type="http://schemas.openxmlformats.org/officeDocument/2006/relationships/notesMaster" Target="/ppt/notesMasters/notesMaster1.xml" Id="R55009899c40743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c26a5c513d4e9f" /><Relationship Type="http://schemas.openxmlformats.org/officeDocument/2006/relationships/notesMaster" Target="/ppt/notesMasters/notesMaster1.xml" Id="R36a13e74c9df42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43064aae9a4588" /><Relationship Type="http://schemas.openxmlformats.org/officeDocument/2006/relationships/notesMaster" Target="/ppt/notesMasters/notesMaster1.xml" Id="R1769c2854c6a4f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9c43b2b2646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5ebb8f42940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b8cd184f240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74ab331ec4f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e83c2a6a346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c4f9264f7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583C7-9B02-498C-A60A-6CC678EF6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386AA3-3BC9-4AA7-8AEB-D03FD6BBF4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C9F9E2-4ADD-4C9B-8A49-433AE8E07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6714A8-F6B8-40B7-BC1A-76333E0D6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D5AC9D-A704-48F1-863F-ADDED3AB62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700272-1DA9-4C87-BAC5-4121F75D0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1781BF-40A1-4B5D-8784-EA61B6A1E9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C32416-0AB9-4C18-80CB-8BA621D900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08D0E9-86ED-48EA-826A-2BBFFB462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92325C-7EFB-49C0-9A87-1B66791285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66b648255d4171" /><Relationship Type="http://schemas.openxmlformats.org/officeDocument/2006/relationships/slideLayout" Target="/ppt/slideLayouts/slideLayout1.xml" Id="R78a12e8a9c9f4d9f" /><Relationship Type="http://schemas.openxmlformats.org/officeDocument/2006/relationships/slideLayout" Target="/ppt/slideLayouts/slideLayout2.xml" Id="Rd1a04272d18741ac" /><Relationship Type="http://schemas.openxmlformats.org/officeDocument/2006/relationships/slideLayout" Target="/ppt/slideLayouts/slideLayout3.xml" Id="R17fea3de2d6b45c9" /><Relationship Type="http://schemas.openxmlformats.org/officeDocument/2006/relationships/slideLayout" Target="/ppt/slideLayouts/slideLayout4.xml" Id="R1c24a5a3d4854f8c" /><Relationship Type="http://schemas.openxmlformats.org/officeDocument/2006/relationships/slideLayout" Target="/ppt/slideLayouts/slideLayout5.xml" Id="Rea697677218b4b20" /><Relationship Type="http://schemas.openxmlformats.org/officeDocument/2006/relationships/slideLayout" Target="/ppt/slideLayouts/slideLayout6.xml" Id="R5e26e09318c0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a12e8a9c9f4d9f"/>
    <p:sldLayoutId xmlns:r="http://schemas.openxmlformats.org/officeDocument/2006/relationships" id="2147483650" r:id="Rd1a04272d18741ac"/>
    <p:sldLayoutId xmlns:r="http://schemas.openxmlformats.org/officeDocument/2006/relationships" id="2147483651" r:id="R17fea3de2d6b45c9"/>
    <p:sldLayoutId xmlns:r="http://schemas.openxmlformats.org/officeDocument/2006/relationships" id="2147483652" r:id="R1c24a5a3d4854f8c"/>
    <p:sldLayoutId xmlns:r="http://schemas.openxmlformats.org/officeDocument/2006/relationships" id="2147483653" r:id="Rea697677218b4b20"/>
    <p:sldLayoutId xmlns:r="http://schemas.openxmlformats.org/officeDocument/2006/relationships" id="2147483654" r:id="R5e26e09318c0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612aebaf34936" /><Relationship Type="http://schemas.openxmlformats.org/officeDocument/2006/relationships/notesSlide" Target="/ppt/notesSlides/notesSlide1.xml" Id="R8783d962e67f45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9163204b94090" /><Relationship Type="http://schemas.openxmlformats.org/officeDocument/2006/relationships/notesSlide" Target="/ppt/notesSlides/notesSlide2.xml" Id="Re666abe53dd5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8a0a333a74b59" /><Relationship Type="http://schemas.openxmlformats.org/officeDocument/2006/relationships/notesSlide" Target="/ppt/notesSlides/notesSlide3.xml" Id="R4689daf04352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c972e5d714b51" /><Relationship Type="http://schemas.openxmlformats.org/officeDocument/2006/relationships/notesSlide" Target="/ppt/notesSlides/notesSlide4.xml" Id="R9143675cef014c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d346caea24f65" /><Relationship Type="http://schemas.openxmlformats.org/officeDocument/2006/relationships/notesSlide" Target="/ppt/notesSlides/notesSlide5.xml" Id="R83d55d6553f344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e39e3571c4cf3" /><Relationship Type="http://schemas.openxmlformats.org/officeDocument/2006/relationships/chart" Target="/ppt/slides/charts/chart1.xml" Id="R0244d44063d645b1" /><Relationship Type="http://schemas.openxmlformats.org/officeDocument/2006/relationships/notesSlide" Target="/ppt/notesSlides/notesSlide6.xml" Id="R4062dbcb52df4f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9ba118cc5407f" /><Relationship Type="http://schemas.openxmlformats.org/officeDocument/2006/relationships/notesSlide" Target="/ppt/notesSlides/notesSlide7.xml" Id="Racdb24d13b544f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0b6484bf54417" /><Relationship Type="http://schemas.openxmlformats.org/officeDocument/2006/relationships/image" Target="/ppt/media/image.jpeg" Id="R11897588ded5406d" /><Relationship Type="http://schemas.openxmlformats.org/officeDocument/2006/relationships/notesSlide" Target="/ppt/notesSlides/notesSlide8.xml" Id="R65b8ddc0f19047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f2273b36de4c75" /><Relationship Type="http://schemas.openxmlformats.org/officeDocument/2006/relationships/notesSlide" Target="/ppt/notesSlides/notesSlide9.xml" Id="Re9fbcebc9f164b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1de296cbe47d9" /><Relationship Type="http://schemas.openxmlformats.org/officeDocument/2006/relationships/notesSlide" Target="/ppt/notesSlides/notesSlide10.xml" Id="R414a04c9d50c4f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28ca02921424c" /><Relationship Type="http://schemas.openxmlformats.org/officeDocument/2006/relationships/notesSlide" Target="/ppt/notesSlides/notesSlide11.xml" Id="Rcb8282b48db84b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11a646dc04e0b" /><Relationship Type="http://schemas.openxmlformats.org/officeDocument/2006/relationships/notesSlide" Target="/ppt/notesSlides/notesSlide12.xml" Id="R487a73f52a2f45b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202A"/>
                </a:solidFill>
              </a:rPr>
              <a:t>Macro F1 trên Test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202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2F559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CNN</c:v>
                </c:pt>
                <c:pt idx="1">
                  <c:v>ResNet18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0.965</c:v>
                </c:pt>
                <c:pt idx="1">
                  <c:v>0.984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0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02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3"/>
                </a:solidFill>
              </a:defRPr>
            </a:pPr>
          </a:p>
        </c:txPr>
        <c:crossAx val="48650112"/>
        <c:crossBetween val="between"/>
        <c:majorUnit val="0.0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D31A2-BEEE-4692-878B-89A53754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F5597"/>
                </a:solidFill>
              </a:defRPr>
            </a:defPPr>
            <a:lvl1pPr>
              <a:defRPr sz="1275" b="1">
                <a:solidFill>
                  <a:srgbClr val="2F5597"/>
                </a:solidFill>
              </a:defRPr>
            </a:lvl1pPr>
            <a:lvl2pPr>
              <a:defRPr sz="1275" b="1">
                <a:solidFill>
                  <a:srgbClr val="2F5597"/>
                </a:solidFill>
              </a:defRPr>
            </a:lvl2pPr>
            <a:lvl3pPr>
              <a:defRPr sz="1275" b="1">
                <a:solidFill>
                  <a:srgbClr val="2F5597"/>
                </a:solidFill>
              </a:defRPr>
            </a:lvl3pPr>
            <a:lvl4pPr>
              <a:defRPr sz="1275" b="1">
                <a:solidFill>
                  <a:srgbClr val="2F5597"/>
                </a:solidFill>
              </a:defRPr>
            </a:lvl4pPr>
            <a:lvl5pPr>
              <a:defRPr sz="1275" b="1">
                <a:solidFill>
                  <a:srgbClr val="2F5597"/>
                </a:solidFill>
              </a:defRPr>
            </a:lvl5pPr>
            <a:lvl6pPr>
              <a:defRPr sz="1275" b="1">
                <a:solidFill>
                  <a:srgbClr val="2F5597"/>
                </a:solidFill>
              </a:defRPr>
            </a:lvl6pPr>
            <a:lvl7pPr>
              <a:defRPr sz="1275" b="1">
                <a:solidFill>
                  <a:srgbClr val="2F5597"/>
                </a:solidFill>
              </a:defRPr>
            </a:lvl7pPr>
            <a:lvl8pPr>
              <a:defRPr sz="1275" b="1">
                <a:solidFill>
                  <a:srgbClr val="2F5597"/>
                </a:solidFill>
              </a:defRPr>
            </a:lvl8pPr>
            <a:lvl9pPr>
              <a:defRPr sz="12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F5597"/>
                </a:solidFill>
              </a:defRPr>
            </a:pPr>
            <a:r>
              <a:rPr sz="12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A4CDC-293D-4C80-9612-E377F511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F4E79"/>
                </a:solidFill>
              </a:defRPr>
            </a:defPPr>
            <a:lvl1pPr>
              <a:defRPr sz="3450" b="1">
                <a:solidFill>
                  <a:srgbClr val="1F4E79"/>
                </a:solidFill>
              </a:defRPr>
            </a:lvl1pPr>
            <a:lvl2pPr>
              <a:defRPr sz="3450" b="1">
                <a:solidFill>
                  <a:srgbClr val="1F4E79"/>
                </a:solidFill>
              </a:defRPr>
            </a:lvl2pPr>
            <a:lvl3pPr>
              <a:defRPr sz="3450" b="1">
                <a:solidFill>
                  <a:srgbClr val="1F4E79"/>
                </a:solidFill>
              </a:defRPr>
            </a:lvl3pPr>
            <a:lvl4pPr>
              <a:defRPr sz="3450" b="1">
                <a:solidFill>
                  <a:srgbClr val="1F4E79"/>
                </a:solidFill>
              </a:defRPr>
            </a:lvl4pPr>
            <a:lvl5pPr>
              <a:defRPr sz="3450" b="1">
                <a:solidFill>
                  <a:srgbClr val="1F4E79"/>
                </a:solidFill>
              </a:defRPr>
            </a:lvl5pPr>
            <a:lvl6pPr>
              <a:defRPr sz="3450" b="1">
                <a:solidFill>
                  <a:srgbClr val="1F4E79"/>
                </a:solidFill>
              </a:defRPr>
            </a:lvl6pPr>
            <a:lvl7pPr>
              <a:defRPr sz="3450" b="1">
                <a:solidFill>
                  <a:srgbClr val="1F4E79"/>
                </a:solidFill>
              </a:defRPr>
            </a:lvl7pPr>
            <a:lvl8pPr>
              <a:defRPr sz="3450" b="1">
                <a:solidFill>
                  <a:srgbClr val="1F4E79"/>
                </a:solidFill>
              </a:defRPr>
            </a:lvl8pPr>
            <a:lvl9pPr>
              <a:defRPr sz="34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F4E79"/>
                </a:solidFill>
              </a:defRPr>
            </a:pPr>
            <a:r>
              <a:rPr sz="3450" b="1">
                <a:solidFill>
                  <a:srgbClr val="1F4E79"/>
                </a:solidFill>
              </a:rPr>
              <a:t>So sánh CNN và ResNet18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9FE79-25C3-4684-8452-16460761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B6573"/>
                </a:solidFill>
              </a:defRPr>
            </a:defPPr>
            <a:lvl1pPr>
              <a:defRPr sz="1650" b="0">
                <a:solidFill>
                  <a:srgbClr val="5B6573"/>
                </a:solidFill>
              </a:defRPr>
            </a:lvl1pPr>
            <a:lvl2pPr>
              <a:defRPr sz="1650" b="0">
                <a:solidFill>
                  <a:srgbClr val="5B6573"/>
                </a:solidFill>
              </a:defRPr>
            </a:lvl2pPr>
            <a:lvl3pPr>
              <a:defRPr sz="1650" b="0">
                <a:solidFill>
                  <a:srgbClr val="5B6573"/>
                </a:solidFill>
              </a:defRPr>
            </a:lvl3pPr>
            <a:lvl4pPr>
              <a:defRPr sz="1650" b="0">
                <a:solidFill>
                  <a:srgbClr val="5B6573"/>
                </a:solidFill>
              </a:defRPr>
            </a:lvl4pPr>
            <a:lvl5pPr>
              <a:defRPr sz="1650" b="0">
                <a:solidFill>
                  <a:srgbClr val="5B6573"/>
                </a:solidFill>
              </a:defRPr>
            </a:lvl5pPr>
            <a:lvl6pPr>
              <a:defRPr sz="1650" b="0">
                <a:solidFill>
                  <a:srgbClr val="5B6573"/>
                </a:solidFill>
              </a:defRPr>
            </a:lvl6pPr>
            <a:lvl7pPr>
              <a:defRPr sz="1650" b="0">
                <a:solidFill>
                  <a:srgbClr val="5B6573"/>
                </a:solidFill>
              </a:defRPr>
            </a:lvl7pPr>
            <a:lvl8pPr>
              <a:defRPr sz="1650" b="0">
                <a:solidFill>
                  <a:srgbClr val="5B6573"/>
                </a:solidFill>
              </a:defRPr>
            </a:lvl8pPr>
            <a:lvl9pPr>
              <a:defRPr sz="16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Báo cáo bài tập lớn · Nhóm 4 · Trường Đại học CMC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74960-1390-4B3B-B2E1-C2B75B58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2A"/>
                </a:solidFill>
              </a:defRPr>
            </a:defPPr>
            <a:lvl1pPr>
              <a:defRPr sz="1200" b="0">
                <a:solidFill>
                  <a:srgbClr val="17202A"/>
                </a:solidFill>
              </a:defRPr>
            </a:lvl1pPr>
            <a:lvl2pPr>
              <a:defRPr sz="1200" b="0">
                <a:solidFill>
                  <a:srgbClr val="17202A"/>
                </a:solidFill>
              </a:defRPr>
            </a:lvl2pPr>
            <a:lvl3pPr>
              <a:defRPr sz="1200" b="0">
                <a:solidFill>
                  <a:srgbClr val="17202A"/>
                </a:solidFill>
              </a:defRPr>
            </a:lvl3pPr>
            <a:lvl4pPr>
              <a:defRPr sz="1200" b="0">
                <a:solidFill>
                  <a:srgbClr val="17202A"/>
                </a:solidFill>
              </a:defRPr>
            </a:lvl4pPr>
            <a:lvl5pPr>
              <a:defRPr sz="1200" b="0">
                <a:solidFill>
                  <a:srgbClr val="17202A"/>
                </a:solidFill>
              </a:defRPr>
            </a:lvl5pPr>
            <a:lvl6pPr>
              <a:defRPr sz="1200" b="0">
                <a:solidFill>
                  <a:srgbClr val="17202A"/>
                </a:solidFill>
              </a:defRPr>
            </a:lvl6pPr>
            <a:lvl7pPr>
              <a:defRPr sz="1200" b="0">
                <a:solidFill>
                  <a:srgbClr val="17202A"/>
                </a:solidFill>
              </a:defRPr>
            </a:lvl7pPr>
            <a:lvl8pPr>
              <a:defRPr sz="1200" b="0">
                <a:solidFill>
                  <a:srgbClr val="17202A"/>
                </a:solidFill>
              </a:defRPr>
            </a:lvl8pPr>
            <a:lvl9pPr>
              <a:defRPr sz="12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CNN và ResNet18 đã kiểm chứng trên Test chung</a:t>
            </a:r>
          </a:p>
        </p:txBody>
      </p:sp>
    </p:spTree>
    <p:extLst>
      <p:ext uri="{BB962C8B-B14F-4D97-AF65-F5344CB8AC3E}">
        <p14:creationId xmlns:p14="http://schemas.microsoft.com/office/powerpoint/2010/main" val="1092583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35B40-4C8C-439D-B2AE-6D81B50E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73726-AC2E-4493-87CB-50A12937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Mục tiêu và phạm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63255-E1BD-4DD4-8163-73499875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FC297-5763-4E60-9656-3D588C66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Mục tiêu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EA96E-64AD-4967-B642-90EA5CA8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Phân loại ảnh lá cà chua vào bốn lớp đã thống nhất.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So sánh CNN huấn luyện từ đầu với ResNet18 dùng Transfer Learning.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Đối chiếu kết quả với demo Streamlit.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1FCB7-240E-462A-A795-252E2E80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Phạm 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E0788-4ED7-4AA9-ADA8-F362E9C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Kết quả chỉ áp dụng cho các lớp và dữ liệu đã học.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PlantVillage có điều kiện chụp được kiểm soát.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Chưa có thí nghiệm riêng cho bệnh mới chớm.</a:t>
            </a:r>
          </a:p>
        </p:txBody>
      </p:sp>
    </p:spTree>
    <p:extLst>
      <p:ext uri="{BB962C8B-B14F-4D97-AF65-F5344CB8AC3E}">
        <p14:creationId xmlns:p14="http://schemas.microsoft.com/office/powerpoint/2010/main" val="340170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0BCEB-1920-4E3B-9CCD-FA8E866D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AAEC4-CB4C-4C6C-B577-905EA3AA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Dữ liệu và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88A0-60F8-46EC-ABEB-7632EA9C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1D521-7992-4410-BC7C-3FE6DE4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Nguồn 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34A34-434A-4B56-81D7-F72BBD0A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PlantVillage · 6.502 ảnh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Train 4.115 · Validation 1.031 · Test 1.356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10DD1-ED3D-4211-99DD-49889577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Pipeline chung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098DD-0898-4F47-832F-C170AFAA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02A"/>
                </a:solidFill>
              </a:defRPr>
            </a:defPPr>
            <a:lvl1pPr>
              <a:defRPr sz="1800" b="1">
                <a:solidFill>
                  <a:srgbClr val="17202A"/>
                </a:solidFill>
              </a:defRPr>
            </a:lvl1pPr>
            <a:lvl2pPr>
              <a:defRPr sz="1800" b="1">
                <a:solidFill>
                  <a:srgbClr val="17202A"/>
                </a:solidFill>
              </a:defRPr>
            </a:lvl2pPr>
            <a:lvl3pPr>
              <a:defRPr sz="1800" b="1">
                <a:solidFill>
                  <a:srgbClr val="17202A"/>
                </a:solidFill>
              </a:defRPr>
            </a:lvl3pPr>
            <a:lvl4pPr>
              <a:defRPr sz="1800" b="1">
                <a:solidFill>
                  <a:srgbClr val="17202A"/>
                </a:solidFill>
              </a:defRPr>
            </a:lvl4pPr>
            <a:lvl5pPr>
              <a:defRPr sz="1800" b="1">
                <a:solidFill>
                  <a:srgbClr val="17202A"/>
                </a:solidFill>
              </a:defRPr>
            </a:lvl5pPr>
            <a:lvl6pPr>
              <a:defRPr sz="1800" b="1">
                <a:solidFill>
                  <a:srgbClr val="17202A"/>
                </a:solidFill>
              </a:defRPr>
            </a:lvl6pPr>
            <a:lvl7pPr>
              <a:defRPr sz="1800" b="1">
                <a:solidFill>
                  <a:srgbClr val="17202A"/>
                </a:solidFill>
              </a:defRPr>
            </a:lvl7pPr>
            <a:lvl8pPr>
              <a:defRPr sz="1800" b="1">
                <a:solidFill>
                  <a:srgbClr val="17202A"/>
                </a:solidFill>
              </a:defRPr>
            </a:lvl8pPr>
            <a:lvl9pPr>
              <a:defRPr sz="18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Manifest → transform → model → prediction CSV → đánh giá NV5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18117-ADE8-415B-8839-B890E551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  <a:lvl1pPr>
              <a:defRPr sz="1350" b="0">
                <a:solidFill>
                  <a:srgbClr val="5B6573"/>
                </a:solidFill>
              </a:defRPr>
            </a:lvl1pPr>
            <a:lvl2pPr>
              <a:defRPr sz="1350" b="0">
                <a:solidFill>
                  <a:srgbClr val="5B6573"/>
                </a:solidFill>
              </a:defRPr>
            </a:lvl2pPr>
            <a:lvl3pPr>
              <a:defRPr sz="1350" b="0">
                <a:solidFill>
                  <a:srgbClr val="5B6573"/>
                </a:solidFill>
              </a:defRPr>
            </a:lvl3pPr>
            <a:lvl4pPr>
              <a:defRPr sz="1350" b="0">
                <a:solidFill>
                  <a:srgbClr val="5B6573"/>
                </a:solidFill>
              </a:defRPr>
            </a:lvl4pPr>
            <a:lvl5pPr>
              <a:defRPr sz="1350" b="0">
                <a:solidFill>
                  <a:srgbClr val="5B6573"/>
                </a:solidFill>
              </a:defRPr>
            </a:lvl5pPr>
            <a:lvl6pPr>
              <a:defRPr sz="1350" b="0">
                <a:solidFill>
                  <a:srgbClr val="5B6573"/>
                </a:solidFill>
              </a:defRPr>
            </a:lvl6pPr>
            <a:lvl7pPr>
              <a:defRPr sz="1350" b="0">
                <a:solidFill>
                  <a:srgbClr val="5B6573"/>
                </a:solidFill>
              </a:defRPr>
            </a:lvl7pPr>
            <a:lvl8pPr>
              <a:defRPr sz="1350" b="0">
                <a:solidFill>
                  <a:srgbClr val="5B6573"/>
                </a:solidFill>
              </a:defRPr>
            </a:lvl8pPr>
            <a:lvl9pPr>
              <a:defRPr sz="13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Mapping 0–3: Healthy · Early Blight · Late Blight · Bacterial Spot</a:t>
            </a:r>
          </a:p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Nguồn: PR #8 và configs/class_mapping.json</a:t>
            </a:r>
          </a:p>
        </p:txBody>
      </p:sp>
    </p:spTree>
    <p:extLst>
      <p:ext uri="{BB962C8B-B14F-4D97-AF65-F5344CB8AC3E}">
        <p14:creationId xmlns:p14="http://schemas.microsoft.com/office/powerpoint/2010/main" val="2108332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2ED91-2CCF-4390-8DCB-9276D424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84D51-A2BF-4CB3-8B59-4AE584D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Hai hướng mô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CFAB5-464C-4388-925E-F5487D6D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73758-982A-4EAB-88BE-BEFDDE6C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5597"/>
                </a:solidFill>
              </a:defRPr>
            </a:defPPr>
            <a:lvl1pPr>
              <a:defRPr sz="1950" b="1">
                <a:solidFill>
                  <a:srgbClr val="2F5597"/>
                </a:solidFill>
              </a:defRPr>
            </a:lvl1pPr>
            <a:lvl2pPr>
              <a:defRPr sz="1950" b="1">
                <a:solidFill>
                  <a:srgbClr val="2F5597"/>
                </a:solidFill>
              </a:defRPr>
            </a:lvl2pPr>
            <a:lvl3pPr>
              <a:defRPr sz="1950" b="1">
                <a:solidFill>
                  <a:srgbClr val="2F5597"/>
                </a:solidFill>
              </a:defRPr>
            </a:lvl3pPr>
            <a:lvl4pPr>
              <a:defRPr sz="1950" b="1">
                <a:solidFill>
                  <a:srgbClr val="2F5597"/>
                </a:solidFill>
              </a:defRPr>
            </a:lvl4pPr>
            <a:lvl5pPr>
              <a:defRPr sz="1950" b="1">
                <a:solidFill>
                  <a:srgbClr val="2F5597"/>
                </a:solidFill>
              </a:defRPr>
            </a:lvl5pPr>
            <a:lvl6pPr>
              <a:defRPr sz="1950" b="1">
                <a:solidFill>
                  <a:srgbClr val="2F5597"/>
                </a:solidFill>
              </a:defRPr>
            </a:lvl6pPr>
            <a:lvl7pPr>
              <a:defRPr sz="1950" b="1">
                <a:solidFill>
                  <a:srgbClr val="2F5597"/>
                </a:solidFill>
              </a:defRPr>
            </a:lvl7pPr>
            <a:lvl8pPr>
              <a:defRPr sz="1950" b="1">
                <a:solidFill>
                  <a:srgbClr val="2F5597"/>
                </a:solidFill>
              </a:defRPr>
            </a:lvl8pPr>
            <a:lvl9pPr>
              <a:defRPr sz="19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5597"/>
                </a:solidFill>
              </a:defRPr>
            </a:pPr>
            <a:r>
              <a:rPr sz="1950" b="1">
                <a:solidFill>
                  <a:srgbClr val="2F5597"/>
                </a:solidFill>
              </a:rPr>
              <a:t>CNN tự xây dựng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3B69F-DA5B-4637-B88C-1E6F217B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Học từ đầu · 4 khối Conv–BN–ReLU–MaxPool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GAP · Dropout 0,3 · Linear 4 lớp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Checkpoint E1 epoch 24 chọn theo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A642B-C0DB-4168-85EE-A103DF08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5597"/>
                </a:solidFill>
              </a:defRPr>
            </a:defPPr>
            <a:lvl1pPr>
              <a:defRPr sz="1950" b="1">
                <a:solidFill>
                  <a:srgbClr val="2F5597"/>
                </a:solidFill>
              </a:defRPr>
            </a:lvl1pPr>
            <a:lvl2pPr>
              <a:defRPr sz="1950" b="1">
                <a:solidFill>
                  <a:srgbClr val="2F5597"/>
                </a:solidFill>
              </a:defRPr>
            </a:lvl2pPr>
            <a:lvl3pPr>
              <a:defRPr sz="1950" b="1">
                <a:solidFill>
                  <a:srgbClr val="2F5597"/>
                </a:solidFill>
              </a:defRPr>
            </a:lvl3pPr>
            <a:lvl4pPr>
              <a:defRPr sz="1950" b="1">
                <a:solidFill>
                  <a:srgbClr val="2F5597"/>
                </a:solidFill>
              </a:defRPr>
            </a:lvl4pPr>
            <a:lvl5pPr>
              <a:defRPr sz="1950" b="1">
                <a:solidFill>
                  <a:srgbClr val="2F5597"/>
                </a:solidFill>
              </a:defRPr>
            </a:lvl5pPr>
            <a:lvl6pPr>
              <a:defRPr sz="1950" b="1">
                <a:solidFill>
                  <a:srgbClr val="2F5597"/>
                </a:solidFill>
              </a:defRPr>
            </a:lvl6pPr>
            <a:lvl7pPr>
              <a:defRPr sz="1950" b="1">
                <a:solidFill>
                  <a:srgbClr val="2F5597"/>
                </a:solidFill>
              </a:defRPr>
            </a:lvl7pPr>
            <a:lvl8pPr>
              <a:defRPr sz="1950" b="1">
                <a:solidFill>
                  <a:srgbClr val="2F5597"/>
                </a:solidFill>
              </a:defRPr>
            </a:lvl8pPr>
            <a:lvl9pPr>
              <a:defRPr sz="19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5597"/>
                </a:solidFill>
              </a:defRPr>
            </a:pPr>
            <a:r>
              <a:rPr sz="1950" b="1">
                <a:solidFill>
                  <a:srgbClr val="2F5597"/>
                </a:solidFill>
              </a:rPr>
              <a:t>ResNet18 Transfer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1807A-6874-4C83-B63F-55E9494B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ImageNet pretrained · fine-tuning layer4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Checkpoint epoch 9 chọn theo Validation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Test artifact và SHA-256 đã kiểm</a:t>
            </a:r>
          </a:p>
        </p:txBody>
      </p:sp>
    </p:spTree>
    <p:extLst>
      <p:ext uri="{BB962C8B-B14F-4D97-AF65-F5344CB8AC3E}">
        <p14:creationId xmlns:p14="http://schemas.microsoft.com/office/powerpoint/2010/main" val="1949321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0929A-2E7E-467C-9AA3-D7380BA9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97B49-2B9E-47B4-BF15-92EB4D89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Giao thức đánh giá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76616-D49C-4A64-8B9A-F9E1764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C7241-168B-4565-85BB-62F31DE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02A"/>
                </a:solidFill>
              </a:defRPr>
            </a:defPPr>
            <a:lvl1pPr>
              <a:defRPr sz="1725" b="1">
                <a:solidFill>
                  <a:srgbClr val="17202A"/>
                </a:solidFill>
              </a:defRPr>
            </a:lvl1pPr>
            <a:lvl2pPr>
              <a:defRPr sz="1725" b="1">
                <a:solidFill>
                  <a:srgbClr val="17202A"/>
                </a:solidFill>
              </a:defRPr>
            </a:lvl2pPr>
            <a:lvl3pPr>
              <a:defRPr sz="1725" b="1">
                <a:solidFill>
                  <a:srgbClr val="17202A"/>
                </a:solidFill>
              </a:defRPr>
            </a:lvl3pPr>
            <a:lvl4pPr>
              <a:defRPr sz="1725" b="1">
                <a:solidFill>
                  <a:srgbClr val="17202A"/>
                </a:solidFill>
              </a:defRPr>
            </a:lvl4pPr>
            <a:lvl5pPr>
              <a:defRPr sz="1725" b="1">
                <a:solidFill>
                  <a:srgbClr val="17202A"/>
                </a:solidFill>
              </a:defRPr>
            </a:lvl5pPr>
            <a:lvl6pPr>
              <a:defRPr sz="1725" b="1">
                <a:solidFill>
                  <a:srgbClr val="17202A"/>
                </a:solidFill>
              </a:defRPr>
            </a:lvl6pPr>
            <a:lvl7pPr>
              <a:defRPr sz="1725" b="1">
                <a:solidFill>
                  <a:srgbClr val="17202A"/>
                </a:solidFill>
              </a:defRPr>
            </a:lvl7pPr>
            <a:lvl8pPr>
              <a:defRPr sz="1725" b="1">
                <a:solidFill>
                  <a:srgbClr val="17202A"/>
                </a:solidFill>
              </a:defRPr>
            </a:lvl8pPr>
            <a:lvl9pPr>
              <a:defRPr sz="1725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NV5 dùng scripts/evaluate_models.py để kiểm tra hai prediction CSV có cùng sample ID và ground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99A84-6BD8-49A3-9F77-6C75E4B1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597"/>
                </a:solidFill>
              </a:defRPr>
            </a:defPPr>
            <a:lvl1pPr>
              <a:defRPr sz="1650" b="1">
                <a:solidFill>
                  <a:srgbClr val="2F5597"/>
                </a:solidFill>
              </a:defRPr>
            </a:lvl1pPr>
            <a:lvl2pPr>
              <a:defRPr sz="1650" b="1">
                <a:solidFill>
                  <a:srgbClr val="2F5597"/>
                </a:solidFill>
              </a:defRPr>
            </a:lvl2pPr>
            <a:lvl3pPr>
              <a:defRPr sz="1650" b="1">
                <a:solidFill>
                  <a:srgbClr val="2F5597"/>
                </a:solidFill>
              </a:defRPr>
            </a:lvl3pPr>
            <a:lvl4pPr>
              <a:defRPr sz="1650" b="1">
                <a:solidFill>
                  <a:srgbClr val="2F5597"/>
                </a:solidFill>
              </a:defRPr>
            </a:lvl4pPr>
            <a:lvl5pPr>
              <a:defRPr sz="1650" b="1">
                <a:solidFill>
                  <a:srgbClr val="2F5597"/>
                </a:solidFill>
              </a:defRPr>
            </a:lvl5pPr>
            <a:lvl6pPr>
              <a:defRPr sz="1650" b="1">
                <a:solidFill>
                  <a:srgbClr val="2F5597"/>
                </a:solidFill>
              </a:defRPr>
            </a:lvl6pPr>
            <a:lvl7pPr>
              <a:defRPr sz="1650" b="1">
                <a:solidFill>
                  <a:srgbClr val="2F5597"/>
                </a:solidFill>
              </a:defRPr>
            </a:lvl7pPr>
            <a:lvl8pPr>
              <a:defRPr sz="1650" b="1">
                <a:solidFill>
                  <a:srgbClr val="2F5597"/>
                </a:solidFill>
              </a:defRPr>
            </a:lvl8pPr>
            <a:lvl9pPr>
              <a:defRPr sz="16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5597"/>
                </a:solidFill>
              </a:defRPr>
            </a:pPr>
            <a:r>
              <a:rPr sz="1650" b="1">
                <a:solidFill>
                  <a:srgbClr val="2F5597"/>
                </a:solidFill>
              </a:rPr>
              <a:t>Chỉ đánh giá Test sau khi checkpoint đã được chọn bằng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3B52-C0E3-4729-AAAD-22430A3A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Metrics cần báo cáo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8CB88-8781-4A33-8A15-6FE0102E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Accuracy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Macro Precision / Recall / F1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F1 từng lớp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Số tham số và thời gian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45F3A-4607-478B-9CC4-F60F22C7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Nguồn số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FDEB6-DF54-4C80-83F7-0AF3B852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results/comparison.csv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results/analysis.md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Hai confusion matrix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Prediction CSV và metadata checkpoint</a:t>
            </a:r>
          </a:p>
        </p:txBody>
      </p:sp>
    </p:spTree>
    <p:extLst>
      <p:ext uri="{BB962C8B-B14F-4D97-AF65-F5344CB8AC3E}">
        <p14:creationId xmlns:p14="http://schemas.microsoft.com/office/powerpoint/2010/main" val="1839974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C55F1-6D1E-4B9A-A3B9-18E96BD3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4DC8E-7865-46FA-B7C0-89275DC5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Kết quả so sánh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ECEE0-631B-43D5-AE97-6A7278E0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79E28-39DE-49EB-8E77-1EA0ED61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B6573"/>
                </a:solidFill>
              </a:defRPr>
            </a:defPPr>
            <a:lvl1pPr>
              <a:defRPr sz="1650" b="1">
                <a:solidFill>
                  <a:srgbClr val="5B6573"/>
                </a:solidFill>
              </a:defRPr>
            </a:lvl1pPr>
            <a:lvl2pPr>
              <a:defRPr sz="1650" b="1">
                <a:solidFill>
                  <a:srgbClr val="5B6573"/>
                </a:solidFill>
              </a:defRPr>
            </a:lvl2pPr>
            <a:lvl3pPr>
              <a:defRPr sz="1650" b="1">
                <a:solidFill>
                  <a:srgbClr val="5B6573"/>
                </a:solidFill>
              </a:defRPr>
            </a:lvl3pPr>
            <a:lvl4pPr>
              <a:defRPr sz="1650" b="1">
                <a:solidFill>
                  <a:srgbClr val="5B6573"/>
                </a:solidFill>
              </a:defRPr>
            </a:lvl4pPr>
            <a:lvl5pPr>
              <a:defRPr sz="1650" b="1">
                <a:solidFill>
                  <a:srgbClr val="5B6573"/>
                </a:solidFill>
              </a:defRPr>
            </a:lvl5pPr>
            <a:lvl6pPr>
              <a:defRPr sz="1650" b="1">
                <a:solidFill>
                  <a:srgbClr val="5B6573"/>
                </a:solidFill>
              </a:defRPr>
            </a:lvl6pPr>
            <a:lvl7pPr>
              <a:defRPr sz="1650" b="1">
                <a:solidFill>
                  <a:srgbClr val="5B6573"/>
                </a:solidFill>
              </a:defRPr>
            </a:lvl7pPr>
            <a:lvl8pPr>
              <a:defRPr sz="1650" b="1">
                <a:solidFill>
                  <a:srgbClr val="5B6573"/>
                </a:solidFill>
              </a:defRPr>
            </a:lvl8pPr>
            <a:lvl9pPr>
              <a:defRPr sz="1650" b="1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B6573"/>
                </a:solidFill>
              </a:defRPr>
            </a:pPr>
            <a:r>
              <a:rPr sz="1650" b="1">
                <a:solidFill>
                  <a:srgbClr val="5B6573"/>
                </a:solidFill>
              </a:rPr>
              <a:t>Test chung 1.356 ảnh · Artifact CNN PR #9 đã đối chiếu dưới 1e-6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2B9BB-3D57-4D33-A4A7-AE8237BD5272}"/>
              </a:ext>
            </a:extLst>
          </p:cNvPr>
          <p:cNvGraphicFramePr/>
          <p:nvPr/>
        </p:nvGraphicFramePr>
        <p:xfrm>
          <a:off xmlns:a="http://schemas.openxmlformats.org/drawingml/2006/main" x="819150" y="2333625"/>
          <a:ext xmlns:a="http://schemas.openxmlformats.org/drawingml/2006/main" cx="10382250" cy="1285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76450"/>
                <a:gridCol w="2076450"/>
                <a:gridCol w="2076450"/>
                <a:gridCol w="2076450"/>
                <a:gridCol w="2076450"/>
              </a:tblGrid>
              <a:tr h="428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Mô hình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Đúng/Test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Tham số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96,9764%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96,5034%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1.315/1.356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389.924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ResNet18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98,6726%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98,3978%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1.338/1.356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02A"/>
                          </a:solidFill>
                        </a:rPr>
                        <a:t>11.178.564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BDF0B5F-6748-4B45-818F-E9209FBD72CC}"/>
              </a:ext>
            </a:extLst>
          </p:cNvPr>
          <p:cNvGraphicFramePr/>
          <p:nvPr/>
        </p:nvGraphicFramePr>
        <p:xfrm>
          <a:off xmlns:a="http://schemas.openxmlformats.org/drawingml/2006/main" x="2476500" y="3952875"/>
          <a:ext xmlns:a="http://schemas.openxmlformats.org/drawingml/2006/main" cx="72390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44d44063d645b1"/>
          </a:graphicData>
        </a:graphic>
      </p:graphicFrame>
    </p:spTree>
    <p:extLst>
      <p:ext uri="{BB962C8B-B14F-4D97-AF65-F5344CB8AC3E}">
        <p14:creationId xmlns:p14="http://schemas.microsoft.com/office/powerpoint/2010/main" val="486174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8ECE1-A402-4045-A7BC-1F79D47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85138-C906-4811-8C75-E327A7D9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Phân tích nhầm lẫn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58238-C19D-4A8E-9EF8-9A9841A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F9A8-9EE9-49F8-AD91-54B79C5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2A"/>
                </a:solidFill>
              </a:defRPr>
            </a:defPPr>
            <a:lvl1pPr>
              <a:defRPr sz="1500" b="1">
                <a:solidFill>
                  <a:srgbClr val="17202A"/>
                </a:solidFill>
              </a:defRPr>
            </a:lvl1pPr>
            <a:lvl2pPr>
              <a:defRPr sz="1500" b="1">
                <a:solidFill>
                  <a:srgbClr val="17202A"/>
                </a:solidFill>
              </a:defRPr>
            </a:lvl2pPr>
            <a:lvl3pPr>
              <a:defRPr sz="1500" b="1">
                <a:solidFill>
                  <a:srgbClr val="17202A"/>
                </a:solidFill>
              </a:defRPr>
            </a:lvl3pPr>
            <a:lvl4pPr>
              <a:defRPr sz="1500" b="1">
                <a:solidFill>
                  <a:srgbClr val="17202A"/>
                </a:solidFill>
              </a:defRPr>
            </a:lvl4pPr>
            <a:lvl5pPr>
              <a:defRPr sz="1500" b="1">
                <a:solidFill>
                  <a:srgbClr val="17202A"/>
                </a:solidFill>
              </a:defRPr>
            </a:lvl5pPr>
            <a:lvl6pPr>
              <a:defRPr sz="1500" b="1">
                <a:solidFill>
                  <a:srgbClr val="17202A"/>
                </a:solidFill>
              </a:defRPr>
            </a:lvl6pPr>
            <a:lvl7pPr>
              <a:defRPr sz="1500" b="1">
                <a:solidFill>
                  <a:srgbClr val="17202A"/>
                </a:solidFill>
              </a:defRPr>
            </a:lvl7pPr>
            <a:lvl8pPr>
              <a:defRPr sz="1500" b="1">
                <a:solidFill>
                  <a:srgbClr val="17202A"/>
                </a:solidFill>
              </a:defRPr>
            </a:lvl8pPr>
            <a:lvl9pPr>
              <a:defRPr sz="15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CNN confusion matrix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H: 329  0  1  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E: 0  198  14  3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L: 5  12  358  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B: 0  2  4  430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D2BDB-584F-4BB2-9510-BB455E8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2A"/>
                </a:solidFill>
              </a:defRPr>
            </a:defPPr>
            <a:lvl1pPr>
              <a:defRPr sz="1500" b="1">
                <a:solidFill>
                  <a:srgbClr val="17202A"/>
                </a:solidFill>
              </a:defRPr>
            </a:lvl1pPr>
            <a:lvl2pPr>
              <a:defRPr sz="1500" b="1">
                <a:solidFill>
                  <a:srgbClr val="17202A"/>
                </a:solidFill>
              </a:defRPr>
            </a:lvl2pPr>
            <a:lvl3pPr>
              <a:defRPr sz="1500" b="1">
                <a:solidFill>
                  <a:srgbClr val="17202A"/>
                </a:solidFill>
              </a:defRPr>
            </a:lvl3pPr>
            <a:lvl4pPr>
              <a:defRPr sz="1500" b="1">
                <a:solidFill>
                  <a:srgbClr val="17202A"/>
                </a:solidFill>
              </a:defRPr>
            </a:lvl4pPr>
            <a:lvl5pPr>
              <a:defRPr sz="1500" b="1">
                <a:solidFill>
                  <a:srgbClr val="17202A"/>
                </a:solidFill>
              </a:defRPr>
            </a:lvl5pPr>
            <a:lvl6pPr>
              <a:defRPr sz="1500" b="1">
                <a:solidFill>
                  <a:srgbClr val="17202A"/>
                </a:solidFill>
              </a:defRPr>
            </a:lvl6pPr>
            <a:lvl7pPr>
              <a:defRPr sz="1500" b="1">
                <a:solidFill>
                  <a:srgbClr val="17202A"/>
                </a:solidFill>
              </a:defRPr>
            </a:lvl7pPr>
            <a:lvl8pPr>
              <a:defRPr sz="1500" b="1">
                <a:solidFill>
                  <a:srgbClr val="17202A"/>
                </a:solidFill>
              </a:defRPr>
            </a:lvl8pPr>
            <a:lvl9pPr>
              <a:defRPr sz="15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ResNet18 confusion matrix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H: 329  0  1  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E: 3  204  6  2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L: 0  3  372  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B: 0  2  1  433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1A2C4-D360-4B39-8E0E-ACC1B464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F5597"/>
                </a:solidFill>
              </a:defRPr>
            </a:defPPr>
            <a:lvl1pPr>
              <a:defRPr sz="1575" b="1">
                <a:solidFill>
                  <a:srgbClr val="2F5597"/>
                </a:solidFill>
              </a:defRPr>
            </a:lvl1pPr>
            <a:lvl2pPr>
              <a:defRPr sz="1575" b="1">
                <a:solidFill>
                  <a:srgbClr val="2F5597"/>
                </a:solidFill>
              </a:defRPr>
            </a:lvl2pPr>
            <a:lvl3pPr>
              <a:defRPr sz="1575" b="1">
                <a:solidFill>
                  <a:srgbClr val="2F5597"/>
                </a:solidFill>
              </a:defRPr>
            </a:lvl3pPr>
            <a:lvl4pPr>
              <a:defRPr sz="1575" b="1">
                <a:solidFill>
                  <a:srgbClr val="2F5597"/>
                </a:solidFill>
              </a:defRPr>
            </a:lvl4pPr>
            <a:lvl5pPr>
              <a:defRPr sz="1575" b="1">
                <a:solidFill>
                  <a:srgbClr val="2F5597"/>
                </a:solidFill>
              </a:defRPr>
            </a:lvl5pPr>
            <a:lvl6pPr>
              <a:defRPr sz="1575" b="1">
                <a:solidFill>
                  <a:srgbClr val="2F5597"/>
                </a:solidFill>
              </a:defRPr>
            </a:lvl6pPr>
            <a:lvl7pPr>
              <a:defRPr sz="1575" b="1">
                <a:solidFill>
                  <a:srgbClr val="2F5597"/>
                </a:solidFill>
              </a:defRPr>
            </a:lvl7pPr>
            <a:lvl8pPr>
              <a:defRPr sz="1575" b="1">
                <a:solidFill>
                  <a:srgbClr val="2F5597"/>
                </a:solidFill>
              </a:defRPr>
            </a:lvl8pPr>
            <a:lvl9pPr>
              <a:defRPr sz="15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F5597"/>
                </a:solidFill>
              </a:defRPr>
            </a:pPr>
            <a:r>
              <a:rPr sz="1575" b="1">
                <a:solidFill>
                  <a:srgbClr val="2F5597"/>
                </a:solidFill>
              </a:rPr>
              <a:t>Lỗi: CNN 41 ảnh · ResNet18 18 ảnh; Early Blight → Late Blight còn khó nhất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0CC50-3559-4E1B-9482-7A1993E6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573"/>
                </a:solidFill>
              </a:defRPr>
            </a:defPPr>
            <a:lvl1pPr>
              <a:defRPr sz="1275" b="0">
                <a:solidFill>
                  <a:srgbClr val="5B6573"/>
                </a:solidFill>
              </a:defRPr>
            </a:lvl1pPr>
            <a:lvl2pPr>
              <a:defRPr sz="1275" b="0">
                <a:solidFill>
                  <a:srgbClr val="5B6573"/>
                </a:solidFill>
              </a:defRPr>
            </a:lvl2pPr>
            <a:lvl3pPr>
              <a:defRPr sz="1275" b="0">
                <a:solidFill>
                  <a:srgbClr val="5B6573"/>
                </a:solidFill>
              </a:defRPr>
            </a:lvl3pPr>
            <a:lvl4pPr>
              <a:defRPr sz="1275" b="0">
                <a:solidFill>
                  <a:srgbClr val="5B6573"/>
                </a:solidFill>
              </a:defRPr>
            </a:lvl4pPr>
            <a:lvl5pPr>
              <a:defRPr sz="1275" b="0">
                <a:solidFill>
                  <a:srgbClr val="5B6573"/>
                </a:solidFill>
              </a:defRPr>
            </a:lvl5pPr>
            <a:lvl6pPr>
              <a:defRPr sz="1275" b="0">
                <a:solidFill>
                  <a:srgbClr val="5B6573"/>
                </a:solidFill>
              </a:defRPr>
            </a:lvl6pPr>
            <a:lvl7pPr>
              <a:defRPr sz="1275" b="0">
                <a:solidFill>
                  <a:srgbClr val="5B6573"/>
                </a:solidFill>
              </a:defRPr>
            </a:lvl7pPr>
            <a:lvl8pPr>
              <a:defRPr sz="1275" b="0">
                <a:solidFill>
                  <a:srgbClr val="5B6573"/>
                </a:solidFill>
              </a:defRPr>
            </a:lvl8pPr>
            <a:lvl9pPr>
              <a:defRPr sz="127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H = Healthy · E = Early Blight · L = Late Blight · B = Bacterial Spot</a:t>
            </a:r>
          </a:p>
        </p:txBody>
      </p:sp>
    </p:spTree>
    <p:extLst>
      <p:ext uri="{BB962C8B-B14F-4D97-AF65-F5344CB8AC3E}">
        <p14:creationId xmlns:p14="http://schemas.microsoft.com/office/powerpoint/2010/main" val="1119377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86E60-38AC-4D78-A45C-164948B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F725F-73C8-4814-BE2E-671CA27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Demo Streamlit với hai checkpoint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65168-2218-4BAE-9566-CA44217C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42D35-7975-4D1F-BBF8-8709ECE49F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97588ded5406d"/>
          <a:stretch xmlns:a="http://schemas.openxmlformats.org/drawingml/2006/main"/>
        </p:blipFill>
        <p:spPr>
          <a:xfrm xmlns:a="http://schemas.openxmlformats.org/drawingml/2006/main">
            <a:off x="819150" y="1580555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27D46-2ABF-4459-AE98-895192CE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F5597"/>
                </a:solidFill>
              </a:defRPr>
            </a:defPPr>
            <a:lvl1pPr>
              <a:defRPr sz="1725" b="1">
                <a:solidFill>
                  <a:srgbClr val="2F5597"/>
                </a:solidFill>
              </a:defRPr>
            </a:lvl1pPr>
            <a:lvl2pPr>
              <a:defRPr sz="1725" b="1">
                <a:solidFill>
                  <a:srgbClr val="2F5597"/>
                </a:solidFill>
              </a:defRPr>
            </a:lvl2pPr>
            <a:lvl3pPr>
              <a:defRPr sz="1725" b="1">
                <a:solidFill>
                  <a:srgbClr val="2F5597"/>
                </a:solidFill>
              </a:defRPr>
            </a:lvl3pPr>
            <a:lvl4pPr>
              <a:defRPr sz="1725" b="1">
                <a:solidFill>
                  <a:srgbClr val="2F5597"/>
                </a:solidFill>
              </a:defRPr>
            </a:lvl4pPr>
            <a:lvl5pPr>
              <a:defRPr sz="1725" b="1">
                <a:solidFill>
                  <a:srgbClr val="2F5597"/>
                </a:solidFill>
              </a:defRPr>
            </a:lvl5pPr>
            <a:lvl6pPr>
              <a:defRPr sz="1725" b="1">
                <a:solidFill>
                  <a:srgbClr val="2F5597"/>
                </a:solidFill>
              </a:defRPr>
            </a:lvl6pPr>
            <a:lvl7pPr>
              <a:defRPr sz="1725" b="1">
                <a:solidFill>
                  <a:srgbClr val="2F5597"/>
                </a:solidFill>
              </a:defRPr>
            </a:lvl7pPr>
            <a:lvl8pPr>
              <a:defRPr sz="1725" b="1">
                <a:solidFill>
                  <a:srgbClr val="2F5597"/>
                </a:solidFill>
              </a:defRPr>
            </a:lvl8pPr>
            <a:lvl9pPr>
              <a:defRPr sz="172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Kết quả trên một ảnh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3D79C-3135-446F-9B1B-3DD74807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907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2A"/>
                </a:solidFill>
              </a:defRPr>
            </a:defPPr>
            <a:lvl1pPr>
              <a:defRPr sz="1425" b="0">
                <a:solidFill>
                  <a:srgbClr val="17202A"/>
                </a:solidFill>
              </a:defRPr>
            </a:lvl1pPr>
            <a:lvl2pPr>
              <a:defRPr sz="1425" b="0">
                <a:solidFill>
                  <a:srgbClr val="17202A"/>
                </a:solidFill>
              </a:defRPr>
            </a:lvl2pPr>
            <a:lvl3pPr>
              <a:defRPr sz="1425" b="0">
                <a:solidFill>
                  <a:srgbClr val="17202A"/>
                </a:solidFill>
              </a:defRPr>
            </a:lvl3pPr>
            <a:lvl4pPr>
              <a:defRPr sz="1425" b="0">
                <a:solidFill>
                  <a:srgbClr val="17202A"/>
                </a:solidFill>
              </a:defRPr>
            </a:lvl4pPr>
            <a:lvl5pPr>
              <a:defRPr sz="1425" b="0">
                <a:solidFill>
                  <a:srgbClr val="17202A"/>
                </a:solidFill>
              </a:defRPr>
            </a:lvl5pPr>
            <a:lvl6pPr>
              <a:defRPr sz="1425" b="0">
                <a:solidFill>
                  <a:srgbClr val="17202A"/>
                </a:solidFill>
              </a:defRPr>
            </a:lvl6pPr>
            <a:lvl7pPr>
              <a:defRPr sz="1425" b="0">
                <a:solidFill>
                  <a:srgbClr val="17202A"/>
                </a:solidFill>
              </a:defRPr>
            </a:lvl7pPr>
            <a:lvl8pPr>
              <a:defRPr sz="1425" b="0">
                <a:solidFill>
                  <a:srgbClr val="17202A"/>
                </a:solidFill>
              </a:defRPr>
            </a:lvl8pPr>
            <a:lvl9pPr>
              <a:defRPr sz="142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CNN: Bacterial Spot 96,95%</a:t>
            </a:r>
          </a:p>
          <a:p xmlns:a="http://schemas.openxmlformats.org/drawingml/2006/main">
            <a:pPr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ResNet18: Bacterial Spot 67,11%</a:t>
            </a:r>
          </a:p>
          <a:p xmlns:a="http://schemas.openxmlformats.org/drawingml/2006/main">
            <a:pPr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Cả hai strict-load CPU</a:t>
            </a:r>
          </a:p>
          <a:p xmlns:a="http://schemas.openxmlformats.org/drawingml/2006/main">
            <a:pPr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--model both: max |delta|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E7637-5CD7-4203-A35D-48E9774D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B6573"/>
                </a:solidFill>
              </a:defRPr>
            </a:defPPr>
            <a:lvl1pPr>
              <a:defRPr sz="1125" b="0">
                <a:solidFill>
                  <a:srgbClr val="5B6573"/>
                </a:solidFill>
              </a:defRPr>
            </a:lvl1pPr>
            <a:lvl2pPr>
              <a:defRPr sz="1125" b="0">
                <a:solidFill>
                  <a:srgbClr val="5B6573"/>
                </a:solidFill>
              </a:defRPr>
            </a:lvl2pPr>
            <a:lvl3pPr>
              <a:defRPr sz="1125" b="0">
                <a:solidFill>
                  <a:srgbClr val="5B6573"/>
                </a:solidFill>
              </a:defRPr>
            </a:lvl3pPr>
            <a:lvl4pPr>
              <a:defRPr sz="1125" b="0">
                <a:solidFill>
                  <a:srgbClr val="5B6573"/>
                </a:solidFill>
              </a:defRPr>
            </a:lvl4pPr>
            <a:lvl5pPr>
              <a:defRPr sz="1125" b="0">
                <a:solidFill>
                  <a:srgbClr val="5B6573"/>
                </a:solidFill>
              </a:defRPr>
            </a:lvl5pPr>
            <a:lvl6pPr>
              <a:defRPr sz="1125" b="0">
                <a:solidFill>
                  <a:srgbClr val="5B6573"/>
                </a:solidFill>
              </a:defRPr>
            </a:lvl6pPr>
            <a:lvl7pPr>
              <a:defRPr sz="1125" b="0">
                <a:solidFill>
                  <a:srgbClr val="5B6573"/>
                </a:solidFill>
              </a:defRPr>
            </a:lvl7pPr>
            <a:lvl8pPr>
              <a:defRPr sz="1125" b="0">
                <a:solidFill>
                  <a:srgbClr val="5B6573"/>
                </a:solidFill>
              </a:defRPr>
            </a:lvl8pPr>
            <a:lvl9pPr>
              <a:defRPr sz="11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Nguồn: ảnh chụp NV4, commit 2406b12. Đây là minh họa giao diện, không phải Accuracy toàn tập. Video chưa bàn giao.</a:t>
            </a:r>
          </a:p>
        </p:txBody>
      </p:sp>
    </p:spTree>
    <p:extLst>
      <p:ext uri="{BB962C8B-B14F-4D97-AF65-F5344CB8AC3E}">
        <p14:creationId xmlns:p14="http://schemas.microsoft.com/office/powerpoint/2010/main" val="19337951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7B864-5ADB-4BA7-8BF0-6FB5F712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F3BDF-15F1-4EC3-AD6C-89EBCC7B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Kết luận và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C657B-D263-4F7E-9B10-E46EEB4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E58C8-F2D1-48B0-859A-6E9D573E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21C41-C80C-425A-9A9F-AAF232B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ResNet18 đạt macro-F1 0,983978, cao hơn CNN 0,965034 trên 1.356 ảnh Test.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Kết quả chỉ áp dụng PlantVillage.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4AA35-245C-4117-9371-4BAAF5E2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Hướng phát triển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65B5A-2546-4055-80FA-9CE48E01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Bổ sung ảnh thực địa.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Kiểm tra độ tin cậy và calibration.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Đánh giá bệnh mới chớm khi có dataset phù hợp.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E2806-A464-4A8E-8B64-52815E6F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  <a:lvl1pPr>
              <a:defRPr sz="1350" b="0">
                <a:solidFill>
                  <a:srgbClr val="5B6573"/>
                </a:solidFill>
              </a:defRPr>
            </a:lvl1pPr>
            <a:lvl2pPr>
              <a:defRPr sz="1350" b="0">
                <a:solidFill>
                  <a:srgbClr val="5B6573"/>
                </a:solidFill>
              </a:defRPr>
            </a:lvl2pPr>
            <a:lvl3pPr>
              <a:defRPr sz="1350" b="0">
                <a:solidFill>
                  <a:srgbClr val="5B6573"/>
                </a:solidFill>
              </a:defRPr>
            </a:lvl3pPr>
            <a:lvl4pPr>
              <a:defRPr sz="1350" b="0">
                <a:solidFill>
                  <a:srgbClr val="5B6573"/>
                </a:solidFill>
              </a:defRPr>
            </a:lvl4pPr>
            <a:lvl5pPr>
              <a:defRPr sz="1350" b="0">
                <a:solidFill>
                  <a:srgbClr val="5B6573"/>
                </a:solidFill>
              </a:defRPr>
            </a:lvl5pPr>
            <a:lvl6pPr>
              <a:defRPr sz="1350" b="0">
                <a:solidFill>
                  <a:srgbClr val="5B6573"/>
                </a:solidFill>
              </a:defRPr>
            </a:lvl6pPr>
            <a:lvl7pPr>
              <a:defRPr sz="1350" b="0">
                <a:solidFill>
                  <a:srgbClr val="5B6573"/>
                </a:solidFill>
              </a:defRPr>
            </a:lvl7pPr>
            <a:lvl8pPr>
              <a:defRPr sz="1350" b="0">
                <a:solidFill>
                  <a:srgbClr val="5B6573"/>
                </a:solidFill>
              </a:defRPr>
            </a:lvl8pPr>
            <a:lvl9pPr>
              <a:defRPr sz="13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Câu hỏi phản biện: xem docs/NV5_DEFENSE_QA.md</a:t>
            </a:r>
          </a:p>
        </p:txBody>
      </p:sp>
    </p:spTree>
    <p:extLst>
      <p:ext uri="{BB962C8B-B14F-4D97-AF65-F5344CB8AC3E}">
        <p14:creationId xmlns:p14="http://schemas.microsoft.com/office/powerpoint/2010/main" val="1036176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3688F-B01C-40F5-8408-2BDBA4D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37ADF-BD33-42AE-B9C0-87912A40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F1 từng lớp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87A39-C249-427B-8029-C74AEDD9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C8514-EDE3-42E8-BA11-688530C1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19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2A"/>
                </a:solidFill>
              </a:defRPr>
            </a:defPPr>
            <a:lvl1pPr>
              <a:defRPr sz="1500" b="1">
                <a:solidFill>
                  <a:srgbClr val="17202A"/>
                </a:solidFill>
              </a:defRPr>
            </a:lvl1pPr>
            <a:lvl2pPr>
              <a:defRPr sz="1500" b="1">
                <a:solidFill>
                  <a:srgbClr val="17202A"/>
                </a:solidFill>
              </a:defRPr>
            </a:lvl2pPr>
            <a:lvl3pPr>
              <a:defRPr sz="1500" b="1">
                <a:solidFill>
                  <a:srgbClr val="17202A"/>
                </a:solidFill>
              </a:defRPr>
            </a:lvl3pPr>
            <a:lvl4pPr>
              <a:defRPr sz="1500" b="1">
                <a:solidFill>
                  <a:srgbClr val="17202A"/>
                </a:solidFill>
              </a:defRPr>
            </a:lvl4pPr>
            <a:lvl5pPr>
              <a:defRPr sz="1500" b="1">
                <a:solidFill>
                  <a:srgbClr val="17202A"/>
                </a:solidFill>
              </a:defRPr>
            </a:lvl5pPr>
            <a:lvl6pPr>
              <a:defRPr sz="1500" b="1">
                <a:solidFill>
                  <a:srgbClr val="17202A"/>
                </a:solidFill>
              </a:defRPr>
            </a:lvl6pPr>
            <a:lvl7pPr>
              <a:defRPr sz="1500" b="1">
                <a:solidFill>
                  <a:srgbClr val="17202A"/>
                </a:solidFill>
              </a:defRPr>
            </a:lvl7pPr>
            <a:lvl8pPr>
              <a:defRPr sz="1500" b="1">
                <a:solidFill>
                  <a:srgbClr val="17202A"/>
                </a:solidFill>
              </a:defRPr>
            </a:lvl8pPr>
            <a:lvl9pPr>
              <a:defRPr sz="15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CNN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Healthy: 0,990964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Early Blight: 0,927400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Late Blight: 0,952128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Bacterial Spot: 0,989643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DB509-BDDC-45D6-88C2-D9A147E6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2A"/>
                </a:solidFill>
              </a:defRPr>
            </a:defPPr>
            <a:lvl1pPr>
              <a:defRPr sz="1500" b="1">
                <a:solidFill>
                  <a:srgbClr val="17202A"/>
                </a:solidFill>
              </a:defRPr>
            </a:lvl1pPr>
            <a:lvl2pPr>
              <a:defRPr sz="1500" b="1">
                <a:solidFill>
                  <a:srgbClr val="17202A"/>
                </a:solidFill>
              </a:defRPr>
            </a:lvl2pPr>
            <a:lvl3pPr>
              <a:defRPr sz="1500" b="1">
                <a:solidFill>
                  <a:srgbClr val="17202A"/>
                </a:solidFill>
              </a:defRPr>
            </a:lvl3pPr>
            <a:lvl4pPr>
              <a:defRPr sz="1500" b="1">
                <a:solidFill>
                  <a:srgbClr val="17202A"/>
                </a:solidFill>
              </a:defRPr>
            </a:lvl4pPr>
            <a:lvl5pPr>
              <a:defRPr sz="1500" b="1">
                <a:solidFill>
                  <a:srgbClr val="17202A"/>
                </a:solidFill>
              </a:defRPr>
            </a:lvl5pPr>
            <a:lvl6pPr>
              <a:defRPr sz="1500" b="1">
                <a:solidFill>
                  <a:srgbClr val="17202A"/>
                </a:solidFill>
              </a:defRPr>
            </a:lvl6pPr>
            <a:lvl7pPr>
              <a:defRPr sz="1500" b="1">
                <a:solidFill>
                  <a:srgbClr val="17202A"/>
                </a:solidFill>
              </a:defRPr>
            </a:lvl7pPr>
            <a:lvl8pPr>
              <a:defRPr sz="1500" b="1">
                <a:solidFill>
                  <a:srgbClr val="17202A"/>
                </a:solidFill>
              </a:defRPr>
            </a:lvl8pPr>
            <a:lvl9pPr>
              <a:defRPr sz="15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ResNet18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Healthy: 0,993958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Early Blight: 0,962264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Late Blight: 0,985430</a:t>
            </a:r>
          </a:p>
          <a:p xmlns:a="http://schemas.openxmlformats.org/drawingml/2006/main">
            <a:pPr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Bacterial Spot: 0,994259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60B28-65E7-457F-82FF-9371784E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F5597"/>
                </a:solidFill>
              </a:defRPr>
            </a:defPPr>
            <a:lvl1pPr>
              <a:defRPr sz="1650" b="0">
                <a:solidFill>
                  <a:srgbClr val="2F5597"/>
                </a:solidFill>
              </a:defRPr>
            </a:lvl1pPr>
            <a:lvl2pPr>
              <a:defRPr sz="1650" b="0">
                <a:solidFill>
                  <a:srgbClr val="2F5597"/>
                </a:solidFill>
              </a:defRPr>
            </a:lvl2pPr>
            <a:lvl3pPr>
              <a:defRPr sz="1650" b="0">
                <a:solidFill>
                  <a:srgbClr val="2F5597"/>
                </a:solidFill>
              </a:defRPr>
            </a:lvl3pPr>
            <a:lvl4pPr>
              <a:defRPr sz="1650" b="0">
                <a:solidFill>
                  <a:srgbClr val="2F5597"/>
                </a:solidFill>
              </a:defRPr>
            </a:lvl4pPr>
            <a:lvl5pPr>
              <a:defRPr sz="1650" b="0">
                <a:solidFill>
                  <a:srgbClr val="2F5597"/>
                </a:solidFill>
              </a:defRPr>
            </a:lvl5pPr>
            <a:lvl6pPr>
              <a:defRPr sz="1650" b="0">
                <a:solidFill>
                  <a:srgbClr val="2F5597"/>
                </a:solidFill>
              </a:defRPr>
            </a:lvl6pPr>
            <a:lvl7pPr>
              <a:defRPr sz="1650" b="0">
                <a:solidFill>
                  <a:srgbClr val="2F5597"/>
                </a:solidFill>
              </a:defRPr>
            </a:lvl7pPr>
            <a:lvl8pPr>
              <a:defRPr sz="1650" b="0">
                <a:solidFill>
                  <a:srgbClr val="2F5597"/>
                </a:solidFill>
              </a:defRPr>
            </a:lvl8pPr>
            <a:lvl9pPr>
              <a:defRPr sz="1650" b="0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F5597"/>
                </a:solidFill>
              </a:defRPr>
            </a:pPr>
            <a:r>
              <a:rPr sz="1650" b="0">
                <a:solidFill>
                  <a:srgbClr val="2F5597"/>
                </a:solidFill>
              </a:rPr>
              <a:t>ResNet18 cải thiện F1 ở cả bốn lớp. Cần đọc cùng support và confusion matrix, không chỉ dựa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B63FE-C511-4EE9-98B0-088FE67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B6573"/>
                </a:solidFill>
              </a:defRPr>
            </a:defPPr>
            <a:lvl1pPr>
              <a:defRPr sz="1125" b="0">
                <a:solidFill>
                  <a:srgbClr val="5B6573"/>
                </a:solidFill>
              </a:defRPr>
            </a:lvl1pPr>
            <a:lvl2pPr>
              <a:defRPr sz="1125" b="0">
                <a:solidFill>
                  <a:srgbClr val="5B6573"/>
                </a:solidFill>
              </a:defRPr>
            </a:lvl2pPr>
            <a:lvl3pPr>
              <a:defRPr sz="1125" b="0">
                <a:solidFill>
                  <a:srgbClr val="5B6573"/>
                </a:solidFill>
              </a:defRPr>
            </a:lvl3pPr>
            <a:lvl4pPr>
              <a:defRPr sz="1125" b="0">
                <a:solidFill>
                  <a:srgbClr val="5B6573"/>
                </a:solidFill>
              </a:defRPr>
            </a:lvl4pPr>
            <a:lvl5pPr>
              <a:defRPr sz="1125" b="0">
                <a:solidFill>
                  <a:srgbClr val="5B6573"/>
                </a:solidFill>
              </a:defRPr>
            </a:lvl5pPr>
            <a:lvl6pPr>
              <a:defRPr sz="1125" b="0">
                <a:solidFill>
                  <a:srgbClr val="5B6573"/>
                </a:solidFill>
              </a:defRPr>
            </a:lvl6pPr>
            <a:lvl7pPr>
              <a:defRPr sz="1125" b="0">
                <a:solidFill>
                  <a:srgbClr val="5B6573"/>
                </a:solidFill>
              </a:defRPr>
            </a:lvl7pPr>
            <a:lvl8pPr>
              <a:defRPr sz="1125" b="0">
                <a:solidFill>
                  <a:srgbClr val="5B6573"/>
                </a:solidFill>
              </a:defRPr>
            </a:lvl8pPr>
            <a:lvl9pPr>
              <a:defRPr sz="11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Nguồn: results/cnn_metrics_nv2_handoff.json và results/resnet18_metrics_nv3_handoff.json</a:t>
            </a:r>
          </a:p>
        </p:txBody>
      </p:sp>
    </p:spTree>
    <p:extLst>
      <p:ext uri="{BB962C8B-B14F-4D97-AF65-F5344CB8AC3E}">
        <p14:creationId xmlns:p14="http://schemas.microsoft.com/office/powerpoint/2010/main" val="14049866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0556A-BE10-46DB-B7BC-2E9E847E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53015-8EEC-4CB8-B14F-B000EABC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Nguồn số liệu và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25147-6672-4CD8-81EF-4013B7AA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B9410-6049-4A97-A688-362C30A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Nguồn artifact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5115C-E90E-4FFB-89D1-0A375AEC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2A"/>
                </a:solidFill>
              </a:defRPr>
            </a:defPPr>
            <a:lvl1pPr>
              <a:defRPr sz="1425" b="0">
                <a:solidFill>
                  <a:srgbClr val="17202A"/>
                </a:solidFill>
              </a:defRPr>
            </a:lvl1pPr>
            <a:lvl2pPr>
              <a:defRPr sz="1425" b="0">
                <a:solidFill>
                  <a:srgbClr val="17202A"/>
                </a:solidFill>
              </a:defRPr>
            </a:lvl2pPr>
            <a:lvl3pPr>
              <a:defRPr sz="1425" b="0">
                <a:solidFill>
                  <a:srgbClr val="17202A"/>
                </a:solidFill>
              </a:defRPr>
            </a:lvl3pPr>
            <a:lvl4pPr>
              <a:defRPr sz="1425" b="0">
                <a:solidFill>
                  <a:srgbClr val="17202A"/>
                </a:solidFill>
              </a:defRPr>
            </a:lvl4pPr>
            <a:lvl5pPr>
              <a:defRPr sz="1425" b="0">
                <a:solidFill>
                  <a:srgbClr val="17202A"/>
                </a:solidFill>
              </a:defRPr>
            </a:lvl5pPr>
            <a:lvl6pPr>
              <a:defRPr sz="1425" b="0">
                <a:solidFill>
                  <a:srgbClr val="17202A"/>
                </a:solidFill>
              </a:defRPr>
            </a:lvl6pPr>
            <a:lvl7pPr>
              <a:defRPr sz="1425" b="0">
                <a:solidFill>
                  <a:srgbClr val="17202A"/>
                </a:solidFill>
              </a:defRPr>
            </a:lvl7pPr>
            <a:lvl8pPr>
              <a:defRPr sz="1425" b="0">
                <a:solidFill>
                  <a:srgbClr val="17202A"/>
                </a:solidFill>
              </a:defRPr>
            </a:lvl8pPr>
            <a:lvl9pPr>
              <a:defRPr sz="142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PR #9 · cnn_metrics.json · prediction CSV</a:t>
            </a:r>
          </a:p>
          <a:p xmlns:a="http://schemas.openxmlformats.org/drawingml/2006/main">
            <a:pPr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PR #7 ZIP · SHA-256 checkpoint ResNet18</a:t>
            </a:r>
          </a:p>
          <a:p xmlns:a="http://schemas.openxmlformats.org/drawingml/2006/main">
            <a:pPr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NV5 đối chiếu metrics dưới sai số 1e-6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15833-626F-4513-983E-B55CB53C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Giới hạn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E830A-A97B-4352-A396-B5348DF5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PlantVillage có điều kiện kiểm soát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Ảnh ngoài bốn lớp vẫn bị ép nhãn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Chưa có Test bệnh mới chớm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28280-3CE7-4F99-ACA9-EAEBBDC6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F4E79"/>
                </a:solidFill>
              </a:defRPr>
            </a:defPPr>
            <a:lvl1pPr>
              <a:defRPr sz="1650" b="1">
                <a:solidFill>
                  <a:srgbClr val="1F4E79"/>
                </a:solidFill>
              </a:defRPr>
            </a:lvl1pPr>
            <a:lvl2pPr>
              <a:defRPr sz="1650" b="1">
                <a:solidFill>
                  <a:srgbClr val="1F4E79"/>
                </a:solidFill>
              </a:defRPr>
            </a:lvl2pPr>
            <a:lvl3pPr>
              <a:defRPr sz="1650" b="1">
                <a:solidFill>
                  <a:srgbClr val="1F4E79"/>
                </a:solidFill>
              </a:defRPr>
            </a:lvl3pPr>
            <a:lvl4pPr>
              <a:defRPr sz="1650" b="1">
                <a:solidFill>
                  <a:srgbClr val="1F4E79"/>
                </a:solidFill>
              </a:defRPr>
            </a:lvl4pPr>
            <a:lvl5pPr>
              <a:defRPr sz="1650" b="1">
                <a:solidFill>
                  <a:srgbClr val="1F4E79"/>
                </a:solidFill>
              </a:defRPr>
            </a:lvl5pPr>
            <a:lvl6pPr>
              <a:defRPr sz="1650" b="1">
                <a:solidFill>
                  <a:srgbClr val="1F4E79"/>
                </a:solidFill>
              </a:defRPr>
            </a:lvl6pPr>
            <a:lvl7pPr>
              <a:defRPr sz="1650" b="1">
                <a:solidFill>
                  <a:srgbClr val="1F4E79"/>
                </a:solidFill>
              </a:defRPr>
            </a:lvl7pPr>
            <a:lvl8pPr>
              <a:defRPr sz="1650" b="1">
                <a:solidFill>
                  <a:srgbClr val="1F4E79"/>
                </a:solidFill>
              </a:defRPr>
            </a:lvl8pPr>
            <a:lvl9pPr>
              <a:defRPr sz="16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Không dùng Test để chọn checkpoint hoặc hyperparameter.</a:t>
            </a:r>
          </a:p>
        </p:txBody>
      </p:sp>
    </p:spTree>
    <p:extLst>
      <p:ext uri="{BB962C8B-B14F-4D97-AF65-F5344CB8AC3E}">
        <p14:creationId xmlns:p14="http://schemas.microsoft.com/office/powerpoint/2010/main" val="14377908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EC159-B91A-4972-A31E-8270FABA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B02C-28B2-4EC0-B619-C654C9EB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Bàn giao cần thiết để chốt báo cáo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9259F-9B4B-4EA3-8C3C-8986ABD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NV5 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6678A-4291-4620-AA42-E4B7307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NV3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B19DE-3597-4AF8-A34E-85911719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Đã nhận: checkpoint/hash, CSV, metrics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Cần duy trì link ZIP và provenance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Không commit checkpoint nhị phân vào NV5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FB7E4-B0E8-434C-9ED8-193DEE9D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NV4 và nhóm trưởng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65E06-799C-4B5A-AD2D-1CFBF0E4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Ảnh/video và checkpoint demo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Mẫu Word/PPTX, người trình bày</a:t>
            </a:r>
          </a:p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Review số liệu trước khi merge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F2845-0E3C-44F2-B1E8-092A1B56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F4E79"/>
                </a:solidFill>
              </a:defRPr>
            </a:defPPr>
            <a:lvl1pPr>
              <a:defRPr sz="1575" b="1">
                <a:solidFill>
                  <a:srgbClr val="1F4E79"/>
                </a:solidFill>
              </a:defRPr>
            </a:lvl1pPr>
            <a:lvl2pPr>
              <a:defRPr sz="1575" b="1">
                <a:solidFill>
                  <a:srgbClr val="1F4E79"/>
                </a:solidFill>
              </a:defRPr>
            </a:lvl2pPr>
            <a:lvl3pPr>
              <a:defRPr sz="1575" b="1">
                <a:solidFill>
                  <a:srgbClr val="1F4E79"/>
                </a:solidFill>
              </a:defRPr>
            </a:lvl3pPr>
            <a:lvl4pPr>
              <a:defRPr sz="1575" b="1">
                <a:solidFill>
                  <a:srgbClr val="1F4E79"/>
                </a:solidFill>
              </a:defRPr>
            </a:lvl4pPr>
            <a:lvl5pPr>
              <a:defRPr sz="1575" b="1">
                <a:solidFill>
                  <a:srgbClr val="1F4E79"/>
                </a:solidFill>
              </a:defRPr>
            </a:lvl5pPr>
            <a:lvl6pPr>
              <a:defRPr sz="1575" b="1">
                <a:solidFill>
                  <a:srgbClr val="1F4E79"/>
                </a:solidFill>
              </a:defRPr>
            </a:lvl6pPr>
            <a:lvl7pPr>
              <a:defRPr sz="1575" b="1">
                <a:solidFill>
                  <a:srgbClr val="1F4E79"/>
                </a:solidFill>
              </a:defRPr>
            </a:lvl7pPr>
            <a:lvl8pPr>
              <a:defRPr sz="1575" b="1">
                <a:solidFill>
                  <a:srgbClr val="1F4E79"/>
                </a:solidFill>
              </a:defRPr>
            </a:lvl8pPr>
            <a:lvl9pPr>
              <a:defRPr sz="1575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4E79"/>
                </a:solidFill>
              </a:defRPr>
            </a:pPr>
            <a:r>
              <a:rPr sz="1575" b="1">
                <a:solidFill>
                  <a:srgbClr val="1F4E79"/>
                </a:solidFill>
              </a:rPr>
              <a:t>Đã chạy evaluate_models.py với hai CSV. Mọi cập nhật sau dùng comparison.csv từ cùng nguồn.</a:t>
            </a:r>
          </a:p>
        </p:txBody>
      </p:sp>
    </p:spTree>
    <p:extLst>
      <p:ext uri="{BB962C8B-B14F-4D97-AF65-F5344CB8AC3E}">
        <p14:creationId xmlns:p14="http://schemas.microsoft.com/office/powerpoint/2010/main" val="1927323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2026-10-31T12:38:47.2110000Z</dcterms:created>
  <dcterms:modified xsi:type="dcterms:W3CDTF">2026-10-31T12:38:47.2110000Z</dcterms:modified>
</coreProperties>
</file>