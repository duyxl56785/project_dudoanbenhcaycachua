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724796622f4072" /><Relationship Type="http://schemas.openxmlformats.org/officeDocument/2006/relationships/extended-properties" Target="/docProps/app.xml" Id="R806a2cf4248e46a3" /><Relationship Type="http://schemas.openxmlformats.org/officeDocument/2006/relationships/officeDocument" Target="/ppt/presentation.xml" Id="R8321a6dbe65f4c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f11e1bcde344fa"/>
  </p:sldMasterIdLst>
  <p:notesMasterIdLst>
    <p:notesMasterId xmlns:r="http://schemas.openxmlformats.org/officeDocument/2006/relationships" r:id="Rb1fbcd704f214b72"/>
  </p:notesMasterIdLst>
  <p:sldIdLst>
    <p:sldId xmlns:r="http://schemas.openxmlformats.org/officeDocument/2006/relationships" id="256" r:id="R63a3350a3c7b4b64"/>
    <p:sldId xmlns:r="http://schemas.openxmlformats.org/officeDocument/2006/relationships" id="257" r:id="Rde3f0a46afbc4559"/>
    <p:sldId xmlns:r="http://schemas.openxmlformats.org/officeDocument/2006/relationships" id="258" r:id="R2dbdfbf307aa46d1"/>
    <p:sldId xmlns:r="http://schemas.openxmlformats.org/officeDocument/2006/relationships" id="259" r:id="R8dcb9ff120e14aa9"/>
    <p:sldId xmlns:r="http://schemas.openxmlformats.org/officeDocument/2006/relationships" id="260" r:id="R60e480841d794368"/>
    <p:sldId xmlns:r="http://schemas.openxmlformats.org/officeDocument/2006/relationships" id="261" r:id="R47273237a0d34a46"/>
    <p:sldId xmlns:r="http://schemas.openxmlformats.org/officeDocument/2006/relationships" id="262" r:id="R84af25691e2b49e5"/>
    <p:sldId xmlns:r="http://schemas.openxmlformats.org/officeDocument/2006/relationships" id="263" r:id="R2738616e7d084e95"/>
    <p:sldId xmlns:r="http://schemas.openxmlformats.org/officeDocument/2006/relationships" id="264" r:id="R141421cdaf784003"/>
    <p:sldId xmlns:r="http://schemas.openxmlformats.org/officeDocument/2006/relationships" id="265" r:id="R690343d3121347d5"/>
    <p:sldId xmlns:r="http://schemas.openxmlformats.org/officeDocument/2006/relationships" id="266" r:id="R3c521324d4a8436a"/>
    <p:sldId xmlns:r="http://schemas.openxmlformats.org/officeDocument/2006/relationships" id="267" r:id="R50fea7a250b749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de4f063d0e4577" /><Relationship Type="http://schemas.openxmlformats.org/officeDocument/2006/relationships/slideMaster" Target="/ppt/slideMasters/slideMaster1.xml" Id="Rebf11e1bcde344fa" /><Relationship Type="http://schemas.openxmlformats.org/officeDocument/2006/relationships/notesMaster" Target="/ppt/notesMasters/notesMaster1.xml" Id="Rb1fbcd704f214b72" /><Relationship Type="http://schemas.openxmlformats.org/officeDocument/2006/relationships/presProps" Target="/ppt/presProps.xml" Id="Re5c4ba2d23354d6b" /><Relationship Type="http://schemas.openxmlformats.org/officeDocument/2006/relationships/tableStyles" Target="/ppt/tableStyles.xml" Id="R03d213edc9064df6" /><Relationship Type="http://schemas.openxmlformats.org/officeDocument/2006/relationships/slide" Target="/ppt/slides/slide1.xml" Id="R63a3350a3c7b4b64" /><Relationship Type="http://schemas.openxmlformats.org/officeDocument/2006/relationships/slide" Target="/ppt/slides/slide2.xml" Id="Rde3f0a46afbc4559" /><Relationship Type="http://schemas.openxmlformats.org/officeDocument/2006/relationships/slide" Target="/ppt/slides/slide3.xml" Id="R2dbdfbf307aa46d1" /><Relationship Type="http://schemas.openxmlformats.org/officeDocument/2006/relationships/slide" Target="/ppt/slides/slide4.xml" Id="R8dcb9ff120e14aa9" /><Relationship Type="http://schemas.openxmlformats.org/officeDocument/2006/relationships/slide" Target="/ppt/slides/slide5.xml" Id="R60e480841d794368" /><Relationship Type="http://schemas.openxmlformats.org/officeDocument/2006/relationships/slide" Target="/ppt/slides/slide6.xml" Id="R47273237a0d34a46" /><Relationship Type="http://schemas.openxmlformats.org/officeDocument/2006/relationships/slide" Target="/ppt/slides/slide7.xml" Id="R84af25691e2b49e5" /><Relationship Type="http://schemas.openxmlformats.org/officeDocument/2006/relationships/slide" Target="/ppt/slides/slide8.xml" Id="R2738616e7d084e95" /><Relationship Type="http://schemas.openxmlformats.org/officeDocument/2006/relationships/slide" Target="/ppt/slides/slide9.xml" Id="R141421cdaf784003" /><Relationship Type="http://schemas.openxmlformats.org/officeDocument/2006/relationships/slide" Target="/ppt/slides/slide10.xml" Id="R690343d3121347d5" /><Relationship Type="http://schemas.openxmlformats.org/officeDocument/2006/relationships/slide" Target="/ppt/slides/slide11.xml" Id="R3c521324d4a8436a" /><Relationship Type="http://schemas.openxmlformats.org/officeDocument/2006/relationships/slide" Target="/ppt/slides/slide12.xml" Id="R50fea7a250b749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d8a89965ac45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9a93fd45924159" /><Relationship Type="http://schemas.openxmlformats.org/officeDocument/2006/relationships/notesMaster" Target="/ppt/notesMasters/notesMaster1.xml" Id="R11369b021b604f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98b1d627604da5" /><Relationship Type="http://schemas.openxmlformats.org/officeDocument/2006/relationships/notesMaster" Target="/ppt/notesMasters/notesMaster1.xml" Id="R7df8acfc593f4f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282e6c65c1469b" /><Relationship Type="http://schemas.openxmlformats.org/officeDocument/2006/relationships/notesMaster" Target="/ppt/notesMasters/notesMaster1.xml" Id="Re2ca6e43c0974a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d30a862b4d49d3" /><Relationship Type="http://schemas.openxmlformats.org/officeDocument/2006/relationships/notesMaster" Target="/ppt/notesMasters/notesMaster1.xml" Id="Rcf9132971bf243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15ca1d339f4f03" /><Relationship Type="http://schemas.openxmlformats.org/officeDocument/2006/relationships/notesMaster" Target="/ppt/notesMasters/notesMaster1.xml" Id="R7930a010f90747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68b34cedf04b3a" /><Relationship Type="http://schemas.openxmlformats.org/officeDocument/2006/relationships/notesMaster" Target="/ppt/notesMasters/notesMaster1.xml" Id="Rba8c5b8566f94a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a84f5ca92649fd" /><Relationship Type="http://schemas.openxmlformats.org/officeDocument/2006/relationships/notesMaster" Target="/ppt/notesMasters/notesMaster1.xml" Id="R54b908cb0acc41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6ccb8b57564229" /><Relationship Type="http://schemas.openxmlformats.org/officeDocument/2006/relationships/notesMaster" Target="/ppt/notesMasters/notesMaster1.xml" Id="Rb7210cea92fa43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790972b1bf4e54" /><Relationship Type="http://schemas.openxmlformats.org/officeDocument/2006/relationships/notesMaster" Target="/ppt/notesMasters/notesMaster1.xml" Id="R15b04fca55204b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07660e8bf84f95" /><Relationship Type="http://schemas.openxmlformats.org/officeDocument/2006/relationships/notesMaster" Target="/ppt/notesMasters/notesMaster1.xml" Id="R982dd99381b242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ac3cfc0adb4cc6" /><Relationship Type="http://schemas.openxmlformats.org/officeDocument/2006/relationships/notesMaster" Target="/ppt/notesMasters/notesMaster1.xml" Id="Ra638e845575f4e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e2461c9aa343f8" /><Relationship Type="http://schemas.openxmlformats.org/officeDocument/2006/relationships/notesMaster" Target="/ppt/notesMasters/notesMaster1.xml" Id="R34451ec04e394a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419e9aa814c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49245604fe42c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4ee62a90aa4b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6b14b525949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4b0fb8d0a6412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45c0751f640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510E97-FB9C-46C8-9ED3-854FF7358B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6B5F2F2-0FE7-4043-8947-73BDDF386A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8443694-006A-4609-93C3-714B7CCC20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1A3071-AA82-4950-A590-C2B23E290B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427F89-031A-4141-B865-6A894D9FF1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D66B030-1962-4778-9C49-CAE0B771A1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DAA124-5C24-4225-8F89-99DEB932CE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F1EA195-0AA4-4B1B-B365-6B5D01A8DA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FF9C567-9D48-40D6-A750-733C903936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1D63249-E916-4B43-AEE0-E05D435193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aa12dfa77e448a" /><Relationship Type="http://schemas.openxmlformats.org/officeDocument/2006/relationships/slideLayout" Target="/ppt/slideLayouts/slideLayout1.xml" Id="R370c4827d67d45a6" /><Relationship Type="http://schemas.openxmlformats.org/officeDocument/2006/relationships/slideLayout" Target="/ppt/slideLayouts/slideLayout2.xml" Id="Rfd8d6901d5bd4ee7" /><Relationship Type="http://schemas.openxmlformats.org/officeDocument/2006/relationships/slideLayout" Target="/ppt/slideLayouts/slideLayout3.xml" Id="R77f052a293bd4902" /><Relationship Type="http://schemas.openxmlformats.org/officeDocument/2006/relationships/slideLayout" Target="/ppt/slideLayouts/slideLayout4.xml" Id="R960eb05125664727" /><Relationship Type="http://schemas.openxmlformats.org/officeDocument/2006/relationships/slideLayout" Target="/ppt/slideLayouts/slideLayout5.xml" Id="Rac348f29e2a14bb3" /><Relationship Type="http://schemas.openxmlformats.org/officeDocument/2006/relationships/slideLayout" Target="/ppt/slideLayouts/slideLayout6.xml" Id="R2ca1d11ce2d448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0c4827d67d45a6"/>
    <p:sldLayoutId xmlns:r="http://schemas.openxmlformats.org/officeDocument/2006/relationships" id="2147483650" r:id="Rfd8d6901d5bd4ee7"/>
    <p:sldLayoutId xmlns:r="http://schemas.openxmlformats.org/officeDocument/2006/relationships" id="2147483651" r:id="R77f052a293bd4902"/>
    <p:sldLayoutId xmlns:r="http://schemas.openxmlformats.org/officeDocument/2006/relationships" id="2147483652" r:id="R960eb05125664727"/>
    <p:sldLayoutId xmlns:r="http://schemas.openxmlformats.org/officeDocument/2006/relationships" id="2147483653" r:id="Rac348f29e2a14bb3"/>
    <p:sldLayoutId xmlns:r="http://schemas.openxmlformats.org/officeDocument/2006/relationships" id="2147483654" r:id="R2ca1d11ce2d448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43b51294b84493" /><Relationship Type="http://schemas.openxmlformats.org/officeDocument/2006/relationships/notesSlide" Target="/ppt/notesSlides/notesSlide1.xml" Id="R503c31777ef741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1df0c874a94b17" /><Relationship Type="http://schemas.openxmlformats.org/officeDocument/2006/relationships/notesSlide" Target="/ppt/notesSlides/notesSlide2.xml" Id="Rea7b49c5a4574b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8b68959094454f" /><Relationship Type="http://schemas.openxmlformats.org/officeDocument/2006/relationships/notesSlide" Target="/ppt/notesSlides/notesSlide3.xml" Id="Ra3e472dd269843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874e3db62c499c" /><Relationship Type="http://schemas.openxmlformats.org/officeDocument/2006/relationships/notesSlide" Target="/ppt/notesSlides/notesSlide4.xml" Id="R886102b48fac4c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6f0cde74a4e71" /><Relationship Type="http://schemas.openxmlformats.org/officeDocument/2006/relationships/notesSlide" Target="/ppt/notesSlides/notesSlide5.xml" Id="R8fb3c01db6b542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6660c4da9c459e" /><Relationship Type="http://schemas.openxmlformats.org/officeDocument/2006/relationships/notesSlide" Target="/ppt/notesSlides/notesSlide6.xml" Id="R7f8671833e5b4f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1f7fa3e9eb418e" /><Relationship Type="http://schemas.openxmlformats.org/officeDocument/2006/relationships/notesSlide" Target="/ppt/notesSlides/notesSlide7.xml" Id="Rb606477d1bfa46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b6e52bca204ac0" /><Relationship Type="http://schemas.openxmlformats.org/officeDocument/2006/relationships/notesSlide" Target="/ppt/notesSlides/notesSlide8.xml" Id="Ra0575ea1bdb543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aca17b3084460b" /><Relationship Type="http://schemas.openxmlformats.org/officeDocument/2006/relationships/notesSlide" Target="/ppt/notesSlides/notesSlide9.xml" Id="Rf360930ab91546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db8d0662f64df7" /><Relationship Type="http://schemas.openxmlformats.org/officeDocument/2006/relationships/notesSlide" Target="/ppt/notesSlides/notesSlide10.xml" Id="R6e95d2d6ada642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4fd39e188f4301" /><Relationship Type="http://schemas.openxmlformats.org/officeDocument/2006/relationships/notesSlide" Target="/ppt/notesSlides/notesSlide11.xml" Id="Rac58ca3c1dd44d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d85ab2a8584b34" /><Relationship Type="http://schemas.openxmlformats.org/officeDocument/2006/relationships/notesSlide" Target="/ppt/notesSlides/notesSlide12.xml" Id="R0edfcc08578041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C14320-5032-41FF-8800-02AFFFB7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23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2F5597"/>
                </a:solidFill>
              </a:defRPr>
            </a:defPPr>
            <a:lvl1pPr>
              <a:defRPr sz="1275" b="1">
                <a:solidFill>
                  <a:srgbClr val="2F5597"/>
                </a:solidFill>
              </a:defRPr>
            </a:lvl1pPr>
            <a:lvl2pPr>
              <a:defRPr sz="1275" b="1">
                <a:solidFill>
                  <a:srgbClr val="2F5597"/>
                </a:solidFill>
              </a:defRPr>
            </a:lvl2pPr>
            <a:lvl3pPr>
              <a:defRPr sz="1275" b="1">
                <a:solidFill>
                  <a:srgbClr val="2F5597"/>
                </a:solidFill>
              </a:defRPr>
            </a:lvl3pPr>
            <a:lvl4pPr>
              <a:defRPr sz="1275" b="1">
                <a:solidFill>
                  <a:srgbClr val="2F5597"/>
                </a:solidFill>
              </a:defRPr>
            </a:lvl4pPr>
            <a:lvl5pPr>
              <a:defRPr sz="1275" b="1">
                <a:solidFill>
                  <a:srgbClr val="2F5597"/>
                </a:solidFill>
              </a:defRPr>
            </a:lvl5pPr>
            <a:lvl6pPr>
              <a:defRPr sz="1275" b="1">
                <a:solidFill>
                  <a:srgbClr val="2F5597"/>
                </a:solidFill>
              </a:defRPr>
            </a:lvl6pPr>
            <a:lvl7pPr>
              <a:defRPr sz="1275" b="1">
                <a:solidFill>
                  <a:srgbClr val="2F5597"/>
                </a:solidFill>
              </a:defRPr>
            </a:lvl7pPr>
            <a:lvl8pPr>
              <a:defRPr sz="1275" b="1">
                <a:solidFill>
                  <a:srgbClr val="2F5597"/>
                </a:solidFill>
              </a:defRPr>
            </a:lvl8pPr>
            <a:lvl9pPr>
              <a:defRPr sz="12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F5597"/>
                </a:solidFill>
              </a:defRPr>
            </a:pPr>
            <a:r>
              <a:rPr sz="12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267C2-F2D9-4BBF-8241-70A161FC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F4E79"/>
                </a:solidFill>
              </a:defRPr>
            </a:defPPr>
            <a:lvl1pPr>
              <a:defRPr sz="3450" b="1">
                <a:solidFill>
                  <a:srgbClr val="1F4E79"/>
                </a:solidFill>
              </a:defRPr>
            </a:lvl1pPr>
            <a:lvl2pPr>
              <a:defRPr sz="3450" b="1">
                <a:solidFill>
                  <a:srgbClr val="1F4E79"/>
                </a:solidFill>
              </a:defRPr>
            </a:lvl2pPr>
            <a:lvl3pPr>
              <a:defRPr sz="3450" b="1">
                <a:solidFill>
                  <a:srgbClr val="1F4E79"/>
                </a:solidFill>
              </a:defRPr>
            </a:lvl3pPr>
            <a:lvl4pPr>
              <a:defRPr sz="3450" b="1">
                <a:solidFill>
                  <a:srgbClr val="1F4E79"/>
                </a:solidFill>
              </a:defRPr>
            </a:lvl4pPr>
            <a:lvl5pPr>
              <a:defRPr sz="3450" b="1">
                <a:solidFill>
                  <a:srgbClr val="1F4E79"/>
                </a:solidFill>
              </a:defRPr>
            </a:lvl5pPr>
            <a:lvl6pPr>
              <a:defRPr sz="3450" b="1">
                <a:solidFill>
                  <a:srgbClr val="1F4E79"/>
                </a:solidFill>
              </a:defRPr>
            </a:lvl6pPr>
            <a:lvl7pPr>
              <a:defRPr sz="3450" b="1">
                <a:solidFill>
                  <a:srgbClr val="1F4E79"/>
                </a:solidFill>
              </a:defRPr>
            </a:lvl7pPr>
            <a:lvl8pPr>
              <a:defRPr sz="3450" b="1">
                <a:solidFill>
                  <a:srgbClr val="1F4E79"/>
                </a:solidFill>
              </a:defRPr>
            </a:lvl8pPr>
            <a:lvl9pPr>
              <a:defRPr sz="34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F4E79"/>
                </a:solidFill>
              </a:defRPr>
            </a:pPr>
            <a:r>
              <a:rPr sz="3450" b="1">
                <a:solidFill>
                  <a:srgbClr val="1F4E79"/>
                </a:solidFill>
              </a:rPr>
              <a:t>So sánh CNN và ResNet18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680C73-8F9F-440A-842D-B46C6725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B6573"/>
                </a:solidFill>
              </a:defRPr>
            </a:defPPr>
            <a:lvl1pPr>
              <a:defRPr sz="1650" b="0">
                <a:solidFill>
                  <a:srgbClr val="5B6573"/>
                </a:solidFill>
              </a:defRPr>
            </a:lvl1pPr>
            <a:lvl2pPr>
              <a:defRPr sz="1650" b="0">
                <a:solidFill>
                  <a:srgbClr val="5B6573"/>
                </a:solidFill>
              </a:defRPr>
            </a:lvl2pPr>
            <a:lvl3pPr>
              <a:defRPr sz="1650" b="0">
                <a:solidFill>
                  <a:srgbClr val="5B6573"/>
                </a:solidFill>
              </a:defRPr>
            </a:lvl3pPr>
            <a:lvl4pPr>
              <a:defRPr sz="1650" b="0">
                <a:solidFill>
                  <a:srgbClr val="5B6573"/>
                </a:solidFill>
              </a:defRPr>
            </a:lvl4pPr>
            <a:lvl5pPr>
              <a:defRPr sz="1650" b="0">
                <a:solidFill>
                  <a:srgbClr val="5B6573"/>
                </a:solidFill>
              </a:defRPr>
            </a:lvl5pPr>
            <a:lvl6pPr>
              <a:defRPr sz="1650" b="0">
                <a:solidFill>
                  <a:srgbClr val="5B6573"/>
                </a:solidFill>
              </a:defRPr>
            </a:lvl6pPr>
            <a:lvl7pPr>
              <a:defRPr sz="1650" b="0">
                <a:solidFill>
                  <a:srgbClr val="5B6573"/>
                </a:solidFill>
              </a:defRPr>
            </a:lvl7pPr>
            <a:lvl8pPr>
              <a:defRPr sz="1650" b="0">
                <a:solidFill>
                  <a:srgbClr val="5B6573"/>
                </a:solidFill>
              </a:defRPr>
            </a:lvl8pPr>
            <a:lvl9pPr>
              <a:defRPr sz="1650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B6573"/>
                </a:solidFill>
              </a:defRPr>
            </a:pPr>
            <a:r>
              <a:rPr sz="1650" b="0">
                <a:solidFill>
                  <a:srgbClr val="5B6573"/>
                </a:solidFill>
              </a:rPr>
              <a:t>Báo cáo bài tập lớn · Nhóm 4 · Trường Đại học CMC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D9D48-E694-4B58-A44D-DE1E99C1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2A"/>
                </a:solidFill>
              </a:defRPr>
            </a:defPPr>
            <a:lvl1pPr>
              <a:defRPr sz="1200" b="0">
                <a:solidFill>
                  <a:srgbClr val="17202A"/>
                </a:solidFill>
              </a:defRPr>
            </a:lvl1pPr>
            <a:lvl2pPr>
              <a:defRPr sz="1200" b="0">
                <a:solidFill>
                  <a:srgbClr val="17202A"/>
                </a:solidFill>
              </a:defRPr>
            </a:lvl2pPr>
            <a:lvl3pPr>
              <a:defRPr sz="1200" b="0">
                <a:solidFill>
                  <a:srgbClr val="17202A"/>
                </a:solidFill>
              </a:defRPr>
            </a:lvl3pPr>
            <a:lvl4pPr>
              <a:defRPr sz="1200" b="0">
                <a:solidFill>
                  <a:srgbClr val="17202A"/>
                </a:solidFill>
              </a:defRPr>
            </a:lvl4pPr>
            <a:lvl5pPr>
              <a:defRPr sz="1200" b="0">
                <a:solidFill>
                  <a:srgbClr val="17202A"/>
                </a:solidFill>
              </a:defRPr>
            </a:lvl5pPr>
            <a:lvl6pPr>
              <a:defRPr sz="1200" b="0">
                <a:solidFill>
                  <a:srgbClr val="17202A"/>
                </a:solidFill>
              </a:defRPr>
            </a:lvl6pPr>
            <a:lvl7pPr>
              <a:defRPr sz="1200" b="0">
                <a:solidFill>
                  <a:srgbClr val="17202A"/>
                </a:solidFill>
              </a:defRPr>
            </a:lvl7pPr>
            <a:lvl8pPr>
              <a:defRPr sz="1200" b="0">
                <a:solidFill>
                  <a:srgbClr val="17202A"/>
                </a:solidFill>
              </a:defRPr>
            </a:lvl8pPr>
            <a:lvl9pPr>
              <a:defRPr sz="120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202A"/>
                </a:solidFill>
              </a:defRPr>
            </a:pPr>
            <a:r>
              <a:rPr sz="1200" b="0">
                <a:solidFill>
                  <a:srgbClr val="17202A"/>
                </a:solidFill>
              </a:rPr>
              <a:t>CNN và ResNet18 đã kiểm chứng trên Test chung</a:t>
            </a:r>
          </a:p>
        </p:txBody>
      </p:sp>
    </p:spTree>
    <p:extLst>
      <p:ext uri="{BB962C8B-B14F-4D97-AF65-F5344CB8AC3E}">
        <p14:creationId xmlns:p14="http://schemas.microsoft.com/office/powerpoint/2010/main" val="16491491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09A43D-CD44-4D74-812D-D27C06CC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4EC6A-2254-4FE5-AA14-618A7D44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Mục tiêu và phạm vi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1A476-59E2-4A4D-8A87-C7949F04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5C286-0A0B-468D-A0C3-0E4F1F56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668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Mục tiêu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6CF18-E52C-4242-8204-95E3FAE2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43125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202A"/>
                </a:solidFill>
              </a:defRPr>
            </a:defPPr>
            <a:lvl1pPr>
              <a:defRPr sz="1650" b="0">
                <a:solidFill>
                  <a:srgbClr val="17202A"/>
                </a:solidFill>
              </a:defRPr>
            </a:lvl1pPr>
            <a:lvl2pPr>
              <a:defRPr sz="1650" b="0">
                <a:solidFill>
                  <a:srgbClr val="17202A"/>
                </a:solidFill>
              </a:defRPr>
            </a:lvl2pPr>
            <a:lvl3pPr>
              <a:defRPr sz="1650" b="0">
                <a:solidFill>
                  <a:srgbClr val="17202A"/>
                </a:solidFill>
              </a:defRPr>
            </a:lvl3pPr>
            <a:lvl4pPr>
              <a:defRPr sz="1650" b="0">
                <a:solidFill>
                  <a:srgbClr val="17202A"/>
                </a:solidFill>
              </a:defRPr>
            </a:lvl4pPr>
            <a:lvl5pPr>
              <a:defRPr sz="1650" b="0">
                <a:solidFill>
                  <a:srgbClr val="17202A"/>
                </a:solidFill>
              </a:defRPr>
            </a:lvl5pPr>
            <a:lvl6pPr>
              <a:defRPr sz="1650" b="0">
                <a:solidFill>
                  <a:srgbClr val="17202A"/>
                </a:solidFill>
              </a:defRPr>
            </a:lvl6pPr>
            <a:lvl7pPr>
              <a:defRPr sz="1650" b="0">
                <a:solidFill>
                  <a:srgbClr val="17202A"/>
                </a:solidFill>
              </a:defRPr>
            </a:lvl7pPr>
            <a:lvl8pPr>
              <a:defRPr sz="1650" b="0">
                <a:solidFill>
                  <a:srgbClr val="17202A"/>
                </a:solidFill>
              </a:defRPr>
            </a:lvl8pPr>
            <a:lvl9pPr>
              <a:defRPr sz="165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Phân loại ảnh lá cà chua vào bốn lớp đã thống nhất.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 sánh CNN huấn luyện từ đầu với ResNet18 dùng Transfer Learning.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Đối chiếu kết quả với demo Streamlit.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AAAE6D-25D3-4B6C-91DE-FB0FCBD6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Phạm vi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4E7B3-7383-4DD6-94C3-F64EA5C7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447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202A"/>
                </a:solidFill>
              </a:defRPr>
            </a:defPPr>
            <a:lvl1pPr>
              <a:defRPr sz="1650" b="0">
                <a:solidFill>
                  <a:srgbClr val="17202A"/>
                </a:solidFill>
              </a:defRPr>
            </a:lvl1pPr>
            <a:lvl2pPr>
              <a:defRPr sz="1650" b="0">
                <a:solidFill>
                  <a:srgbClr val="17202A"/>
                </a:solidFill>
              </a:defRPr>
            </a:lvl2pPr>
            <a:lvl3pPr>
              <a:defRPr sz="1650" b="0">
                <a:solidFill>
                  <a:srgbClr val="17202A"/>
                </a:solidFill>
              </a:defRPr>
            </a:lvl3pPr>
            <a:lvl4pPr>
              <a:defRPr sz="1650" b="0">
                <a:solidFill>
                  <a:srgbClr val="17202A"/>
                </a:solidFill>
              </a:defRPr>
            </a:lvl4pPr>
            <a:lvl5pPr>
              <a:defRPr sz="1650" b="0">
                <a:solidFill>
                  <a:srgbClr val="17202A"/>
                </a:solidFill>
              </a:defRPr>
            </a:lvl5pPr>
            <a:lvl6pPr>
              <a:defRPr sz="1650" b="0">
                <a:solidFill>
                  <a:srgbClr val="17202A"/>
                </a:solidFill>
              </a:defRPr>
            </a:lvl6pPr>
            <a:lvl7pPr>
              <a:defRPr sz="1650" b="0">
                <a:solidFill>
                  <a:srgbClr val="17202A"/>
                </a:solidFill>
              </a:defRPr>
            </a:lvl7pPr>
            <a:lvl8pPr>
              <a:defRPr sz="1650" b="0">
                <a:solidFill>
                  <a:srgbClr val="17202A"/>
                </a:solidFill>
              </a:defRPr>
            </a:lvl8pPr>
            <a:lvl9pPr>
              <a:defRPr sz="165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Kết quả chỉ áp dụng cho các lớp và dữ liệu đã học.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PlantVillage có điều kiện chụp được kiểm soát.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Chưa có thí nghiệm riêng cho bệnh mới chớm.</a:t>
            </a:r>
          </a:p>
        </p:txBody>
      </p:sp>
    </p:spTree>
    <p:extLst>
      <p:ext uri="{BB962C8B-B14F-4D97-AF65-F5344CB8AC3E}">
        <p14:creationId xmlns:p14="http://schemas.microsoft.com/office/powerpoint/2010/main" val="588306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69A36-6097-49DC-B1E9-C3C42861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DDC06-C904-42CC-8072-37AB8C48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Dữ liệu và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20FCE-07A7-44CD-A9C3-E54E9864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F7115E-6345-4FA6-8D19-B8939EBC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668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5597"/>
                </a:solidFill>
              </a:defRPr>
            </a:defPPr>
            <a:lvl1pPr>
              <a:defRPr sz="1800" b="1">
                <a:solidFill>
                  <a:srgbClr val="2F5597"/>
                </a:solidFill>
              </a:defRPr>
            </a:lvl1pPr>
            <a:lvl2pPr>
              <a:defRPr sz="1800" b="1">
                <a:solidFill>
                  <a:srgbClr val="2F5597"/>
                </a:solidFill>
              </a:defRPr>
            </a:lvl2pPr>
            <a:lvl3pPr>
              <a:defRPr sz="1800" b="1">
                <a:solidFill>
                  <a:srgbClr val="2F5597"/>
                </a:solidFill>
              </a:defRPr>
            </a:lvl3pPr>
            <a:lvl4pPr>
              <a:defRPr sz="1800" b="1">
                <a:solidFill>
                  <a:srgbClr val="2F5597"/>
                </a:solidFill>
              </a:defRPr>
            </a:lvl4pPr>
            <a:lvl5pPr>
              <a:defRPr sz="1800" b="1">
                <a:solidFill>
                  <a:srgbClr val="2F5597"/>
                </a:solidFill>
              </a:defRPr>
            </a:lvl5pPr>
            <a:lvl6pPr>
              <a:defRPr sz="1800" b="1">
                <a:solidFill>
                  <a:srgbClr val="2F5597"/>
                </a:solidFill>
              </a:defRPr>
            </a:lvl6pPr>
            <a:lvl7pPr>
              <a:defRPr sz="1800" b="1">
                <a:solidFill>
                  <a:srgbClr val="2F5597"/>
                </a:solidFill>
              </a:defRPr>
            </a:lvl7pPr>
            <a:lvl8pPr>
              <a:defRPr sz="1800" b="1">
                <a:solidFill>
                  <a:srgbClr val="2F5597"/>
                </a:solidFill>
              </a:defRPr>
            </a:lvl8pPr>
            <a:lvl9pPr>
              <a:defRPr sz="180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5597"/>
                </a:solidFill>
              </a:defRPr>
            </a:pPr>
            <a:r>
              <a:rPr sz="1800" b="1">
                <a:solidFill>
                  <a:srgbClr val="2F5597"/>
                </a:solidFill>
              </a:rPr>
              <a:t>Nguồn 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4AD57-EC29-4874-A453-C835706B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7202A"/>
                </a:solidFill>
              </a:defRPr>
            </a:defPPr>
            <a:lvl1pPr>
              <a:defRPr sz="1500" b="0">
                <a:solidFill>
                  <a:srgbClr val="17202A"/>
                </a:solidFill>
              </a:defRPr>
            </a:lvl1pPr>
            <a:lvl2pPr>
              <a:defRPr sz="1500" b="0">
                <a:solidFill>
                  <a:srgbClr val="17202A"/>
                </a:solidFill>
              </a:defRPr>
            </a:lvl2pPr>
            <a:lvl3pPr>
              <a:defRPr sz="1500" b="0">
                <a:solidFill>
                  <a:srgbClr val="17202A"/>
                </a:solidFill>
              </a:defRPr>
            </a:lvl3pPr>
            <a:lvl4pPr>
              <a:defRPr sz="1500" b="0">
                <a:solidFill>
                  <a:srgbClr val="17202A"/>
                </a:solidFill>
              </a:defRPr>
            </a:lvl4pPr>
            <a:lvl5pPr>
              <a:defRPr sz="1500" b="0">
                <a:solidFill>
                  <a:srgbClr val="17202A"/>
                </a:solidFill>
              </a:defRPr>
            </a:lvl5pPr>
            <a:lvl6pPr>
              <a:defRPr sz="1500" b="0">
                <a:solidFill>
                  <a:srgbClr val="17202A"/>
                </a:solidFill>
              </a:defRPr>
            </a:lvl6pPr>
            <a:lvl7pPr>
              <a:defRPr sz="1500" b="0">
                <a:solidFill>
                  <a:srgbClr val="17202A"/>
                </a:solidFill>
              </a:defRPr>
            </a:lvl7pPr>
            <a:lvl8pPr>
              <a:defRPr sz="1500" b="0">
                <a:solidFill>
                  <a:srgbClr val="17202A"/>
                </a:solidFill>
              </a:defRPr>
            </a:lvl8pPr>
            <a:lvl9pPr>
              <a:defRPr sz="150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PlantVillage · 6.502 ảnh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Train 4.115 · Validation 1.031 · Test 1.356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724709-152D-48C7-8AA8-CDF65749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5597"/>
                </a:solidFill>
              </a:defRPr>
            </a:defPPr>
            <a:lvl1pPr>
              <a:defRPr sz="1800" b="1">
                <a:solidFill>
                  <a:srgbClr val="2F5597"/>
                </a:solidFill>
              </a:defRPr>
            </a:lvl1pPr>
            <a:lvl2pPr>
              <a:defRPr sz="1800" b="1">
                <a:solidFill>
                  <a:srgbClr val="2F5597"/>
                </a:solidFill>
              </a:defRPr>
            </a:lvl2pPr>
            <a:lvl3pPr>
              <a:defRPr sz="1800" b="1">
                <a:solidFill>
                  <a:srgbClr val="2F5597"/>
                </a:solidFill>
              </a:defRPr>
            </a:lvl3pPr>
            <a:lvl4pPr>
              <a:defRPr sz="1800" b="1">
                <a:solidFill>
                  <a:srgbClr val="2F5597"/>
                </a:solidFill>
              </a:defRPr>
            </a:lvl4pPr>
            <a:lvl5pPr>
              <a:defRPr sz="1800" b="1">
                <a:solidFill>
                  <a:srgbClr val="2F5597"/>
                </a:solidFill>
              </a:defRPr>
            </a:lvl5pPr>
            <a:lvl6pPr>
              <a:defRPr sz="1800" b="1">
                <a:solidFill>
                  <a:srgbClr val="2F5597"/>
                </a:solidFill>
              </a:defRPr>
            </a:lvl6pPr>
            <a:lvl7pPr>
              <a:defRPr sz="1800" b="1">
                <a:solidFill>
                  <a:srgbClr val="2F5597"/>
                </a:solidFill>
              </a:defRPr>
            </a:lvl7pPr>
            <a:lvl8pPr>
              <a:defRPr sz="1800" b="1">
                <a:solidFill>
                  <a:srgbClr val="2F5597"/>
                </a:solidFill>
              </a:defRPr>
            </a:lvl8pPr>
            <a:lvl9pPr>
              <a:defRPr sz="180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5597"/>
                </a:solidFill>
              </a:defRPr>
            </a:pPr>
            <a:r>
              <a:rPr sz="1800" b="1">
                <a:solidFill>
                  <a:srgbClr val="2F5597"/>
                </a:solidFill>
              </a:rPr>
              <a:t>Pipeline chung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2D288-64A7-4405-9896-0B7D4FC4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7202A"/>
                </a:solidFill>
              </a:defRPr>
            </a:defPPr>
            <a:lvl1pPr>
              <a:defRPr sz="1800" b="1">
                <a:solidFill>
                  <a:srgbClr val="17202A"/>
                </a:solidFill>
              </a:defRPr>
            </a:lvl1pPr>
            <a:lvl2pPr>
              <a:defRPr sz="1800" b="1">
                <a:solidFill>
                  <a:srgbClr val="17202A"/>
                </a:solidFill>
              </a:defRPr>
            </a:lvl2pPr>
            <a:lvl3pPr>
              <a:defRPr sz="1800" b="1">
                <a:solidFill>
                  <a:srgbClr val="17202A"/>
                </a:solidFill>
              </a:defRPr>
            </a:lvl3pPr>
            <a:lvl4pPr>
              <a:defRPr sz="1800" b="1">
                <a:solidFill>
                  <a:srgbClr val="17202A"/>
                </a:solidFill>
              </a:defRPr>
            </a:lvl4pPr>
            <a:lvl5pPr>
              <a:defRPr sz="1800" b="1">
                <a:solidFill>
                  <a:srgbClr val="17202A"/>
                </a:solidFill>
              </a:defRPr>
            </a:lvl5pPr>
            <a:lvl6pPr>
              <a:defRPr sz="1800" b="1">
                <a:solidFill>
                  <a:srgbClr val="17202A"/>
                </a:solidFill>
              </a:defRPr>
            </a:lvl6pPr>
            <a:lvl7pPr>
              <a:defRPr sz="1800" b="1">
                <a:solidFill>
                  <a:srgbClr val="17202A"/>
                </a:solidFill>
              </a:defRPr>
            </a:lvl7pPr>
            <a:lvl8pPr>
              <a:defRPr sz="1800" b="1">
                <a:solidFill>
                  <a:srgbClr val="17202A"/>
                </a:solidFill>
              </a:defRPr>
            </a:lvl8pPr>
            <a:lvl9pPr>
              <a:defRPr sz="1800" b="1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Manifest → transform → model → prediction CSV → đánh giá NV5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10876-39D4-4612-BF84-C5CBED57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B6573"/>
                </a:solidFill>
              </a:defRPr>
            </a:defPPr>
            <a:lvl1pPr>
              <a:defRPr sz="1350" b="0">
                <a:solidFill>
                  <a:srgbClr val="5B6573"/>
                </a:solidFill>
              </a:defRPr>
            </a:lvl1pPr>
            <a:lvl2pPr>
              <a:defRPr sz="1350" b="0">
                <a:solidFill>
                  <a:srgbClr val="5B6573"/>
                </a:solidFill>
              </a:defRPr>
            </a:lvl2pPr>
            <a:lvl3pPr>
              <a:defRPr sz="1350" b="0">
                <a:solidFill>
                  <a:srgbClr val="5B6573"/>
                </a:solidFill>
              </a:defRPr>
            </a:lvl3pPr>
            <a:lvl4pPr>
              <a:defRPr sz="1350" b="0">
                <a:solidFill>
                  <a:srgbClr val="5B6573"/>
                </a:solidFill>
              </a:defRPr>
            </a:lvl4pPr>
            <a:lvl5pPr>
              <a:defRPr sz="1350" b="0">
                <a:solidFill>
                  <a:srgbClr val="5B6573"/>
                </a:solidFill>
              </a:defRPr>
            </a:lvl5pPr>
            <a:lvl6pPr>
              <a:defRPr sz="1350" b="0">
                <a:solidFill>
                  <a:srgbClr val="5B6573"/>
                </a:solidFill>
              </a:defRPr>
            </a:lvl6pPr>
            <a:lvl7pPr>
              <a:defRPr sz="1350" b="0">
                <a:solidFill>
                  <a:srgbClr val="5B6573"/>
                </a:solidFill>
              </a:defRPr>
            </a:lvl7pPr>
            <a:lvl8pPr>
              <a:defRPr sz="1350" b="0">
                <a:solidFill>
                  <a:srgbClr val="5B6573"/>
                </a:solidFill>
              </a:defRPr>
            </a:lvl8pPr>
            <a:lvl9pPr>
              <a:defRPr sz="1350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573"/>
                </a:solidFill>
              </a:defRPr>
            </a:pPr>
            <a:r>
              <a:rPr sz="1350" b="0">
                <a:solidFill>
                  <a:srgbClr val="5B6573"/>
                </a:solidFill>
              </a:rPr>
              <a:t>Mapping 0–3: Healthy · Early Blight · Late Blight · Bacterial Spot</a:t>
            </a:r>
          </a:p>
          <a:p xmlns:a="http://schemas.openxmlformats.org/drawingml/2006/main">
            <a:pPr>
              <a:defRPr sz="1350" b="0">
                <a:solidFill>
                  <a:srgbClr val="5B6573"/>
                </a:solidFill>
              </a:defRPr>
            </a:pPr>
            <a:r>
              <a:rPr sz="1350" b="0">
                <a:solidFill>
                  <a:srgbClr val="5B6573"/>
                </a:solidFill>
              </a:rPr>
              <a:t>Nguồn: PR #8 và configs/class_mapping.json</a:t>
            </a:r>
          </a:p>
        </p:txBody>
      </p:sp>
    </p:spTree>
    <p:extLst>
      <p:ext uri="{BB962C8B-B14F-4D97-AF65-F5344CB8AC3E}">
        <p14:creationId xmlns:p14="http://schemas.microsoft.com/office/powerpoint/2010/main" val="21052782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39E81-97E4-47BE-B5DF-2F42DC5B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16E316-9B2E-4C61-8D75-AFF0A331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Hai hướng mô hình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207BE9-D592-43C3-8AA0-DB00E8AE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F2877-CF99-478C-8DCC-0BC05A8E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F5597"/>
                </a:solidFill>
              </a:defRPr>
            </a:defPPr>
            <a:lvl1pPr>
              <a:defRPr sz="1950" b="1">
                <a:solidFill>
                  <a:srgbClr val="2F5597"/>
                </a:solidFill>
              </a:defRPr>
            </a:lvl1pPr>
            <a:lvl2pPr>
              <a:defRPr sz="1950" b="1">
                <a:solidFill>
                  <a:srgbClr val="2F5597"/>
                </a:solidFill>
              </a:defRPr>
            </a:lvl2pPr>
            <a:lvl3pPr>
              <a:defRPr sz="1950" b="1">
                <a:solidFill>
                  <a:srgbClr val="2F5597"/>
                </a:solidFill>
              </a:defRPr>
            </a:lvl3pPr>
            <a:lvl4pPr>
              <a:defRPr sz="1950" b="1">
                <a:solidFill>
                  <a:srgbClr val="2F5597"/>
                </a:solidFill>
              </a:defRPr>
            </a:lvl4pPr>
            <a:lvl5pPr>
              <a:defRPr sz="1950" b="1">
                <a:solidFill>
                  <a:srgbClr val="2F5597"/>
                </a:solidFill>
              </a:defRPr>
            </a:lvl5pPr>
            <a:lvl6pPr>
              <a:defRPr sz="1950" b="1">
                <a:solidFill>
                  <a:srgbClr val="2F5597"/>
                </a:solidFill>
              </a:defRPr>
            </a:lvl6pPr>
            <a:lvl7pPr>
              <a:defRPr sz="1950" b="1">
                <a:solidFill>
                  <a:srgbClr val="2F5597"/>
                </a:solidFill>
              </a:defRPr>
            </a:lvl7pPr>
            <a:lvl8pPr>
              <a:defRPr sz="1950" b="1">
                <a:solidFill>
                  <a:srgbClr val="2F5597"/>
                </a:solidFill>
              </a:defRPr>
            </a:lvl8pPr>
            <a:lvl9pPr>
              <a:defRPr sz="195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F5597"/>
                </a:solidFill>
              </a:defRPr>
            </a:pPr>
            <a:r>
              <a:rPr sz="1950" b="1">
                <a:solidFill>
                  <a:srgbClr val="2F5597"/>
                </a:solidFill>
              </a:rPr>
              <a:t>CNN tự xây dựng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B28C7-311A-4878-B49B-8EDF4990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4953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Học từ đầu · 4 khối Conv–BN–ReLU–MaxPool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GAP · Dropout 0,3 · Linear 4 lớp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Checkpoint E1 epoch 24 chọn theo Validation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3C1C8D-FAE8-4BEA-A9B5-DDFFF850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F5597"/>
                </a:solidFill>
              </a:defRPr>
            </a:defPPr>
            <a:lvl1pPr>
              <a:defRPr sz="1950" b="1">
                <a:solidFill>
                  <a:srgbClr val="2F5597"/>
                </a:solidFill>
              </a:defRPr>
            </a:lvl1pPr>
            <a:lvl2pPr>
              <a:defRPr sz="1950" b="1">
                <a:solidFill>
                  <a:srgbClr val="2F5597"/>
                </a:solidFill>
              </a:defRPr>
            </a:lvl2pPr>
            <a:lvl3pPr>
              <a:defRPr sz="1950" b="1">
                <a:solidFill>
                  <a:srgbClr val="2F5597"/>
                </a:solidFill>
              </a:defRPr>
            </a:lvl3pPr>
            <a:lvl4pPr>
              <a:defRPr sz="1950" b="1">
                <a:solidFill>
                  <a:srgbClr val="2F5597"/>
                </a:solidFill>
              </a:defRPr>
            </a:lvl4pPr>
            <a:lvl5pPr>
              <a:defRPr sz="1950" b="1">
                <a:solidFill>
                  <a:srgbClr val="2F5597"/>
                </a:solidFill>
              </a:defRPr>
            </a:lvl5pPr>
            <a:lvl6pPr>
              <a:defRPr sz="1950" b="1">
                <a:solidFill>
                  <a:srgbClr val="2F5597"/>
                </a:solidFill>
              </a:defRPr>
            </a:lvl6pPr>
            <a:lvl7pPr>
              <a:defRPr sz="1950" b="1">
                <a:solidFill>
                  <a:srgbClr val="2F5597"/>
                </a:solidFill>
              </a:defRPr>
            </a:lvl7pPr>
            <a:lvl8pPr>
              <a:defRPr sz="1950" b="1">
                <a:solidFill>
                  <a:srgbClr val="2F5597"/>
                </a:solidFill>
              </a:defRPr>
            </a:lvl8pPr>
            <a:lvl9pPr>
              <a:defRPr sz="195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F5597"/>
                </a:solidFill>
              </a:defRPr>
            </a:pPr>
            <a:r>
              <a:rPr sz="1950" b="1">
                <a:solidFill>
                  <a:srgbClr val="2F5597"/>
                </a:solidFill>
              </a:rPr>
              <a:t>ResNet18 Transfer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E25D5-BB38-449D-9524-1AD5B60E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ImageNet pretrained · fine-tuning layer4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Checkpoint epoch 9 chọn theo Validation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Test artifact và SHA-256 đã kiểm</a:t>
            </a:r>
          </a:p>
        </p:txBody>
      </p:sp>
    </p:spTree>
    <p:extLst>
      <p:ext uri="{BB962C8B-B14F-4D97-AF65-F5344CB8AC3E}">
        <p14:creationId xmlns:p14="http://schemas.microsoft.com/office/powerpoint/2010/main" val="5995734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580DF-DD21-4105-BF92-C10A9E74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3F281-EE37-49C7-A765-9052A508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Giao thức đánh giá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05E62-4A69-4DE8-86A6-A1BFEC39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3D799C-51A8-465B-9362-FAF51D8E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202A"/>
                </a:solidFill>
              </a:defRPr>
            </a:defPPr>
            <a:lvl1pPr>
              <a:defRPr sz="1725" b="1">
                <a:solidFill>
                  <a:srgbClr val="17202A"/>
                </a:solidFill>
              </a:defRPr>
            </a:lvl1pPr>
            <a:lvl2pPr>
              <a:defRPr sz="1725" b="1">
                <a:solidFill>
                  <a:srgbClr val="17202A"/>
                </a:solidFill>
              </a:defRPr>
            </a:lvl2pPr>
            <a:lvl3pPr>
              <a:defRPr sz="1725" b="1">
                <a:solidFill>
                  <a:srgbClr val="17202A"/>
                </a:solidFill>
              </a:defRPr>
            </a:lvl3pPr>
            <a:lvl4pPr>
              <a:defRPr sz="1725" b="1">
                <a:solidFill>
                  <a:srgbClr val="17202A"/>
                </a:solidFill>
              </a:defRPr>
            </a:lvl4pPr>
            <a:lvl5pPr>
              <a:defRPr sz="1725" b="1">
                <a:solidFill>
                  <a:srgbClr val="17202A"/>
                </a:solidFill>
              </a:defRPr>
            </a:lvl5pPr>
            <a:lvl6pPr>
              <a:defRPr sz="1725" b="1">
                <a:solidFill>
                  <a:srgbClr val="17202A"/>
                </a:solidFill>
              </a:defRPr>
            </a:lvl6pPr>
            <a:lvl7pPr>
              <a:defRPr sz="1725" b="1">
                <a:solidFill>
                  <a:srgbClr val="17202A"/>
                </a:solidFill>
              </a:defRPr>
            </a:lvl7pPr>
            <a:lvl8pPr>
              <a:defRPr sz="1725" b="1">
                <a:solidFill>
                  <a:srgbClr val="17202A"/>
                </a:solidFill>
              </a:defRPr>
            </a:lvl8pPr>
            <a:lvl9pPr>
              <a:defRPr sz="1725" b="1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202A"/>
                </a:solidFill>
              </a:defRPr>
            </a:pPr>
            <a:r>
              <a:rPr sz="1725" b="1">
                <a:solidFill>
                  <a:srgbClr val="17202A"/>
                </a:solidFill>
              </a:rPr>
              <a:t>NV5 dùng scripts/evaluate_models.py để kiểm tra hai prediction CSV có cùng sample ID và ground truth.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4574D-241C-4042-8B01-9C8889A0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F5597"/>
                </a:solidFill>
              </a:defRPr>
            </a:defPPr>
            <a:lvl1pPr>
              <a:defRPr sz="1650" b="1">
                <a:solidFill>
                  <a:srgbClr val="2F5597"/>
                </a:solidFill>
              </a:defRPr>
            </a:lvl1pPr>
            <a:lvl2pPr>
              <a:defRPr sz="1650" b="1">
                <a:solidFill>
                  <a:srgbClr val="2F5597"/>
                </a:solidFill>
              </a:defRPr>
            </a:lvl2pPr>
            <a:lvl3pPr>
              <a:defRPr sz="1650" b="1">
                <a:solidFill>
                  <a:srgbClr val="2F5597"/>
                </a:solidFill>
              </a:defRPr>
            </a:lvl3pPr>
            <a:lvl4pPr>
              <a:defRPr sz="1650" b="1">
                <a:solidFill>
                  <a:srgbClr val="2F5597"/>
                </a:solidFill>
              </a:defRPr>
            </a:lvl4pPr>
            <a:lvl5pPr>
              <a:defRPr sz="1650" b="1">
                <a:solidFill>
                  <a:srgbClr val="2F5597"/>
                </a:solidFill>
              </a:defRPr>
            </a:lvl5pPr>
            <a:lvl6pPr>
              <a:defRPr sz="1650" b="1">
                <a:solidFill>
                  <a:srgbClr val="2F5597"/>
                </a:solidFill>
              </a:defRPr>
            </a:lvl6pPr>
            <a:lvl7pPr>
              <a:defRPr sz="1650" b="1">
                <a:solidFill>
                  <a:srgbClr val="2F5597"/>
                </a:solidFill>
              </a:defRPr>
            </a:lvl7pPr>
            <a:lvl8pPr>
              <a:defRPr sz="1650" b="1">
                <a:solidFill>
                  <a:srgbClr val="2F5597"/>
                </a:solidFill>
              </a:defRPr>
            </a:lvl8pPr>
            <a:lvl9pPr>
              <a:defRPr sz="165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F5597"/>
                </a:solidFill>
              </a:defRPr>
            </a:pPr>
            <a:r>
              <a:rPr sz="1650" b="1">
                <a:solidFill>
                  <a:srgbClr val="2F5597"/>
                </a:solidFill>
              </a:rPr>
              <a:t>Chỉ đánh giá Test sau khi checkpoint đã được chọn bằng Validation.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7D545-8F56-46CE-A81E-D0D591FB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5597"/>
                </a:solidFill>
              </a:defRPr>
            </a:defPPr>
            <a:lvl1pPr>
              <a:defRPr sz="1800" b="1">
                <a:solidFill>
                  <a:srgbClr val="2F5597"/>
                </a:solidFill>
              </a:defRPr>
            </a:lvl1pPr>
            <a:lvl2pPr>
              <a:defRPr sz="1800" b="1">
                <a:solidFill>
                  <a:srgbClr val="2F5597"/>
                </a:solidFill>
              </a:defRPr>
            </a:lvl2pPr>
            <a:lvl3pPr>
              <a:defRPr sz="1800" b="1">
                <a:solidFill>
                  <a:srgbClr val="2F5597"/>
                </a:solidFill>
              </a:defRPr>
            </a:lvl3pPr>
            <a:lvl4pPr>
              <a:defRPr sz="1800" b="1">
                <a:solidFill>
                  <a:srgbClr val="2F5597"/>
                </a:solidFill>
              </a:defRPr>
            </a:lvl4pPr>
            <a:lvl5pPr>
              <a:defRPr sz="1800" b="1">
                <a:solidFill>
                  <a:srgbClr val="2F5597"/>
                </a:solidFill>
              </a:defRPr>
            </a:lvl5pPr>
            <a:lvl6pPr>
              <a:defRPr sz="1800" b="1">
                <a:solidFill>
                  <a:srgbClr val="2F5597"/>
                </a:solidFill>
              </a:defRPr>
            </a:lvl6pPr>
            <a:lvl7pPr>
              <a:defRPr sz="1800" b="1">
                <a:solidFill>
                  <a:srgbClr val="2F5597"/>
                </a:solidFill>
              </a:defRPr>
            </a:lvl7pPr>
            <a:lvl8pPr>
              <a:defRPr sz="1800" b="1">
                <a:solidFill>
                  <a:srgbClr val="2F5597"/>
                </a:solidFill>
              </a:defRPr>
            </a:lvl8pPr>
            <a:lvl9pPr>
              <a:defRPr sz="180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5597"/>
                </a:solidFill>
              </a:defRPr>
            </a:pPr>
            <a:r>
              <a:rPr sz="1800" b="1">
                <a:solidFill>
                  <a:srgbClr val="2F5597"/>
                </a:solidFill>
              </a:rPr>
              <a:t>Metrics cần báo cáo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0C4BF-8E93-4785-ABD7-31AE8BC1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Accuracy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Macro Precision / Recall / F1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F1 từng lớp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Số tham số và thời gian đo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0FAC8-784E-4FF4-B3B1-EA3D27F2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5597"/>
                </a:solidFill>
              </a:defRPr>
            </a:defPPr>
            <a:lvl1pPr>
              <a:defRPr sz="1800" b="1">
                <a:solidFill>
                  <a:srgbClr val="2F5597"/>
                </a:solidFill>
              </a:defRPr>
            </a:lvl1pPr>
            <a:lvl2pPr>
              <a:defRPr sz="1800" b="1">
                <a:solidFill>
                  <a:srgbClr val="2F5597"/>
                </a:solidFill>
              </a:defRPr>
            </a:lvl2pPr>
            <a:lvl3pPr>
              <a:defRPr sz="1800" b="1">
                <a:solidFill>
                  <a:srgbClr val="2F5597"/>
                </a:solidFill>
              </a:defRPr>
            </a:lvl3pPr>
            <a:lvl4pPr>
              <a:defRPr sz="1800" b="1">
                <a:solidFill>
                  <a:srgbClr val="2F5597"/>
                </a:solidFill>
              </a:defRPr>
            </a:lvl4pPr>
            <a:lvl5pPr>
              <a:defRPr sz="1800" b="1">
                <a:solidFill>
                  <a:srgbClr val="2F5597"/>
                </a:solidFill>
              </a:defRPr>
            </a:lvl5pPr>
            <a:lvl6pPr>
              <a:defRPr sz="1800" b="1">
                <a:solidFill>
                  <a:srgbClr val="2F5597"/>
                </a:solidFill>
              </a:defRPr>
            </a:lvl6pPr>
            <a:lvl7pPr>
              <a:defRPr sz="1800" b="1">
                <a:solidFill>
                  <a:srgbClr val="2F5597"/>
                </a:solidFill>
              </a:defRPr>
            </a:lvl7pPr>
            <a:lvl8pPr>
              <a:defRPr sz="1800" b="1">
                <a:solidFill>
                  <a:srgbClr val="2F5597"/>
                </a:solidFill>
              </a:defRPr>
            </a:lvl8pPr>
            <a:lvl9pPr>
              <a:defRPr sz="180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5597"/>
                </a:solidFill>
              </a:defRPr>
            </a:pPr>
            <a:r>
              <a:rPr sz="1800" b="1">
                <a:solidFill>
                  <a:srgbClr val="2F5597"/>
                </a:solidFill>
              </a:rPr>
              <a:t>Nguồn số liệu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F402B0-6BEA-4878-9B93-933B79C8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results/comparison.csv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results/analysis.md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Hai confusion matrix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Prediction CSV và metadata checkpoint</a:t>
            </a:r>
          </a:p>
        </p:txBody>
      </p:sp>
    </p:spTree>
    <p:extLst>
      <p:ext uri="{BB962C8B-B14F-4D97-AF65-F5344CB8AC3E}">
        <p14:creationId xmlns:p14="http://schemas.microsoft.com/office/powerpoint/2010/main" val="21375614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FE0FC-0BA3-4C26-9A56-5C9C1A47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47A765-A261-45DC-AAF7-EDAB3944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Kết quả so sánh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91363-5043-4AA1-B92D-4933A1B5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AEDA4-3558-4EE3-ACE2-95EA9DB5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B6573"/>
                </a:solidFill>
              </a:defRPr>
            </a:defPPr>
            <a:lvl1pPr>
              <a:defRPr sz="1650" b="1">
                <a:solidFill>
                  <a:srgbClr val="5B6573"/>
                </a:solidFill>
              </a:defRPr>
            </a:lvl1pPr>
            <a:lvl2pPr>
              <a:defRPr sz="1650" b="1">
                <a:solidFill>
                  <a:srgbClr val="5B6573"/>
                </a:solidFill>
              </a:defRPr>
            </a:lvl2pPr>
            <a:lvl3pPr>
              <a:defRPr sz="1650" b="1">
                <a:solidFill>
                  <a:srgbClr val="5B6573"/>
                </a:solidFill>
              </a:defRPr>
            </a:lvl3pPr>
            <a:lvl4pPr>
              <a:defRPr sz="1650" b="1">
                <a:solidFill>
                  <a:srgbClr val="5B6573"/>
                </a:solidFill>
              </a:defRPr>
            </a:lvl4pPr>
            <a:lvl5pPr>
              <a:defRPr sz="1650" b="1">
                <a:solidFill>
                  <a:srgbClr val="5B6573"/>
                </a:solidFill>
              </a:defRPr>
            </a:lvl5pPr>
            <a:lvl6pPr>
              <a:defRPr sz="1650" b="1">
                <a:solidFill>
                  <a:srgbClr val="5B6573"/>
                </a:solidFill>
              </a:defRPr>
            </a:lvl6pPr>
            <a:lvl7pPr>
              <a:defRPr sz="1650" b="1">
                <a:solidFill>
                  <a:srgbClr val="5B6573"/>
                </a:solidFill>
              </a:defRPr>
            </a:lvl7pPr>
            <a:lvl8pPr>
              <a:defRPr sz="1650" b="1">
                <a:solidFill>
                  <a:srgbClr val="5B6573"/>
                </a:solidFill>
              </a:defRPr>
            </a:lvl8pPr>
            <a:lvl9pPr>
              <a:defRPr sz="1650" b="1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B6573"/>
                </a:solidFill>
              </a:defRPr>
            </a:pPr>
            <a:r>
              <a:rPr sz="1650" b="1">
                <a:solidFill>
                  <a:srgbClr val="5B6573"/>
                </a:solidFill>
              </a:rPr>
              <a:t>Test chung 1.356 ảnh · Artifact CNN PR #9 đã đối chiếu dưới 1e-6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932A2-62C0-48EB-94E5-9DB07C8C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5597"/>
                </a:solidFill>
              </a:defRPr>
            </a:defPPr>
            <a:lvl1pPr>
              <a:defRPr sz="1800" b="1">
                <a:solidFill>
                  <a:srgbClr val="2F5597"/>
                </a:solidFill>
              </a:defRPr>
            </a:lvl1pPr>
            <a:lvl2pPr>
              <a:defRPr sz="1800" b="1">
                <a:solidFill>
                  <a:srgbClr val="2F5597"/>
                </a:solidFill>
              </a:defRPr>
            </a:lvl2pPr>
            <a:lvl3pPr>
              <a:defRPr sz="1800" b="1">
                <a:solidFill>
                  <a:srgbClr val="2F5597"/>
                </a:solidFill>
              </a:defRPr>
            </a:lvl3pPr>
            <a:lvl4pPr>
              <a:defRPr sz="1800" b="1">
                <a:solidFill>
                  <a:srgbClr val="2F5597"/>
                </a:solidFill>
              </a:defRPr>
            </a:lvl4pPr>
            <a:lvl5pPr>
              <a:defRPr sz="1800" b="1">
                <a:solidFill>
                  <a:srgbClr val="2F5597"/>
                </a:solidFill>
              </a:defRPr>
            </a:lvl5pPr>
            <a:lvl6pPr>
              <a:defRPr sz="1800" b="1">
                <a:solidFill>
                  <a:srgbClr val="2F5597"/>
                </a:solidFill>
              </a:defRPr>
            </a:lvl6pPr>
            <a:lvl7pPr>
              <a:defRPr sz="1800" b="1">
                <a:solidFill>
                  <a:srgbClr val="2F5597"/>
                </a:solidFill>
              </a:defRPr>
            </a:lvl7pPr>
            <a:lvl8pPr>
              <a:defRPr sz="1800" b="1">
                <a:solidFill>
                  <a:srgbClr val="2F5597"/>
                </a:solidFill>
              </a:defRPr>
            </a:lvl8pPr>
            <a:lvl9pPr>
              <a:defRPr sz="180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5597"/>
                </a:solidFill>
              </a:defRPr>
            </a:pPr>
            <a:r>
              <a:rPr sz="1800" b="1">
                <a:solidFill>
                  <a:srgbClr val="2F5597"/>
                </a:solidFill>
              </a:rPr>
              <a:t>CNN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BDB71-D245-4281-A90A-92CC592F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4191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Accuracy: 0,969764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Macro F1: 0,965034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389.924 tham số · train 1.118,7 giây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6065A-7E0F-4460-89A4-51830652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5597"/>
                </a:solidFill>
              </a:defRPr>
            </a:defPPr>
            <a:lvl1pPr>
              <a:defRPr sz="1800" b="1">
                <a:solidFill>
                  <a:srgbClr val="2F5597"/>
                </a:solidFill>
              </a:defRPr>
            </a:lvl1pPr>
            <a:lvl2pPr>
              <a:defRPr sz="1800" b="1">
                <a:solidFill>
                  <a:srgbClr val="2F5597"/>
                </a:solidFill>
              </a:defRPr>
            </a:lvl2pPr>
            <a:lvl3pPr>
              <a:defRPr sz="1800" b="1">
                <a:solidFill>
                  <a:srgbClr val="2F5597"/>
                </a:solidFill>
              </a:defRPr>
            </a:lvl3pPr>
            <a:lvl4pPr>
              <a:defRPr sz="1800" b="1">
                <a:solidFill>
                  <a:srgbClr val="2F5597"/>
                </a:solidFill>
              </a:defRPr>
            </a:lvl4pPr>
            <a:lvl5pPr>
              <a:defRPr sz="1800" b="1">
                <a:solidFill>
                  <a:srgbClr val="2F5597"/>
                </a:solidFill>
              </a:defRPr>
            </a:lvl5pPr>
            <a:lvl6pPr>
              <a:defRPr sz="1800" b="1">
                <a:solidFill>
                  <a:srgbClr val="2F5597"/>
                </a:solidFill>
              </a:defRPr>
            </a:lvl6pPr>
            <a:lvl7pPr>
              <a:defRPr sz="1800" b="1">
                <a:solidFill>
                  <a:srgbClr val="2F5597"/>
                </a:solidFill>
              </a:defRPr>
            </a:lvl7pPr>
            <a:lvl8pPr>
              <a:defRPr sz="1800" b="1">
                <a:solidFill>
                  <a:srgbClr val="2F5597"/>
                </a:solidFill>
              </a:defRPr>
            </a:lvl8pPr>
            <a:lvl9pPr>
              <a:defRPr sz="1800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5597"/>
                </a:solidFill>
              </a:defRPr>
            </a:pPr>
            <a:r>
              <a:rPr sz="1800" b="1">
                <a:solidFill>
                  <a:srgbClr val="2F5597"/>
                </a:solidFill>
              </a:rPr>
              <a:t>ResNet18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13E3E-EB11-4740-9BCE-441BE50F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Accuracy: 0,986726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Macro F1: 0,983978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11.178.564 tham số · 8.395.780 trainable</a:t>
            </a:r>
          </a:p>
        </p:txBody>
      </p:sp>
    </p:spTree>
    <p:extLst>
      <p:ext uri="{BB962C8B-B14F-4D97-AF65-F5344CB8AC3E}">
        <p14:creationId xmlns:p14="http://schemas.microsoft.com/office/powerpoint/2010/main" val="881484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F020B-E596-4BD1-AE00-408A0E8D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74DF2-229E-4BF4-8E5F-FDA7AF5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Phân tích nhầm lẫn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43C73-038C-40BB-A6F6-8FD0171C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8661A-2BD4-4F62-BFC0-46892C7E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202A"/>
                </a:solidFill>
              </a:defRPr>
            </a:defPPr>
            <a:lvl1pPr>
              <a:defRPr sz="1500" b="1">
                <a:solidFill>
                  <a:srgbClr val="17202A"/>
                </a:solidFill>
              </a:defRPr>
            </a:lvl1pPr>
            <a:lvl2pPr>
              <a:defRPr sz="1500" b="1">
                <a:solidFill>
                  <a:srgbClr val="17202A"/>
                </a:solidFill>
              </a:defRPr>
            </a:lvl2pPr>
            <a:lvl3pPr>
              <a:defRPr sz="1500" b="1">
                <a:solidFill>
                  <a:srgbClr val="17202A"/>
                </a:solidFill>
              </a:defRPr>
            </a:lvl3pPr>
            <a:lvl4pPr>
              <a:defRPr sz="1500" b="1">
                <a:solidFill>
                  <a:srgbClr val="17202A"/>
                </a:solidFill>
              </a:defRPr>
            </a:lvl4pPr>
            <a:lvl5pPr>
              <a:defRPr sz="1500" b="1">
                <a:solidFill>
                  <a:srgbClr val="17202A"/>
                </a:solidFill>
              </a:defRPr>
            </a:lvl5pPr>
            <a:lvl6pPr>
              <a:defRPr sz="1500" b="1">
                <a:solidFill>
                  <a:srgbClr val="17202A"/>
                </a:solidFill>
              </a:defRPr>
            </a:lvl6pPr>
            <a:lvl7pPr>
              <a:defRPr sz="1500" b="1">
                <a:solidFill>
                  <a:srgbClr val="17202A"/>
                </a:solidFill>
              </a:defRPr>
            </a:lvl7pPr>
            <a:lvl8pPr>
              <a:defRPr sz="1500" b="1">
                <a:solidFill>
                  <a:srgbClr val="17202A"/>
                </a:solidFill>
              </a:defRPr>
            </a:lvl8pPr>
            <a:lvl9pPr>
              <a:defRPr sz="1500" b="1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CNN confusion matrix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H: 329  0  1  0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E: 0  198  14  3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L: 5  12  358  0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B: 0  2  4  430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3D991-4B20-4720-948E-29F77B1D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202A"/>
                </a:solidFill>
              </a:defRPr>
            </a:defPPr>
            <a:lvl1pPr>
              <a:defRPr sz="1500" b="1">
                <a:solidFill>
                  <a:srgbClr val="17202A"/>
                </a:solidFill>
              </a:defRPr>
            </a:lvl1pPr>
            <a:lvl2pPr>
              <a:defRPr sz="1500" b="1">
                <a:solidFill>
                  <a:srgbClr val="17202A"/>
                </a:solidFill>
              </a:defRPr>
            </a:lvl2pPr>
            <a:lvl3pPr>
              <a:defRPr sz="1500" b="1">
                <a:solidFill>
                  <a:srgbClr val="17202A"/>
                </a:solidFill>
              </a:defRPr>
            </a:lvl3pPr>
            <a:lvl4pPr>
              <a:defRPr sz="1500" b="1">
                <a:solidFill>
                  <a:srgbClr val="17202A"/>
                </a:solidFill>
              </a:defRPr>
            </a:lvl4pPr>
            <a:lvl5pPr>
              <a:defRPr sz="1500" b="1">
                <a:solidFill>
                  <a:srgbClr val="17202A"/>
                </a:solidFill>
              </a:defRPr>
            </a:lvl5pPr>
            <a:lvl6pPr>
              <a:defRPr sz="1500" b="1">
                <a:solidFill>
                  <a:srgbClr val="17202A"/>
                </a:solidFill>
              </a:defRPr>
            </a:lvl6pPr>
            <a:lvl7pPr>
              <a:defRPr sz="1500" b="1">
                <a:solidFill>
                  <a:srgbClr val="17202A"/>
                </a:solidFill>
              </a:defRPr>
            </a:lvl7pPr>
            <a:lvl8pPr>
              <a:defRPr sz="1500" b="1">
                <a:solidFill>
                  <a:srgbClr val="17202A"/>
                </a:solidFill>
              </a:defRPr>
            </a:lvl8pPr>
            <a:lvl9pPr>
              <a:defRPr sz="1500" b="1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ResNet18 confusion matrix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H: 329  0  1  0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E: 3  204  6  2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L: 0  3  372  0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B: 0  2  1  433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910E6-4477-4259-80A1-6F7388E9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2F5597"/>
                </a:solidFill>
              </a:defRPr>
            </a:defPPr>
            <a:lvl1pPr>
              <a:defRPr sz="1575" b="1">
                <a:solidFill>
                  <a:srgbClr val="2F5597"/>
                </a:solidFill>
              </a:defRPr>
            </a:lvl1pPr>
            <a:lvl2pPr>
              <a:defRPr sz="1575" b="1">
                <a:solidFill>
                  <a:srgbClr val="2F5597"/>
                </a:solidFill>
              </a:defRPr>
            </a:lvl2pPr>
            <a:lvl3pPr>
              <a:defRPr sz="1575" b="1">
                <a:solidFill>
                  <a:srgbClr val="2F5597"/>
                </a:solidFill>
              </a:defRPr>
            </a:lvl3pPr>
            <a:lvl4pPr>
              <a:defRPr sz="1575" b="1">
                <a:solidFill>
                  <a:srgbClr val="2F5597"/>
                </a:solidFill>
              </a:defRPr>
            </a:lvl4pPr>
            <a:lvl5pPr>
              <a:defRPr sz="1575" b="1">
                <a:solidFill>
                  <a:srgbClr val="2F5597"/>
                </a:solidFill>
              </a:defRPr>
            </a:lvl5pPr>
            <a:lvl6pPr>
              <a:defRPr sz="1575" b="1">
                <a:solidFill>
                  <a:srgbClr val="2F5597"/>
                </a:solidFill>
              </a:defRPr>
            </a:lvl6pPr>
            <a:lvl7pPr>
              <a:defRPr sz="1575" b="1">
                <a:solidFill>
                  <a:srgbClr val="2F5597"/>
                </a:solidFill>
              </a:defRPr>
            </a:lvl7pPr>
            <a:lvl8pPr>
              <a:defRPr sz="1575" b="1">
                <a:solidFill>
                  <a:srgbClr val="2F5597"/>
                </a:solidFill>
              </a:defRPr>
            </a:lvl8pPr>
            <a:lvl9pPr>
              <a:defRPr sz="15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F5597"/>
                </a:solidFill>
              </a:defRPr>
            </a:pPr>
            <a:r>
              <a:rPr sz="1575" b="1">
                <a:solidFill>
                  <a:srgbClr val="2F5597"/>
                </a:solidFill>
              </a:rPr>
              <a:t>Lỗi: CNN 41 ảnh · ResNet18 18 ảnh; Early Blight → Late Blight còn khó nhất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EBD1F-8DAD-477B-A506-4C29C3B3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573"/>
                </a:solidFill>
              </a:defRPr>
            </a:defPPr>
            <a:lvl1pPr>
              <a:defRPr sz="1275" b="0">
                <a:solidFill>
                  <a:srgbClr val="5B6573"/>
                </a:solidFill>
              </a:defRPr>
            </a:lvl1pPr>
            <a:lvl2pPr>
              <a:defRPr sz="1275" b="0">
                <a:solidFill>
                  <a:srgbClr val="5B6573"/>
                </a:solidFill>
              </a:defRPr>
            </a:lvl2pPr>
            <a:lvl3pPr>
              <a:defRPr sz="1275" b="0">
                <a:solidFill>
                  <a:srgbClr val="5B6573"/>
                </a:solidFill>
              </a:defRPr>
            </a:lvl3pPr>
            <a:lvl4pPr>
              <a:defRPr sz="1275" b="0">
                <a:solidFill>
                  <a:srgbClr val="5B6573"/>
                </a:solidFill>
              </a:defRPr>
            </a:lvl4pPr>
            <a:lvl5pPr>
              <a:defRPr sz="1275" b="0">
                <a:solidFill>
                  <a:srgbClr val="5B6573"/>
                </a:solidFill>
              </a:defRPr>
            </a:lvl5pPr>
            <a:lvl6pPr>
              <a:defRPr sz="1275" b="0">
                <a:solidFill>
                  <a:srgbClr val="5B6573"/>
                </a:solidFill>
              </a:defRPr>
            </a:lvl6pPr>
            <a:lvl7pPr>
              <a:defRPr sz="1275" b="0">
                <a:solidFill>
                  <a:srgbClr val="5B6573"/>
                </a:solidFill>
              </a:defRPr>
            </a:lvl7pPr>
            <a:lvl8pPr>
              <a:defRPr sz="1275" b="0">
                <a:solidFill>
                  <a:srgbClr val="5B6573"/>
                </a:solidFill>
              </a:defRPr>
            </a:lvl8pPr>
            <a:lvl9pPr>
              <a:defRPr sz="127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573"/>
                </a:solidFill>
              </a:defRPr>
            </a:pPr>
            <a:r>
              <a:rPr sz="1275" b="0">
                <a:solidFill>
                  <a:srgbClr val="5B6573"/>
                </a:solidFill>
              </a:rPr>
              <a:t>H = Healthy · E = Early Blight · L = Late Blight · B = Bacterial Spot</a:t>
            </a:r>
          </a:p>
        </p:txBody>
      </p:sp>
    </p:spTree>
    <p:extLst>
      <p:ext uri="{BB962C8B-B14F-4D97-AF65-F5344CB8AC3E}">
        <p14:creationId xmlns:p14="http://schemas.microsoft.com/office/powerpoint/2010/main" val="15985349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D6C57-008D-4DFF-BE56-A964BA2C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E3656-2BC0-4677-BC8D-30BC679C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Demo và giới hạn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70B0B-470A-4D7E-9AE9-31486224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2DA98-2D42-47C2-A896-8E1A299C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F44F2-F7B7-4CF0-A7A2-D0F568D1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38375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7202A"/>
                </a:solidFill>
              </a:defRPr>
            </a:defPPr>
            <a:lvl1pPr>
              <a:defRPr sz="1500" b="0">
                <a:solidFill>
                  <a:srgbClr val="17202A"/>
                </a:solidFill>
              </a:defRPr>
            </a:lvl1pPr>
            <a:lvl2pPr>
              <a:defRPr sz="1500" b="0">
                <a:solidFill>
                  <a:srgbClr val="17202A"/>
                </a:solidFill>
              </a:defRPr>
            </a:lvl2pPr>
            <a:lvl3pPr>
              <a:defRPr sz="1500" b="0">
                <a:solidFill>
                  <a:srgbClr val="17202A"/>
                </a:solidFill>
              </a:defRPr>
            </a:lvl3pPr>
            <a:lvl4pPr>
              <a:defRPr sz="1500" b="0">
                <a:solidFill>
                  <a:srgbClr val="17202A"/>
                </a:solidFill>
              </a:defRPr>
            </a:lvl4pPr>
            <a:lvl5pPr>
              <a:defRPr sz="1500" b="0">
                <a:solidFill>
                  <a:srgbClr val="17202A"/>
                </a:solidFill>
              </a:defRPr>
            </a:lvl5pPr>
            <a:lvl6pPr>
              <a:defRPr sz="1500" b="0">
                <a:solidFill>
                  <a:srgbClr val="17202A"/>
                </a:solidFill>
              </a:defRPr>
            </a:lvl6pPr>
            <a:lvl7pPr>
              <a:defRPr sz="1500" b="0">
                <a:solidFill>
                  <a:srgbClr val="17202A"/>
                </a:solidFill>
              </a:defRPr>
            </a:lvl7pPr>
            <a:lvl8pPr>
              <a:defRPr sz="1500" b="0">
                <a:solidFill>
                  <a:srgbClr val="17202A"/>
                </a:solidFill>
              </a:defRPr>
            </a:lvl8pPr>
            <a:lvl9pPr>
              <a:defRPr sz="150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Streamlit: upload, CNN, ResNet18, so sánh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Cả hai strict-load CPU; --model both: max |delta| = 0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Ảnh/video cuối: chờ NV4 xác nhận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2526E-33A7-4B64-A466-4EC4766E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621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Giới hạn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CE271-E897-455D-934A-62C34761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202A"/>
                </a:solidFill>
              </a:defRPr>
            </a:defPPr>
            <a:lvl1pPr>
              <a:defRPr sz="1650" b="0">
                <a:solidFill>
                  <a:srgbClr val="17202A"/>
                </a:solidFill>
              </a:defRPr>
            </a:lvl1pPr>
            <a:lvl2pPr>
              <a:defRPr sz="1650" b="0">
                <a:solidFill>
                  <a:srgbClr val="17202A"/>
                </a:solidFill>
              </a:defRPr>
            </a:lvl2pPr>
            <a:lvl3pPr>
              <a:defRPr sz="1650" b="0">
                <a:solidFill>
                  <a:srgbClr val="17202A"/>
                </a:solidFill>
              </a:defRPr>
            </a:lvl3pPr>
            <a:lvl4pPr>
              <a:defRPr sz="1650" b="0">
                <a:solidFill>
                  <a:srgbClr val="17202A"/>
                </a:solidFill>
              </a:defRPr>
            </a:lvl4pPr>
            <a:lvl5pPr>
              <a:defRPr sz="1650" b="0">
                <a:solidFill>
                  <a:srgbClr val="17202A"/>
                </a:solidFill>
              </a:defRPr>
            </a:lvl5pPr>
            <a:lvl6pPr>
              <a:defRPr sz="1650" b="0">
                <a:solidFill>
                  <a:srgbClr val="17202A"/>
                </a:solidFill>
              </a:defRPr>
            </a:lvl6pPr>
            <a:lvl7pPr>
              <a:defRPr sz="1650" b="0">
                <a:solidFill>
                  <a:srgbClr val="17202A"/>
                </a:solidFill>
              </a:defRPr>
            </a:lvl7pPr>
            <a:lvl8pPr>
              <a:defRPr sz="1650" b="0">
                <a:solidFill>
                  <a:srgbClr val="17202A"/>
                </a:solidFill>
              </a:defRPr>
            </a:lvl8pPr>
            <a:lvl9pPr>
              <a:defRPr sz="165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Không thay thế chuyên gia.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Ảnh ngoài miền có thể bị ép vào một lớp.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Chưa chứng minh phát hiện sớm.</a:t>
            </a:r>
          </a:p>
        </p:txBody>
      </p:sp>
    </p:spTree>
    <p:extLst>
      <p:ext uri="{BB962C8B-B14F-4D97-AF65-F5344CB8AC3E}">
        <p14:creationId xmlns:p14="http://schemas.microsoft.com/office/powerpoint/2010/main" val="7175566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E6139-07F3-405B-87A4-81293C53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F1D652-70DF-46EF-95A1-7965EA17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Kết luận và hướng phát triển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C16E2-3788-4C2E-BDA5-65929FBF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F66BD-D388-4EA8-A6B7-4DCB03FB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Kết luận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763E4-C57A-412A-B441-7C8DE101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3837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ResNet18 đạt macro-F1 0,983978, cao hơn CNN 0,965034 trên 1.356 ảnh Test.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Kết quả chỉ áp dụng PlantVillage.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52067-055B-4830-A912-9EA5C3E9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62125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Hướng phát triển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08EE6-457C-4CAF-AE44-86090E65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28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202A"/>
                </a:solidFill>
              </a:defRPr>
            </a:defPPr>
            <a:lvl1pPr>
              <a:defRPr sz="1650" b="0">
                <a:solidFill>
                  <a:srgbClr val="17202A"/>
                </a:solidFill>
              </a:defRPr>
            </a:lvl1pPr>
            <a:lvl2pPr>
              <a:defRPr sz="1650" b="0">
                <a:solidFill>
                  <a:srgbClr val="17202A"/>
                </a:solidFill>
              </a:defRPr>
            </a:lvl2pPr>
            <a:lvl3pPr>
              <a:defRPr sz="1650" b="0">
                <a:solidFill>
                  <a:srgbClr val="17202A"/>
                </a:solidFill>
              </a:defRPr>
            </a:lvl3pPr>
            <a:lvl4pPr>
              <a:defRPr sz="1650" b="0">
                <a:solidFill>
                  <a:srgbClr val="17202A"/>
                </a:solidFill>
              </a:defRPr>
            </a:lvl4pPr>
            <a:lvl5pPr>
              <a:defRPr sz="1650" b="0">
                <a:solidFill>
                  <a:srgbClr val="17202A"/>
                </a:solidFill>
              </a:defRPr>
            </a:lvl5pPr>
            <a:lvl6pPr>
              <a:defRPr sz="1650" b="0">
                <a:solidFill>
                  <a:srgbClr val="17202A"/>
                </a:solidFill>
              </a:defRPr>
            </a:lvl6pPr>
            <a:lvl7pPr>
              <a:defRPr sz="1650" b="0">
                <a:solidFill>
                  <a:srgbClr val="17202A"/>
                </a:solidFill>
              </a:defRPr>
            </a:lvl7pPr>
            <a:lvl8pPr>
              <a:defRPr sz="1650" b="0">
                <a:solidFill>
                  <a:srgbClr val="17202A"/>
                </a:solidFill>
              </a:defRPr>
            </a:lvl8pPr>
            <a:lvl9pPr>
              <a:defRPr sz="165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Bổ sung ảnh thực địa.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Kiểm tra độ tin cậy và calibration.</a:t>
            </a:r>
          </a:p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Đánh giá bệnh mới chớm khi có dataset phù hợp.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0DE21-34B7-4AFB-8215-0FF711B8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B6573"/>
                </a:solidFill>
              </a:defRPr>
            </a:defPPr>
            <a:lvl1pPr>
              <a:defRPr sz="1350" b="0">
                <a:solidFill>
                  <a:srgbClr val="5B6573"/>
                </a:solidFill>
              </a:defRPr>
            </a:lvl1pPr>
            <a:lvl2pPr>
              <a:defRPr sz="1350" b="0">
                <a:solidFill>
                  <a:srgbClr val="5B6573"/>
                </a:solidFill>
              </a:defRPr>
            </a:lvl2pPr>
            <a:lvl3pPr>
              <a:defRPr sz="1350" b="0">
                <a:solidFill>
                  <a:srgbClr val="5B6573"/>
                </a:solidFill>
              </a:defRPr>
            </a:lvl3pPr>
            <a:lvl4pPr>
              <a:defRPr sz="1350" b="0">
                <a:solidFill>
                  <a:srgbClr val="5B6573"/>
                </a:solidFill>
              </a:defRPr>
            </a:lvl4pPr>
            <a:lvl5pPr>
              <a:defRPr sz="1350" b="0">
                <a:solidFill>
                  <a:srgbClr val="5B6573"/>
                </a:solidFill>
              </a:defRPr>
            </a:lvl5pPr>
            <a:lvl6pPr>
              <a:defRPr sz="1350" b="0">
                <a:solidFill>
                  <a:srgbClr val="5B6573"/>
                </a:solidFill>
              </a:defRPr>
            </a:lvl6pPr>
            <a:lvl7pPr>
              <a:defRPr sz="1350" b="0">
                <a:solidFill>
                  <a:srgbClr val="5B6573"/>
                </a:solidFill>
              </a:defRPr>
            </a:lvl7pPr>
            <a:lvl8pPr>
              <a:defRPr sz="1350" b="0">
                <a:solidFill>
                  <a:srgbClr val="5B6573"/>
                </a:solidFill>
              </a:defRPr>
            </a:lvl8pPr>
            <a:lvl9pPr>
              <a:defRPr sz="1350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573"/>
                </a:solidFill>
              </a:defRPr>
            </a:pPr>
            <a:r>
              <a:rPr sz="1350" b="0">
                <a:solidFill>
                  <a:srgbClr val="5B6573"/>
                </a:solidFill>
              </a:rPr>
              <a:t>Câu hỏi phản biện: xem docs/NV5_DEFENSE_QA.md</a:t>
            </a:r>
          </a:p>
        </p:txBody>
      </p:sp>
    </p:spTree>
    <p:extLst>
      <p:ext uri="{BB962C8B-B14F-4D97-AF65-F5344CB8AC3E}">
        <p14:creationId xmlns:p14="http://schemas.microsoft.com/office/powerpoint/2010/main" val="2501263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113F5-1DE5-4CAD-84C0-838289DC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636CB-5193-4106-A769-8BECD69A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F1 từng lớp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942B5-9F4A-4CD8-8E45-C17B2787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66F2C-ECEE-4006-9394-77FABA17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191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202A"/>
                </a:solidFill>
              </a:defRPr>
            </a:defPPr>
            <a:lvl1pPr>
              <a:defRPr sz="1500" b="1">
                <a:solidFill>
                  <a:srgbClr val="17202A"/>
                </a:solidFill>
              </a:defRPr>
            </a:lvl1pPr>
            <a:lvl2pPr>
              <a:defRPr sz="1500" b="1">
                <a:solidFill>
                  <a:srgbClr val="17202A"/>
                </a:solidFill>
              </a:defRPr>
            </a:lvl2pPr>
            <a:lvl3pPr>
              <a:defRPr sz="1500" b="1">
                <a:solidFill>
                  <a:srgbClr val="17202A"/>
                </a:solidFill>
              </a:defRPr>
            </a:lvl3pPr>
            <a:lvl4pPr>
              <a:defRPr sz="1500" b="1">
                <a:solidFill>
                  <a:srgbClr val="17202A"/>
                </a:solidFill>
              </a:defRPr>
            </a:lvl4pPr>
            <a:lvl5pPr>
              <a:defRPr sz="1500" b="1">
                <a:solidFill>
                  <a:srgbClr val="17202A"/>
                </a:solidFill>
              </a:defRPr>
            </a:lvl5pPr>
            <a:lvl6pPr>
              <a:defRPr sz="1500" b="1">
                <a:solidFill>
                  <a:srgbClr val="17202A"/>
                </a:solidFill>
              </a:defRPr>
            </a:lvl6pPr>
            <a:lvl7pPr>
              <a:defRPr sz="1500" b="1">
                <a:solidFill>
                  <a:srgbClr val="17202A"/>
                </a:solidFill>
              </a:defRPr>
            </a:lvl7pPr>
            <a:lvl8pPr>
              <a:defRPr sz="1500" b="1">
                <a:solidFill>
                  <a:srgbClr val="17202A"/>
                </a:solidFill>
              </a:defRPr>
            </a:lvl8pPr>
            <a:lvl9pPr>
              <a:defRPr sz="1500" b="1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CNN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Healthy: 0,990964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Early Blight: 0,927400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Late Blight: 0,952128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Bacterial Spot: 0,989643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8E6F3-C8F0-4FC2-91D0-B8E71D94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476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202A"/>
                </a:solidFill>
              </a:defRPr>
            </a:defPPr>
            <a:lvl1pPr>
              <a:defRPr sz="1500" b="1">
                <a:solidFill>
                  <a:srgbClr val="17202A"/>
                </a:solidFill>
              </a:defRPr>
            </a:lvl1pPr>
            <a:lvl2pPr>
              <a:defRPr sz="1500" b="1">
                <a:solidFill>
                  <a:srgbClr val="17202A"/>
                </a:solidFill>
              </a:defRPr>
            </a:lvl2pPr>
            <a:lvl3pPr>
              <a:defRPr sz="1500" b="1">
                <a:solidFill>
                  <a:srgbClr val="17202A"/>
                </a:solidFill>
              </a:defRPr>
            </a:lvl3pPr>
            <a:lvl4pPr>
              <a:defRPr sz="1500" b="1">
                <a:solidFill>
                  <a:srgbClr val="17202A"/>
                </a:solidFill>
              </a:defRPr>
            </a:lvl4pPr>
            <a:lvl5pPr>
              <a:defRPr sz="1500" b="1">
                <a:solidFill>
                  <a:srgbClr val="17202A"/>
                </a:solidFill>
              </a:defRPr>
            </a:lvl5pPr>
            <a:lvl6pPr>
              <a:defRPr sz="1500" b="1">
                <a:solidFill>
                  <a:srgbClr val="17202A"/>
                </a:solidFill>
              </a:defRPr>
            </a:lvl6pPr>
            <a:lvl7pPr>
              <a:defRPr sz="1500" b="1">
                <a:solidFill>
                  <a:srgbClr val="17202A"/>
                </a:solidFill>
              </a:defRPr>
            </a:lvl7pPr>
            <a:lvl8pPr>
              <a:defRPr sz="1500" b="1">
                <a:solidFill>
                  <a:srgbClr val="17202A"/>
                </a:solidFill>
              </a:defRPr>
            </a:lvl8pPr>
            <a:lvl9pPr>
              <a:defRPr sz="1500" b="1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ResNet18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Healthy: 0,993958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Early Blight: 0,962264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Late Blight: 0,985430</a:t>
            </a:r>
          </a:p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Bacterial Spot: 0,994259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E1873-07D7-4A93-9667-267F3E33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86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F5597"/>
                </a:solidFill>
              </a:defRPr>
            </a:defPPr>
            <a:lvl1pPr>
              <a:defRPr sz="1650" b="0">
                <a:solidFill>
                  <a:srgbClr val="2F5597"/>
                </a:solidFill>
              </a:defRPr>
            </a:lvl1pPr>
            <a:lvl2pPr>
              <a:defRPr sz="1650" b="0">
                <a:solidFill>
                  <a:srgbClr val="2F5597"/>
                </a:solidFill>
              </a:defRPr>
            </a:lvl2pPr>
            <a:lvl3pPr>
              <a:defRPr sz="1650" b="0">
                <a:solidFill>
                  <a:srgbClr val="2F5597"/>
                </a:solidFill>
              </a:defRPr>
            </a:lvl3pPr>
            <a:lvl4pPr>
              <a:defRPr sz="1650" b="0">
                <a:solidFill>
                  <a:srgbClr val="2F5597"/>
                </a:solidFill>
              </a:defRPr>
            </a:lvl4pPr>
            <a:lvl5pPr>
              <a:defRPr sz="1650" b="0">
                <a:solidFill>
                  <a:srgbClr val="2F5597"/>
                </a:solidFill>
              </a:defRPr>
            </a:lvl5pPr>
            <a:lvl6pPr>
              <a:defRPr sz="1650" b="0">
                <a:solidFill>
                  <a:srgbClr val="2F5597"/>
                </a:solidFill>
              </a:defRPr>
            </a:lvl6pPr>
            <a:lvl7pPr>
              <a:defRPr sz="1650" b="0">
                <a:solidFill>
                  <a:srgbClr val="2F5597"/>
                </a:solidFill>
              </a:defRPr>
            </a:lvl7pPr>
            <a:lvl8pPr>
              <a:defRPr sz="1650" b="0">
                <a:solidFill>
                  <a:srgbClr val="2F5597"/>
                </a:solidFill>
              </a:defRPr>
            </a:lvl8pPr>
            <a:lvl9pPr>
              <a:defRPr sz="1650" b="0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F5597"/>
                </a:solidFill>
              </a:defRPr>
            </a:pPr>
            <a:r>
              <a:rPr sz="1650" b="0">
                <a:solidFill>
                  <a:srgbClr val="2F5597"/>
                </a:solidFill>
              </a:rPr>
              <a:t>ResNet18 cải thiện F1 ở cả bốn lớp. Cần đọc cùng support và confusion matrix, không chỉ dựa Accuracy.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EA017-2AD2-4643-ACCD-B6CB1E4B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2925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B6573"/>
                </a:solidFill>
              </a:defRPr>
            </a:defPPr>
            <a:lvl1pPr>
              <a:defRPr sz="1125" b="0">
                <a:solidFill>
                  <a:srgbClr val="5B6573"/>
                </a:solidFill>
              </a:defRPr>
            </a:lvl1pPr>
            <a:lvl2pPr>
              <a:defRPr sz="1125" b="0">
                <a:solidFill>
                  <a:srgbClr val="5B6573"/>
                </a:solidFill>
              </a:defRPr>
            </a:lvl2pPr>
            <a:lvl3pPr>
              <a:defRPr sz="1125" b="0">
                <a:solidFill>
                  <a:srgbClr val="5B6573"/>
                </a:solidFill>
              </a:defRPr>
            </a:lvl3pPr>
            <a:lvl4pPr>
              <a:defRPr sz="1125" b="0">
                <a:solidFill>
                  <a:srgbClr val="5B6573"/>
                </a:solidFill>
              </a:defRPr>
            </a:lvl4pPr>
            <a:lvl5pPr>
              <a:defRPr sz="1125" b="0">
                <a:solidFill>
                  <a:srgbClr val="5B6573"/>
                </a:solidFill>
              </a:defRPr>
            </a:lvl5pPr>
            <a:lvl6pPr>
              <a:defRPr sz="1125" b="0">
                <a:solidFill>
                  <a:srgbClr val="5B6573"/>
                </a:solidFill>
              </a:defRPr>
            </a:lvl6pPr>
            <a:lvl7pPr>
              <a:defRPr sz="1125" b="0">
                <a:solidFill>
                  <a:srgbClr val="5B6573"/>
                </a:solidFill>
              </a:defRPr>
            </a:lvl7pPr>
            <a:lvl8pPr>
              <a:defRPr sz="1125" b="0">
                <a:solidFill>
                  <a:srgbClr val="5B6573"/>
                </a:solidFill>
              </a:defRPr>
            </a:lvl8pPr>
            <a:lvl9pPr>
              <a:defRPr sz="11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B6573"/>
                </a:solidFill>
              </a:defRPr>
            </a:pPr>
            <a:r>
              <a:rPr sz="1125" b="0">
                <a:solidFill>
                  <a:srgbClr val="5B6573"/>
                </a:solidFill>
              </a:rPr>
              <a:t>Nguồn: results/cnn_metrics_nv2_handoff.json và results/resnet18_metrics_nv3_handoff.json</a:t>
            </a:r>
          </a:p>
        </p:txBody>
      </p:sp>
    </p:spTree>
    <p:extLst>
      <p:ext uri="{BB962C8B-B14F-4D97-AF65-F5344CB8AC3E}">
        <p14:creationId xmlns:p14="http://schemas.microsoft.com/office/powerpoint/2010/main" val="13818347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55C23-F32A-4B34-9C51-71C47DD0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B508B6-76E7-4BB9-BF15-510EC7B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Nguồn số liệu và giới hạn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E8B6C-FA41-4202-91C3-3B1115EF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E8835-EB69-44BB-84FE-C3C9066C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Nguồn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76642-165B-4260-A77E-591468B6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38375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17202A"/>
                </a:solidFill>
              </a:defRPr>
            </a:defPPr>
            <a:lvl1pPr>
              <a:defRPr sz="1425" b="0">
                <a:solidFill>
                  <a:srgbClr val="17202A"/>
                </a:solidFill>
              </a:defRPr>
            </a:lvl1pPr>
            <a:lvl2pPr>
              <a:defRPr sz="1425" b="0">
                <a:solidFill>
                  <a:srgbClr val="17202A"/>
                </a:solidFill>
              </a:defRPr>
            </a:lvl2pPr>
            <a:lvl3pPr>
              <a:defRPr sz="1425" b="0">
                <a:solidFill>
                  <a:srgbClr val="17202A"/>
                </a:solidFill>
              </a:defRPr>
            </a:lvl3pPr>
            <a:lvl4pPr>
              <a:defRPr sz="1425" b="0">
                <a:solidFill>
                  <a:srgbClr val="17202A"/>
                </a:solidFill>
              </a:defRPr>
            </a:lvl4pPr>
            <a:lvl5pPr>
              <a:defRPr sz="1425" b="0">
                <a:solidFill>
                  <a:srgbClr val="17202A"/>
                </a:solidFill>
              </a:defRPr>
            </a:lvl5pPr>
            <a:lvl6pPr>
              <a:defRPr sz="1425" b="0">
                <a:solidFill>
                  <a:srgbClr val="17202A"/>
                </a:solidFill>
              </a:defRPr>
            </a:lvl6pPr>
            <a:lvl7pPr>
              <a:defRPr sz="1425" b="0">
                <a:solidFill>
                  <a:srgbClr val="17202A"/>
                </a:solidFill>
              </a:defRPr>
            </a:lvl7pPr>
            <a:lvl8pPr>
              <a:defRPr sz="1425" b="0">
                <a:solidFill>
                  <a:srgbClr val="17202A"/>
                </a:solidFill>
              </a:defRPr>
            </a:lvl8pPr>
            <a:lvl9pPr>
              <a:defRPr sz="142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02A"/>
                </a:solidFill>
              </a:defRPr>
            </a:pPr>
            <a:r>
              <a:rPr sz="1425" b="0">
                <a:solidFill>
                  <a:srgbClr val="17202A"/>
                </a:solidFill>
              </a:rPr>
              <a:t>PR #9 · cnn_metrics.json · prediction CSV</a:t>
            </a:r>
          </a:p>
          <a:p xmlns:a="http://schemas.openxmlformats.org/drawingml/2006/main">
            <a:pPr>
              <a:defRPr sz="1425" b="0">
                <a:solidFill>
                  <a:srgbClr val="17202A"/>
                </a:solidFill>
              </a:defRPr>
            </a:pPr>
            <a:r>
              <a:rPr sz="1425" b="0">
                <a:solidFill>
                  <a:srgbClr val="17202A"/>
                </a:solidFill>
              </a:rPr>
              <a:t>PR #7 ZIP · SHA-256 checkpoint ResNet18</a:t>
            </a:r>
          </a:p>
          <a:p xmlns:a="http://schemas.openxmlformats.org/drawingml/2006/main">
            <a:pPr>
              <a:defRPr sz="1425" b="0">
                <a:solidFill>
                  <a:srgbClr val="17202A"/>
                </a:solidFill>
              </a:defRPr>
            </a:pPr>
            <a:r>
              <a:rPr sz="1425" b="0">
                <a:solidFill>
                  <a:srgbClr val="17202A"/>
                </a:solidFill>
              </a:rPr>
              <a:t>NV5 đối chiếu metrics dưới sai số 1e-6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9583B-C293-4A6F-986F-C8D740FF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Giới hạn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F418EF-5F01-40BC-8B38-ED3DE3D1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7202A"/>
                </a:solidFill>
              </a:defRPr>
            </a:defPPr>
            <a:lvl1pPr>
              <a:defRPr sz="1575" b="0">
                <a:solidFill>
                  <a:srgbClr val="17202A"/>
                </a:solidFill>
              </a:defRPr>
            </a:lvl1pPr>
            <a:lvl2pPr>
              <a:defRPr sz="1575" b="0">
                <a:solidFill>
                  <a:srgbClr val="17202A"/>
                </a:solidFill>
              </a:defRPr>
            </a:lvl2pPr>
            <a:lvl3pPr>
              <a:defRPr sz="1575" b="0">
                <a:solidFill>
                  <a:srgbClr val="17202A"/>
                </a:solidFill>
              </a:defRPr>
            </a:lvl3pPr>
            <a:lvl4pPr>
              <a:defRPr sz="1575" b="0">
                <a:solidFill>
                  <a:srgbClr val="17202A"/>
                </a:solidFill>
              </a:defRPr>
            </a:lvl4pPr>
            <a:lvl5pPr>
              <a:defRPr sz="1575" b="0">
                <a:solidFill>
                  <a:srgbClr val="17202A"/>
                </a:solidFill>
              </a:defRPr>
            </a:lvl5pPr>
            <a:lvl6pPr>
              <a:defRPr sz="1575" b="0">
                <a:solidFill>
                  <a:srgbClr val="17202A"/>
                </a:solidFill>
              </a:defRPr>
            </a:lvl6pPr>
            <a:lvl7pPr>
              <a:defRPr sz="1575" b="0">
                <a:solidFill>
                  <a:srgbClr val="17202A"/>
                </a:solidFill>
              </a:defRPr>
            </a:lvl7pPr>
            <a:lvl8pPr>
              <a:defRPr sz="1575" b="0">
                <a:solidFill>
                  <a:srgbClr val="17202A"/>
                </a:solidFill>
              </a:defRPr>
            </a:lvl8pPr>
            <a:lvl9pPr>
              <a:defRPr sz="1575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PlantVillage có điều kiện kiểm soát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Ảnh ngoài bốn lớp vẫn bị ép nhãn</a:t>
            </a:r>
          </a:p>
          <a:p xmlns:a="http://schemas.openxmlformats.org/drawingml/2006/main"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Chưa có Test bệnh mới chớm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70AD4-3BE4-41F1-910F-D98BF80E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F4E79"/>
                </a:solidFill>
              </a:defRPr>
            </a:defPPr>
            <a:lvl1pPr>
              <a:defRPr sz="1650" b="1">
                <a:solidFill>
                  <a:srgbClr val="1F4E79"/>
                </a:solidFill>
              </a:defRPr>
            </a:lvl1pPr>
            <a:lvl2pPr>
              <a:defRPr sz="1650" b="1">
                <a:solidFill>
                  <a:srgbClr val="1F4E79"/>
                </a:solidFill>
              </a:defRPr>
            </a:lvl2pPr>
            <a:lvl3pPr>
              <a:defRPr sz="1650" b="1">
                <a:solidFill>
                  <a:srgbClr val="1F4E79"/>
                </a:solidFill>
              </a:defRPr>
            </a:lvl3pPr>
            <a:lvl4pPr>
              <a:defRPr sz="1650" b="1">
                <a:solidFill>
                  <a:srgbClr val="1F4E79"/>
                </a:solidFill>
              </a:defRPr>
            </a:lvl4pPr>
            <a:lvl5pPr>
              <a:defRPr sz="1650" b="1">
                <a:solidFill>
                  <a:srgbClr val="1F4E79"/>
                </a:solidFill>
              </a:defRPr>
            </a:lvl5pPr>
            <a:lvl6pPr>
              <a:defRPr sz="1650" b="1">
                <a:solidFill>
                  <a:srgbClr val="1F4E79"/>
                </a:solidFill>
              </a:defRPr>
            </a:lvl6pPr>
            <a:lvl7pPr>
              <a:defRPr sz="1650" b="1">
                <a:solidFill>
                  <a:srgbClr val="1F4E79"/>
                </a:solidFill>
              </a:defRPr>
            </a:lvl7pPr>
            <a:lvl8pPr>
              <a:defRPr sz="1650" b="1">
                <a:solidFill>
                  <a:srgbClr val="1F4E79"/>
                </a:solidFill>
              </a:defRPr>
            </a:lvl8pPr>
            <a:lvl9pPr>
              <a:defRPr sz="16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Không dùng Test để chọn checkpoint hoặc hyperparameter.</a:t>
            </a:r>
          </a:p>
        </p:txBody>
      </p:sp>
    </p:spTree>
    <p:extLst>
      <p:ext uri="{BB962C8B-B14F-4D97-AF65-F5344CB8AC3E}">
        <p14:creationId xmlns:p14="http://schemas.microsoft.com/office/powerpoint/2010/main" val="1927400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B1840-D63D-4010-9A8C-618EC821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5597"/>
                </a:solidFill>
              </a:defRPr>
            </a:defPPr>
            <a:lvl1pPr>
              <a:defRPr sz="975" b="1">
                <a:solidFill>
                  <a:srgbClr val="2F5597"/>
                </a:solidFill>
              </a:defRPr>
            </a:lvl1pPr>
            <a:lvl2pPr>
              <a:defRPr sz="975" b="1">
                <a:solidFill>
                  <a:srgbClr val="2F5597"/>
                </a:solidFill>
              </a:defRPr>
            </a:lvl2pPr>
            <a:lvl3pPr>
              <a:defRPr sz="975" b="1">
                <a:solidFill>
                  <a:srgbClr val="2F5597"/>
                </a:solidFill>
              </a:defRPr>
            </a:lvl3pPr>
            <a:lvl4pPr>
              <a:defRPr sz="975" b="1">
                <a:solidFill>
                  <a:srgbClr val="2F5597"/>
                </a:solidFill>
              </a:defRPr>
            </a:lvl4pPr>
            <a:lvl5pPr>
              <a:defRPr sz="975" b="1">
                <a:solidFill>
                  <a:srgbClr val="2F5597"/>
                </a:solidFill>
              </a:defRPr>
            </a:lvl5pPr>
            <a:lvl6pPr>
              <a:defRPr sz="975" b="1">
                <a:solidFill>
                  <a:srgbClr val="2F5597"/>
                </a:solidFill>
              </a:defRPr>
            </a:lvl6pPr>
            <a:lvl7pPr>
              <a:defRPr sz="975" b="1">
                <a:solidFill>
                  <a:srgbClr val="2F5597"/>
                </a:solidFill>
              </a:defRPr>
            </a:lvl7pPr>
            <a:lvl8pPr>
              <a:defRPr sz="975" b="1">
                <a:solidFill>
                  <a:srgbClr val="2F5597"/>
                </a:solidFill>
              </a:defRPr>
            </a:lvl8pPr>
            <a:lvl9pPr>
              <a:defRPr sz="9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F5597"/>
                </a:solidFill>
              </a:defRPr>
            </a:pPr>
            <a:r>
              <a:rPr sz="975" b="1">
                <a:solidFill>
                  <a:srgbClr val="2F5597"/>
                </a:solidFill>
              </a:rPr>
              <a:t>NHẬN DIỆN BỆNH LÁ CÀ CHUA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ACA2D-AF87-4FF1-AC3F-D390EF3E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F4E79"/>
                </a:solidFill>
              </a:defRPr>
            </a:defPPr>
            <a:lvl1pPr>
              <a:defRPr sz="2550" b="1">
                <a:solidFill>
                  <a:srgbClr val="1F4E79"/>
                </a:solidFill>
              </a:defRPr>
            </a:lvl1pPr>
            <a:lvl2pPr>
              <a:defRPr sz="2550" b="1">
                <a:solidFill>
                  <a:srgbClr val="1F4E79"/>
                </a:solidFill>
              </a:defRPr>
            </a:lvl2pPr>
            <a:lvl3pPr>
              <a:defRPr sz="2550" b="1">
                <a:solidFill>
                  <a:srgbClr val="1F4E79"/>
                </a:solidFill>
              </a:defRPr>
            </a:lvl3pPr>
            <a:lvl4pPr>
              <a:defRPr sz="2550" b="1">
                <a:solidFill>
                  <a:srgbClr val="1F4E79"/>
                </a:solidFill>
              </a:defRPr>
            </a:lvl4pPr>
            <a:lvl5pPr>
              <a:defRPr sz="2550" b="1">
                <a:solidFill>
                  <a:srgbClr val="1F4E79"/>
                </a:solidFill>
              </a:defRPr>
            </a:lvl5pPr>
            <a:lvl6pPr>
              <a:defRPr sz="2550" b="1">
                <a:solidFill>
                  <a:srgbClr val="1F4E79"/>
                </a:solidFill>
              </a:defRPr>
            </a:lvl6pPr>
            <a:lvl7pPr>
              <a:defRPr sz="2550" b="1">
                <a:solidFill>
                  <a:srgbClr val="1F4E79"/>
                </a:solidFill>
              </a:defRPr>
            </a:lvl7pPr>
            <a:lvl8pPr>
              <a:defRPr sz="2550" b="1">
                <a:solidFill>
                  <a:srgbClr val="1F4E79"/>
                </a:solidFill>
              </a:defRPr>
            </a:lvl8pPr>
            <a:lvl9pPr>
              <a:defRPr sz="2550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F4E79"/>
                </a:solidFill>
              </a:defRPr>
            </a:pPr>
            <a:r>
              <a:rPr sz="2550" b="1">
                <a:solidFill>
                  <a:srgbClr val="1F4E79"/>
                </a:solidFill>
              </a:rPr>
              <a:t>Bàn giao cần thiết để chốt báo cáo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CBDC38-D7D2-417B-868B-6A38295C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  <a:lvl1pPr>
              <a:defRPr sz="825" b="0">
                <a:solidFill>
                  <a:srgbClr val="5B6573"/>
                </a:solidFill>
              </a:defRPr>
            </a:lvl1pPr>
            <a:lvl2pPr>
              <a:defRPr sz="825" b="0">
                <a:solidFill>
                  <a:srgbClr val="5B6573"/>
                </a:solidFill>
              </a:defRPr>
            </a:lvl2pPr>
            <a:lvl3pPr>
              <a:defRPr sz="825" b="0">
                <a:solidFill>
                  <a:srgbClr val="5B6573"/>
                </a:solidFill>
              </a:defRPr>
            </a:lvl3pPr>
            <a:lvl4pPr>
              <a:defRPr sz="825" b="0">
                <a:solidFill>
                  <a:srgbClr val="5B6573"/>
                </a:solidFill>
              </a:defRPr>
            </a:lvl4pPr>
            <a:lvl5pPr>
              <a:defRPr sz="825" b="0">
                <a:solidFill>
                  <a:srgbClr val="5B6573"/>
                </a:solidFill>
              </a:defRPr>
            </a:lvl5pPr>
            <a:lvl6pPr>
              <a:defRPr sz="825" b="0">
                <a:solidFill>
                  <a:srgbClr val="5B6573"/>
                </a:solidFill>
              </a:defRPr>
            </a:lvl6pPr>
            <a:lvl7pPr>
              <a:defRPr sz="825" b="0">
                <a:solidFill>
                  <a:srgbClr val="5B6573"/>
                </a:solidFill>
              </a:defRPr>
            </a:lvl7pPr>
            <a:lvl8pPr>
              <a:defRPr sz="825" b="0">
                <a:solidFill>
                  <a:srgbClr val="5B6573"/>
                </a:solidFill>
              </a:defRPr>
            </a:lvl8pPr>
            <a:lvl9pPr>
              <a:defRPr sz="825" b="0">
                <a:solidFill>
                  <a:srgbClr val="5B6573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Nhóm 4 · Học máy và Khai phá dữ liệu · NV5 tổng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159FB-CD1A-4867-A37A-EE5FB9EC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NV3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33996-CCF4-4A16-AD47-8DD63BC0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38375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7202A"/>
                </a:solidFill>
              </a:defRPr>
            </a:defPPr>
            <a:lvl1pPr>
              <a:defRPr sz="1500" b="0">
                <a:solidFill>
                  <a:srgbClr val="17202A"/>
                </a:solidFill>
              </a:defRPr>
            </a:lvl1pPr>
            <a:lvl2pPr>
              <a:defRPr sz="1500" b="0">
                <a:solidFill>
                  <a:srgbClr val="17202A"/>
                </a:solidFill>
              </a:defRPr>
            </a:lvl2pPr>
            <a:lvl3pPr>
              <a:defRPr sz="1500" b="0">
                <a:solidFill>
                  <a:srgbClr val="17202A"/>
                </a:solidFill>
              </a:defRPr>
            </a:lvl3pPr>
            <a:lvl4pPr>
              <a:defRPr sz="1500" b="0">
                <a:solidFill>
                  <a:srgbClr val="17202A"/>
                </a:solidFill>
              </a:defRPr>
            </a:lvl4pPr>
            <a:lvl5pPr>
              <a:defRPr sz="1500" b="0">
                <a:solidFill>
                  <a:srgbClr val="17202A"/>
                </a:solidFill>
              </a:defRPr>
            </a:lvl5pPr>
            <a:lvl6pPr>
              <a:defRPr sz="1500" b="0">
                <a:solidFill>
                  <a:srgbClr val="17202A"/>
                </a:solidFill>
              </a:defRPr>
            </a:lvl6pPr>
            <a:lvl7pPr>
              <a:defRPr sz="1500" b="0">
                <a:solidFill>
                  <a:srgbClr val="17202A"/>
                </a:solidFill>
              </a:defRPr>
            </a:lvl7pPr>
            <a:lvl8pPr>
              <a:defRPr sz="1500" b="0">
                <a:solidFill>
                  <a:srgbClr val="17202A"/>
                </a:solidFill>
              </a:defRPr>
            </a:lvl8pPr>
            <a:lvl9pPr>
              <a:defRPr sz="150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Đã nhận: checkpoint/hash, CSV, metrics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Cần duy trì link ZIP và provenance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Không commit checkpoint nhị phân vào NV5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AAF9E-AC57-44F2-A73A-459B6BD1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2F5597"/>
                </a:solidFill>
              </a:defRPr>
            </a:defPPr>
            <a:lvl1pPr>
              <a:defRPr sz="1875" b="1">
                <a:solidFill>
                  <a:srgbClr val="2F5597"/>
                </a:solidFill>
              </a:defRPr>
            </a:lvl1pPr>
            <a:lvl2pPr>
              <a:defRPr sz="1875" b="1">
                <a:solidFill>
                  <a:srgbClr val="2F5597"/>
                </a:solidFill>
              </a:defRPr>
            </a:lvl2pPr>
            <a:lvl3pPr>
              <a:defRPr sz="1875" b="1">
                <a:solidFill>
                  <a:srgbClr val="2F5597"/>
                </a:solidFill>
              </a:defRPr>
            </a:lvl3pPr>
            <a:lvl4pPr>
              <a:defRPr sz="1875" b="1">
                <a:solidFill>
                  <a:srgbClr val="2F5597"/>
                </a:solidFill>
              </a:defRPr>
            </a:lvl4pPr>
            <a:lvl5pPr>
              <a:defRPr sz="1875" b="1">
                <a:solidFill>
                  <a:srgbClr val="2F5597"/>
                </a:solidFill>
              </a:defRPr>
            </a:lvl5pPr>
            <a:lvl6pPr>
              <a:defRPr sz="1875" b="1">
                <a:solidFill>
                  <a:srgbClr val="2F5597"/>
                </a:solidFill>
              </a:defRPr>
            </a:lvl6pPr>
            <a:lvl7pPr>
              <a:defRPr sz="1875" b="1">
                <a:solidFill>
                  <a:srgbClr val="2F5597"/>
                </a:solidFill>
              </a:defRPr>
            </a:lvl7pPr>
            <a:lvl8pPr>
              <a:defRPr sz="1875" b="1">
                <a:solidFill>
                  <a:srgbClr val="2F5597"/>
                </a:solidFill>
              </a:defRPr>
            </a:lvl8pPr>
            <a:lvl9pPr>
              <a:defRPr sz="1875" b="1">
                <a:solidFill>
                  <a:srgbClr val="2F559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F5597"/>
                </a:solidFill>
              </a:defRPr>
            </a:pPr>
            <a:r>
              <a:rPr sz="1875" b="1">
                <a:solidFill>
                  <a:srgbClr val="2F5597"/>
                </a:solidFill>
              </a:rPr>
              <a:t>NV4 và nhóm trưởng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61350-5B8F-45B9-B168-05BE59C5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7202A"/>
                </a:solidFill>
              </a:defRPr>
            </a:defPPr>
            <a:lvl1pPr>
              <a:defRPr sz="1500" b="0">
                <a:solidFill>
                  <a:srgbClr val="17202A"/>
                </a:solidFill>
              </a:defRPr>
            </a:lvl1pPr>
            <a:lvl2pPr>
              <a:defRPr sz="1500" b="0">
                <a:solidFill>
                  <a:srgbClr val="17202A"/>
                </a:solidFill>
              </a:defRPr>
            </a:lvl2pPr>
            <a:lvl3pPr>
              <a:defRPr sz="1500" b="0">
                <a:solidFill>
                  <a:srgbClr val="17202A"/>
                </a:solidFill>
              </a:defRPr>
            </a:lvl3pPr>
            <a:lvl4pPr>
              <a:defRPr sz="1500" b="0">
                <a:solidFill>
                  <a:srgbClr val="17202A"/>
                </a:solidFill>
              </a:defRPr>
            </a:lvl4pPr>
            <a:lvl5pPr>
              <a:defRPr sz="1500" b="0">
                <a:solidFill>
                  <a:srgbClr val="17202A"/>
                </a:solidFill>
              </a:defRPr>
            </a:lvl5pPr>
            <a:lvl6pPr>
              <a:defRPr sz="1500" b="0">
                <a:solidFill>
                  <a:srgbClr val="17202A"/>
                </a:solidFill>
              </a:defRPr>
            </a:lvl6pPr>
            <a:lvl7pPr>
              <a:defRPr sz="1500" b="0">
                <a:solidFill>
                  <a:srgbClr val="17202A"/>
                </a:solidFill>
              </a:defRPr>
            </a:lvl7pPr>
            <a:lvl8pPr>
              <a:defRPr sz="1500" b="0">
                <a:solidFill>
                  <a:srgbClr val="17202A"/>
                </a:solidFill>
              </a:defRPr>
            </a:lvl8pPr>
            <a:lvl9pPr>
              <a:defRPr sz="1500" b="0">
                <a:solidFill>
                  <a:srgbClr val="17202A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Ảnh/video và checkpoint demo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Mẫu Word/PPTX, người trình bày</a:t>
            </a:r>
          </a:p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Review số liệu trước khi merge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3AA94-4B54-473F-BFF7-0B9538C8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F4E79"/>
                </a:solidFill>
              </a:defRPr>
            </a:defPPr>
            <a:lvl1pPr>
              <a:defRPr sz="1575" b="1">
                <a:solidFill>
                  <a:srgbClr val="1F4E79"/>
                </a:solidFill>
              </a:defRPr>
            </a:lvl1pPr>
            <a:lvl2pPr>
              <a:defRPr sz="1575" b="1">
                <a:solidFill>
                  <a:srgbClr val="1F4E79"/>
                </a:solidFill>
              </a:defRPr>
            </a:lvl2pPr>
            <a:lvl3pPr>
              <a:defRPr sz="1575" b="1">
                <a:solidFill>
                  <a:srgbClr val="1F4E79"/>
                </a:solidFill>
              </a:defRPr>
            </a:lvl3pPr>
            <a:lvl4pPr>
              <a:defRPr sz="1575" b="1">
                <a:solidFill>
                  <a:srgbClr val="1F4E79"/>
                </a:solidFill>
              </a:defRPr>
            </a:lvl4pPr>
            <a:lvl5pPr>
              <a:defRPr sz="1575" b="1">
                <a:solidFill>
                  <a:srgbClr val="1F4E79"/>
                </a:solidFill>
              </a:defRPr>
            </a:lvl5pPr>
            <a:lvl6pPr>
              <a:defRPr sz="1575" b="1">
                <a:solidFill>
                  <a:srgbClr val="1F4E79"/>
                </a:solidFill>
              </a:defRPr>
            </a:lvl6pPr>
            <a:lvl7pPr>
              <a:defRPr sz="1575" b="1">
                <a:solidFill>
                  <a:srgbClr val="1F4E79"/>
                </a:solidFill>
              </a:defRPr>
            </a:lvl7pPr>
            <a:lvl8pPr>
              <a:defRPr sz="1575" b="1">
                <a:solidFill>
                  <a:srgbClr val="1F4E79"/>
                </a:solidFill>
              </a:defRPr>
            </a:lvl8pPr>
            <a:lvl9pPr>
              <a:defRPr sz="1575" b="1">
                <a:solidFill>
                  <a:srgbClr val="1F4E79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Đã chạy evaluate_models.py với hai CSV. Mọi cập nhật sau dùng comparison.csv từ cùng nguồn.</a:t>
            </a:r>
          </a:p>
        </p:txBody>
      </p:sp>
    </p:spTree>
    <p:extLst>
      <p:ext uri="{BB962C8B-B14F-4D97-AF65-F5344CB8AC3E}">
        <p14:creationId xmlns:p14="http://schemas.microsoft.com/office/powerpoint/2010/main" val="1536367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2026-10-30T03:48:30.6400000Z</dcterms:created>
  <dcterms:modified xsi:type="dcterms:W3CDTF">2026-10-30T03:48:30.6400000Z</dcterms:modified>
</coreProperties>
</file>