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f81b2c4c7a464e" /><Relationship Type="http://schemas.openxmlformats.org/officeDocument/2006/relationships/extended-properties" Target="/docProps/app.xml" Id="R48f70873b92c4958" /><Relationship Type="http://schemas.openxmlformats.org/officeDocument/2006/relationships/officeDocument" Target="/ppt/presentation.xml" Id="Rc8660cf198a643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348a29c2a4d46"/>
  </p:sldMasterIdLst>
  <p:notesMasterIdLst>
    <p:notesMasterId xmlns:r="http://schemas.openxmlformats.org/officeDocument/2006/relationships" r:id="R6e843d219d714e42"/>
  </p:notesMasterIdLst>
  <p:sldIdLst>
    <p:sldId xmlns:r="http://schemas.openxmlformats.org/officeDocument/2006/relationships" id="256" r:id="R620cd7bfaed94b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86f2a05a76431b" /><Relationship Type="http://schemas.openxmlformats.org/officeDocument/2006/relationships/slideMaster" Target="/ppt/slideMasters/slideMaster1.xml" Id="Ree5348a29c2a4d46" /><Relationship Type="http://schemas.openxmlformats.org/officeDocument/2006/relationships/notesMaster" Target="/ppt/notesMasters/notesMaster1.xml" Id="R6e843d219d714e42" /><Relationship Type="http://schemas.openxmlformats.org/officeDocument/2006/relationships/presProps" Target="/ppt/presProps.xml" Id="R6f8cfc5dc01f49f2" /><Relationship Type="http://schemas.openxmlformats.org/officeDocument/2006/relationships/tableStyles" Target="/ppt/tableStyles.xml" Id="Rc680fa34deee40a5" /><Relationship Type="http://schemas.openxmlformats.org/officeDocument/2006/relationships/slide" Target="/ppt/slides/slide1.xml" Id="R620cd7bfaed9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c7041152d47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16fc90a4b4197" /><Relationship Type="http://schemas.openxmlformats.org/officeDocument/2006/relationships/notesMaster" Target="/ppt/notesMasters/notesMaster1.xml" Id="R241990254807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640de506245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e1a5b474345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6ab75620548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3d2a0e0ee43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81e75ee5b4f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eb46c4ab843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92FFFD-EC4B-47ED-BDED-CE34BC258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595792-C5A6-45FD-B719-C0CE161419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A534BF-0E26-4B6F-BAD8-BEB0DBD4D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0A317-118E-4919-BBFD-9DD67CF23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A44F1D-143E-481F-9D03-B49C8DD8D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CA320D-5BCE-4CCC-BDE5-7FF952554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D171BE-5451-4F95-A55D-AE66C5328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B33FEC-1C16-423C-9D08-0865D4A2DB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507A29-D438-40C2-A585-AAB63C78E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5E4F5F-1269-41AC-B88F-18327BBCA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27ef7a8d142f4" /><Relationship Type="http://schemas.openxmlformats.org/officeDocument/2006/relationships/slideLayout" Target="/ppt/slideLayouts/slideLayout1.xml" Id="R4887f2f71a0e4053" /><Relationship Type="http://schemas.openxmlformats.org/officeDocument/2006/relationships/slideLayout" Target="/ppt/slideLayouts/slideLayout2.xml" Id="Rc51eb96e6c7b42ba" /><Relationship Type="http://schemas.openxmlformats.org/officeDocument/2006/relationships/slideLayout" Target="/ppt/slideLayouts/slideLayout3.xml" Id="Rba4719c5da254bf5" /><Relationship Type="http://schemas.openxmlformats.org/officeDocument/2006/relationships/slideLayout" Target="/ppt/slideLayouts/slideLayout4.xml" Id="Re8e548a090584175" /><Relationship Type="http://schemas.openxmlformats.org/officeDocument/2006/relationships/slideLayout" Target="/ppt/slideLayouts/slideLayout5.xml" Id="Rf6357ae19f3e4e13" /><Relationship Type="http://schemas.openxmlformats.org/officeDocument/2006/relationships/slideLayout" Target="/ppt/slideLayouts/slideLayout6.xml" Id="R4a233524f2094f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7f2f71a0e4053"/>
    <p:sldLayoutId xmlns:r="http://schemas.openxmlformats.org/officeDocument/2006/relationships" id="2147483650" r:id="Rc51eb96e6c7b42ba"/>
    <p:sldLayoutId xmlns:r="http://schemas.openxmlformats.org/officeDocument/2006/relationships" id="2147483651" r:id="Rba4719c5da254bf5"/>
    <p:sldLayoutId xmlns:r="http://schemas.openxmlformats.org/officeDocument/2006/relationships" id="2147483652" r:id="Re8e548a090584175"/>
    <p:sldLayoutId xmlns:r="http://schemas.openxmlformats.org/officeDocument/2006/relationships" id="2147483653" r:id="Rf6357ae19f3e4e13"/>
    <p:sldLayoutId xmlns:r="http://schemas.openxmlformats.org/officeDocument/2006/relationships" id="2147483654" r:id="R4a233524f2094f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7694f635d4078" /><Relationship Type="http://schemas.openxmlformats.org/officeDocument/2006/relationships/notesSlide" Target="/ppt/notesSlides/notesSlide1.xml" Id="Rdee4baf54d2548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52983D-23A5-4512-8A6F-8D8BC6FD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C5"/>
          </a:solidFill>
          <a:ln xmlns:a="http://schemas.openxmlformats.org/drawingml/2006/main" w="9525">
            <a:solidFill>
              <a:srgbClr val="1388C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3BA7D-E406-4610-93F9-C75D00C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BÁO CÁO CÔNG VIỆC: NHẬN DIỆN BỆNH QUA ẢNH LÁ CÀ CHUA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C83AC-016B-4C68-8993-9AF2303C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83A2E"/>
                </a:solidFill>
              </a:defRPr>
            </a:defPPr>
            <a:lvl1pPr>
              <a:defRPr sz="1650" b="1">
                <a:solidFill>
                  <a:srgbClr val="B83A2E"/>
                </a:solidFill>
              </a:defRPr>
            </a:lvl1pPr>
            <a:lvl2pPr>
              <a:defRPr sz="1650" b="1">
                <a:solidFill>
                  <a:srgbClr val="B83A2E"/>
                </a:solidFill>
              </a:defRPr>
            </a:lvl2pPr>
            <a:lvl3pPr>
              <a:defRPr sz="1650" b="1">
                <a:solidFill>
                  <a:srgbClr val="B83A2E"/>
                </a:solidFill>
              </a:defRPr>
            </a:lvl3pPr>
            <a:lvl4pPr>
              <a:defRPr sz="1650" b="1">
                <a:solidFill>
                  <a:srgbClr val="B83A2E"/>
                </a:solidFill>
              </a:defRPr>
            </a:lvl4pPr>
            <a:lvl5pPr>
              <a:defRPr sz="1650" b="1">
                <a:solidFill>
                  <a:srgbClr val="B83A2E"/>
                </a:solidFill>
              </a:defRPr>
            </a:lvl5pPr>
            <a:lvl6pPr>
              <a:defRPr sz="1650" b="1">
                <a:solidFill>
                  <a:srgbClr val="B83A2E"/>
                </a:solidFill>
              </a:defRPr>
            </a:lvl6pPr>
            <a:lvl7pPr>
              <a:defRPr sz="1650" b="1">
                <a:solidFill>
                  <a:srgbClr val="B83A2E"/>
                </a:solidFill>
              </a:defRPr>
            </a:lvl7pPr>
            <a:lvl8pPr>
              <a:defRPr sz="1650" b="1">
                <a:solidFill>
                  <a:srgbClr val="B83A2E"/>
                </a:solidFill>
              </a:defRPr>
            </a:lvl8pPr>
            <a:lvl9pPr>
              <a:defRPr sz="1650" b="1">
                <a:solidFill>
                  <a:srgbClr val="B83A2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3A2E"/>
                </a:solidFill>
              </a:defRPr>
            </a:pPr>
            <a:r>
              <a:rPr sz="1650" b="1">
                <a:solidFill>
                  <a:srgbClr val="B83A2E"/>
                </a:solidFill>
              </a:rPr>
              <a:t>Sinh viên: Phạm Thế Cường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1221A-EB34-48EA-B4B1-2C2B540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A5568"/>
                </a:solidFill>
              </a:defRPr>
            </a:defPPr>
            <a:lvl1pPr>
              <a:defRPr sz="1200" b="0">
                <a:solidFill>
                  <a:srgbClr val="4A5568"/>
                </a:solidFill>
              </a:defRPr>
            </a:lvl1pPr>
            <a:lvl2pPr>
              <a:defRPr sz="1200" b="0">
                <a:solidFill>
                  <a:srgbClr val="4A5568"/>
                </a:solidFill>
              </a:defRPr>
            </a:lvl2pPr>
            <a:lvl3pPr>
              <a:defRPr sz="1200" b="0">
                <a:solidFill>
                  <a:srgbClr val="4A5568"/>
                </a:solidFill>
              </a:defRPr>
            </a:lvl3pPr>
            <a:lvl4pPr>
              <a:defRPr sz="1200" b="0">
                <a:solidFill>
                  <a:srgbClr val="4A5568"/>
                </a:solidFill>
              </a:defRPr>
            </a:lvl4pPr>
            <a:lvl5pPr>
              <a:defRPr sz="1200" b="0">
                <a:solidFill>
                  <a:srgbClr val="4A5568"/>
                </a:solidFill>
              </a:defRPr>
            </a:lvl5pPr>
            <a:lvl6pPr>
              <a:defRPr sz="1200" b="0">
                <a:solidFill>
                  <a:srgbClr val="4A5568"/>
                </a:solidFill>
              </a:defRPr>
            </a:lvl6pPr>
            <a:lvl7pPr>
              <a:defRPr sz="1200" b="0">
                <a:solidFill>
                  <a:srgbClr val="4A5568"/>
                </a:solidFill>
              </a:defRPr>
            </a:lvl7pPr>
            <a:lvl8pPr>
              <a:defRPr sz="1200" b="0">
                <a:solidFill>
                  <a:srgbClr val="4A5568"/>
                </a:solidFill>
              </a:defRPr>
            </a:lvl8pPr>
            <a:lvl9pPr>
              <a:defRPr sz="1200" b="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A5568"/>
                </a:solidFill>
              </a:defRPr>
            </a:pPr>
            <a:r>
              <a:rPr sz="1200" b="0">
                <a:solidFill>
                  <a:srgbClr val="4A5568"/>
                </a:solidFill>
              </a:rPr>
              <a:t>Nhiệm vụ NV5 – Đánh giá, báo cáo và slide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98828-5621-4B69-BAF4-AA517393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858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6B3"/>
                </a:solidFill>
              </a:defRPr>
            </a:defPPr>
            <a:lvl1pPr>
              <a:defRPr sz="1125" b="1">
                <a:solidFill>
                  <a:srgbClr val="2F66B3"/>
                </a:solidFill>
              </a:defRPr>
            </a:lvl1pPr>
            <a:lvl2pPr>
              <a:defRPr sz="1125" b="1">
                <a:solidFill>
                  <a:srgbClr val="2F66B3"/>
                </a:solidFill>
              </a:defRPr>
            </a:lvl2pPr>
            <a:lvl3pPr>
              <a:defRPr sz="1125" b="1">
                <a:solidFill>
                  <a:srgbClr val="2F66B3"/>
                </a:solidFill>
              </a:defRPr>
            </a:lvl3pPr>
            <a:lvl4pPr>
              <a:defRPr sz="1125" b="1">
                <a:solidFill>
                  <a:srgbClr val="2F66B3"/>
                </a:solidFill>
              </a:defRPr>
            </a:lvl4pPr>
            <a:lvl5pPr>
              <a:defRPr sz="1125" b="1">
                <a:solidFill>
                  <a:srgbClr val="2F66B3"/>
                </a:solidFill>
              </a:defRPr>
            </a:lvl5pPr>
            <a:lvl6pPr>
              <a:defRPr sz="1125" b="1">
                <a:solidFill>
                  <a:srgbClr val="2F66B3"/>
                </a:solidFill>
              </a:defRPr>
            </a:lvl6pPr>
            <a:lvl7pPr>
              <a:defRPr sz="1125" b="1">
                <a:solidFill>
                  <a:srgbClr val="2F66B3"/>
                </a:solidFill>
              </a:defRPr>
            </a:lvl7pPr>
            <a:lvl8pPr>
              <a:defRPr sz="1125" b="1">
                <a:solidFill>
                  <a:srgbClr val="2F66B3"/>
                </a:solidFill>
              </a:defRPr>
            </a:lvl8pPr>
            <a:lvl9pPr>
              <a:defRPr sz="1125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F66B3"/>
                </a:solidFill>
              </a:defRPr>
            </a:pPr>
            <a:r>
              <a:rPr sz="1125" b="1">
                <a:solidFill>
                  <a:srgbClr val="2F66B3"/>
                </a:solidFill>
              </a:rPr>
              <a:t>Nhóm 4 · Học máy và Khai phá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8B966-0B83-4B47-84A7-3573B2CC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AE0A3-8369-496C-B61F-E88A9A81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811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1E49E-5CD3-4342-81A3-83FE2A40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08677-6A68-4D47-88FD-15B6B71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811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NỘI DUNG CÔNG VIỆC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4319A-E661-467B-A78B-25D4098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240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EBB00-9A8D-467A-829C-E95CF85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81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KẾT QUẢ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E41CF-B8E7-4D88-B178-46C1E0D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240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DC27D-5D66-4E2F-8498-B1911C69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811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TỰ ĐÁNH GIÁ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07590-A583-4190-94D7-3E275280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EE7EB-4DFE-4851-80BE-110F078C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5811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TRƯỞNG NHÓM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ĐÁNH GIÁ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742F8-D517-4030-96F5-E9AC2819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C9791-39D8-4F4D-98DD-C384DAF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240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6896D-BA05-4456-81B2-7536A37D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41FAC-DB62-4345-8802-168C72C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240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Thiết kế script đánh giá thống nhất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97031-9591-4E44-8AE5-3F6A075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36ED2-FB31-4C6B-A41F-90FD274B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Hoàn thiện `scripts/evaluate_models.py`; kiểm tra hai prediction CSV dùng cùng Test set và ground truth.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AD121-D344-4936-8E36-6768924A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764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827F8-D168-4BB1-AF37-F993C288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240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B7399-D372-4EA7-8AE4-55BE9987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76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7C43E-A2C3-42B0-A167-2754CB33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1240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6D8B1-7DA4-41C8-ABBE-C610DDDA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38872-C73B-45AC-A475-4CCFAFE6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765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65B3E-855C-45C0-B900-22725822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FA7ED-9AA5-4C20-869D-D3808E4D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765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Chuẩn hóa metric và metadata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0BE61D-0FCB-4A9A-957C-B90C478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CC00E-DE09-4C21-990C-1C9EBE0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765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Xuất Accuracy, macro Precision/Recall/F1, F1 từng lớp, confusion matrix, số mẫu, thiết bị và thông tin checkpoint.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E4858-5B8B-43EC-9459-F2F3E7E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F4CD7-608F-4605-9B7B-898ACA4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765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E6CE7F-E16A-483F-9843-D5F7B3B4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28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4C1905-5B4B-444B-ABA7-9541AF58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CCE659-5FD5-4B2B-928A-125D6CA5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77603B-38B8-49B2-B929-425473AB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289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507407-8943-439F-86E5-4486C029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F0C7C-4707-443D-898F-A600EF51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289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Viết hướng dẫn đánh giá và phân tích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83038C-7E22-42EE-A9BA-7546E10D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06AC35-DBD5-45CE-B7F1-C9BB8C2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289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Tạo `docs/NV5_EVALUATION.md`, quy định cột CSV, lệnh chạy và nguyên tắc không dùng Test để chọn model.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C185C5-2EA7-4CD7-BAEF-FA5A7C2E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F687C0-31E1-4C59-A4CE-1F4B1BF0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289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5E84AE-4109-4636-937E-FF32691F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6DDFB8-DDA8-44CA-B65C-7A18888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289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C7AB53-9DBE-4A3C-A32C-508DC8D5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8CA4F5-0E55-4AD5-B7F8-E56C58A2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814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A3EA53-3A55-40F5-8BC9-9286DCC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800206-5A55-453A-99C6-9F438D0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814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Chuẩn bị câu hỏi bảo vệ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4F05B1-DA19-4E2B-9C0B-831C0310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0D9172-B489-4D76-82C1-2D2EFFB7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814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Tạo bộ 10 câu hỏi và đáp án về leakage, split, F1, Transfer Learning, giới hạn PlantVillage và phát hiện sớm.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D6C252-A2BC-43D9-BE0C-38B89F6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116A55-4E27-4B4F-A207-3940A1DA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7814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511EC5-BA45-44A6-9C16-DA0951D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33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3794C3-97AE-43A0-ADA1-BE84621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7814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139D1F-7C98-4F7A-BF07-0A7041D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66FF59-7702-413C-B042-79742897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338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C1CBC6-1D1B-4783-96F1-E1596FB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14101F-C8B4-4C28-A6F9-30F1566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38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Lập khung báo cáo Word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3B9DA6-4B65-4C33-9551-0F87070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67BB6E-4614-4CAA-8750-D9817AE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338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Tạo báo cáo Word có các phần mục tiêu, dữ liệu, mô hình, đánh giá, kết luận và chỗ điền số liệu thật.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FC3707-91BA-4C65-ACA5-F5BB3B6D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7D3480-8549-4138-B109-62E06E97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338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D2A449-C589-42EF-A741-15E22048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C892DF-EB1E-431B-9339-E6C42211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3338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49A2BE-49F9-48F5-91B0-68C8E04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4FCB32-AC0B-40B9-BFEB-F79F5D9E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4D18E0-0E1C-4CEE-A7E8-AE862EE0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1C2248-FA20-43EE-9896-E0BAA31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863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Lập khung slide thuyết trình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65AFDE-1508-4D0D-AB6B-82B92A75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3C6EB1-9D8D-4BEA-B2DA-30B2F6B9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863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Tạo slide editable về mục tiêu, dữ liệu, mô hình, giao thức đánh giá, kết quả, demo, giới hạn và hướng phát triển.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3504B9-783C-43B8-BA8C-409F0CD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72E7E8-E726-4DCB-BE25-2271D160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8863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317608-6AB9-4E2D-86F4-60488D9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38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BE35BF-FF45-4F4D-8ECD-21D6766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8863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34B0FB-12C4-416C-B975-985395B4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1EBED6-307D-49B9-A2A5-514B36CC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387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285B7D-F6BF-43EF-BD23-53B4FB6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5AEA95F-A578-47DA-AF91-5EDA2B1C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387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Tổng hợp kết quả cuối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89DF96-4F1F-45D3-B1F1-93F8FBE2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911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CB2E01-EBAE-4C20-91A7-2F0857D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4387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Đang chờ checkpoint, prediction CSV và metrics thật từ NV2/NV3 để sinh comparison.csv, confusion matrix và điền báo cáo.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A78202-2FA2-4116-BCCA-0D1A6776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911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C9D4251-119E-4C6A-A6CE-4A325289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4387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80%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CA54A7-C927-48DA-B382-49FB829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391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42B33A-8666-4508-9D31-981E447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4387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B463B2-FAB6-4EFE-A2B5-21A4DF8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A5568"/>
                </a:solidFill>
              </a:defRPr>
            </a:defPPr>
            <a:lvl1pPr>
              <a:defRPr sz="975" b="0">
                <a:solidFill>
                  <a:srgbClr val="4A5568"/>
                </a:solidFill>
              </a:defRPr>
            </a:lvl1pPr>
            <a:lvl2pPr>
              <a:defRPr sz="975" b="0">
                <a:solidFill>
                  <a:srgbClr val="4A5568"/>
                </a:solidFill>
              </a:defRPr>
            </a:lvl2pPr>
            <a:lvl3pPr>
              <a:defRPr sz="975" b="0">
                <a:solidFill>
                  <a:srgbClr val="4A5568"/>
                </a:solidFill>
              </a:defRPr>
            </a:lvl3pPr>
            <a:lvl4pPr>
              <a:defRPr sz="975" b="0">
                <a:solidFill>
                  <a:srgbClr val="4A5568"/>
                </a:solidFill>
              </a:defRPr>
            </a:lvl4pPr>
            <a:lvl5pPr>
              <a:defRPr sz="975" b="0">
                <a:solidFill>
                  <a:srgbClr val="4A5568"/>
                </a:solidFill>
              </a:defRPr>
            </a:lvl5pPr>
            <a:lvl6pPr>
              <a:defRPr sz="975" b="0">
                <a:solidFill>
                  <a:srgbClr val="4A5568"/>
                </a:solidFill>
              </a:defRPr>
            </a:lvl6pPr>
            <a:lvl7pPr>
              <a:defRPr sz="975" b="0">
                <a:solidFill>
                  <a:srgbClr val="4A5568"/>
                </a:solidFill>
              </a:defRPr>
            </a:lvl7pPr>
            <a:lvl8pPr>
              <a:defRPr sz="975" b="0">
                <a:solidFill>
                  <a:srgbClr val="4A5568"/>
                </a:solidFill>
              </a:defRPr>
            </a:lvl8pPr>
            <a:lvl9pPr>
              <a:defRPr sz="975" b="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4A5568"/>
                </a:solidFill>
              </a:defRPr>
            </a:pPr>
            <a:r>
              <a:rPr sz="975" b="0">
                <a:solidFill>
                  <a:srgbClr val="4A5568"/>
                </a:solidFill>
              </a:rPr>
              <a:t>Ghi chú: Kết quả tổng hợp cuối cùng chỉ được điền sau khi nhận đủ minh chứng mô hình và dữ liệu từ NV2, NV3, NV4.</a:t>
            </a:r>
          </a:p>
        </p:txBody>
      </p:sp>
    </p:spTree>
    <p:extLst>
      <p:ext uri="{BB962C8B-B14F-4D97-AF65-F5344CB8AC3E}">
        <p14:creationId xmlns:p14="http://schemas.microsoft.com/office/powerpoint/2010/main" val="1832929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2026-10-28T03:00:48.0080000Z</dcterms:created>
  <dcterms:modified xsi:type="dcterms:W3CDTF">2026-10-28T03:00:48.0090000Z</dcterms:modified>
</coreProperties>
</file>